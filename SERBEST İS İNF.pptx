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74" r:id="rId6"/>
    <p:sldId id="262" r:id="rId7"/>
    <p:sldId id="263" r:id="rId8"/>
    <p:sldId id="275" r:id="rId9"/>
    <p:sldId id="265" r:id="rId10"/>
    <p:sldId id="266" r:id="rId11"/>
    <p:sldId id="267" r:id="rId12"/>
    <p:sldId id="268" r:id="rId13"/>
    <p:sldId id="269" r:id="rId14"/>
    <p:sldId id="271" r:id="rId15"/>
    <p:sldId id="270" r:id="rId16"/>
    <p:sldId id="273" r:id="rId17"/>
    <p:sldId id="276"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6" d="100"/>
          <a:sy n="66" d="100"/>
        </p:scale>
        <p:origin x="1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96F8D51A-E84B-4979-BD66-71ED539F7291}" type="datetimeFigureOut">
              <a:rPr lang="ru-RU" smtClean="0"/>
              <a:t>24.12.2024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3899107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6F8D51A-E84B-4979-BD66-71ED539F7291}" type="datetimeFigureOut">
              <a:rPr lang="ru-RU" smtClean="0"/>
              <a:t>24.12.2024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520371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6F8D51A-E84B-4979-BD66-71ED539F7291}" type="datetimeFigureOut">
              <a:rPr lang="ru-RU" smtClean="0"/>
              <a:t>24.12.2024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1302570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96F8D51A-E84B-4979-BD66-71ED539F7291}" type="datetimeFigureOut">
              <a:rPr lang="ru-RU" smtClean="0"/>
              <a:t>24.12.2024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811044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96F8D51A-E84B-4979-BD66-71ED539F7291}" type="datetimeFigureOut">
              <a:rPr lang="ru-RU" smtClean="0"/>
              <a:t>24.12.2024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1786709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96F8D51A-E84B-4979-BD66-71ED539F7291}" type="datetimeFigureOut">
              <a:rPr lang="ru-RU" smtClean="0"/>
              <a:t>24.12.2024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304145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F8D51A-E84B-4979-BD66-71ED539F7291}" type="datetimeFigureOut">
              <a:rPr lang="ru-RU" smtClean="0"/>
              <a:t>24.12.2024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3564595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6F8D51A-E84B-4979-BD66-71ED539F7291}" type="datetimeFigureOut">
              <a:rPr lang="ru-RU" smtClean="0"/>
              <a:t>24.12.2024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3556146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6F8D51A-E84B-4979-BD66-71ED539F7291}" type="datetimeFigureOut">
              <a:rPr lang="ru-RU" smtClean="0"/>
              <a:t>24.12.2024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12053881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6F8D51A-E84B-4979-BD66-71ED539F7291}" type="datetimeFigureOut">
              <a:rPr lang="ru-RU" smtClean="0"/>
              <a:t>24.12.2024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2884442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96F8D51A-E84B-4979-BD66-71ED539F7291}" type="datetimeFigureOut">
              <a:rPr lang="ru-RU" smtClean="0"/>
              <a:t>24.12.2024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62DF935-C06D-4C2E-A610-59E323625415}" type="slidenum">
              <a:rPr lang="ru-RU" smtClean="0"/>
              <a:t>‹#›</a:t>
            </a:fld>
            <a:endParaRPr lang="ru-RU"/>
          </a:p>
        </p:txBody>
      </p:sp>
    </p:spTree>
    <p:extLst>
      <p:ext uri="{BB962C8B-B14F-4D97-AF65-F5344CB8AC3E}">
        <p14:creationId xmlns:p14="http://schemas.microsoft.com/office/powerpoint/2010/main" val="98461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1000" b="-8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F8D51A-E84B-4979-BD66-71ED539F7291}" type="datetimeFigureOut">
              <a:rPr lang="ru-RU" smtClean="0"/>
              <a:t>24.12.2024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2DF935-C06D-4C2E-A610-59E323625415}" type="slidenum">
              <a:rPr lang="ru-RU" smtClean="0"/>
              <a:t>‹#›</a:t>
            </a:fld>
            <a:endParaRPr lang="ru-RU"/>
          </a:p>
        </p:txBody>
      </p:sp>
    </p:spTree>
    <p:extLst>
      <p:ext uri="{BB962C8B-B14F-4D97-AF65-F5344CB8AC3E}">
        <p14:creationId xmlns:p14="http://schemas.microsoft.com/office/powerpoint/2010/main" val="325205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zərbaycan Texniki Universiteti | Bak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121472" cy="308702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zərbaycan Respublikası Elm və Təhsil Nazirliy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057" y="121920"/>
            <a:ext cx="2636520" cy="1600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195093" y="2070076"/>
            <a:ext cx="6996907" cy="1077218"/>
          </a:xfrm>
          <a:prstGeom prst="rect">
            <a:avLst/>
          </a:prstGeom>
        </p:spPr>
        <p:txBody>
          <a:bodyPr wrap="square">
            <a:spAutoFit/>
          </a:bodyPr>
          <a:lstStyle/>
          <a:p>
            <a:pPr algn="ctr"/>
            <a:r>
              <a:rPr lang="az-Latn-AZ" sz="3200" b="1" dirty="0" smtClean="0">
                <a:ln w="0"/>
                <a:solidFill>
                  <a:schemeClr val="bg1"/>
                </a:solidFill>
                <a:effectLst>
                  <a:outerShdw blurRad="38100" dist="19050" dir="2700000" algn="tl" rotWithShape="0">
                    <a:schemeClr val="dk1">
                      <a:alpha val="40000"/>
                    </a:schemeClr>
                  </a:outerShdw>
                </a:effectLst>
              </a:rPr>
              <a:t>AZƏRBAYCAN RESPUBLİKASI ELM VƏ TƏHSİL NAZİRLİYİ</a:t>
            </a:r>
            <a:endParaRPr lang="en-US" sz="3200" b="1" dirty="0">
              <a:ln w="0"/>
              <a:solidFill>
                <a:schemeClr val="bg1"/>
              </a:solidFill>
              <a:effectLst>
                <a:outerShdw blurRad="38100" dist="19050" dir="2700000" algn="tl" rotWithShape="0">
                  <a:schemeClr val="dk1">
                    <a:alpha val="40000"/>
                  </a:schemeClr>
                </a:outerShdw>
              </a:effectLst>
            </a:endParaRPr>
          </a:p>
        </p:txBody>
      </p:sp>
      <p:sp>
        <p:nvSpPr>
          <p:cNvPr id="6" name="Rectangle 5"/>
          <p:cNvSpPr/>
          <p:nvPr/>
        </p:nvSpPr>
        <p:spPr>
          <a:xfrm>
            <a:off x="2046514" y="3319251"/>
            <a:ext cx="9448800" cy="3293209"/>
          </a:xfrm>
          <a:prstGeom prst="rect">
            <a:avLst/>
          </a:prstGeom>
        </p:spPr>
        <p:txBody>
          <a:bodyPr wrap="square">
            <a:spAutoFit/>
          </a:bodyPr>
          <a:lstStyle/>
          <a:p>
            <a:pPr marL="285750" indent="-285750">
              <a:buFont typeface="Arial" panose="020B0604020202020204" pitchFamily="34" charset="0"/>
              <a:buChar char="•"/>
            </a:pPr>
            <a:r>
              <a:rPr lang="az-Latn-AZ" sz="2000" b="1" dirty="0">
                <a:solidFill>
                  <a:schemeClr val="bg1"/>
                </a:solidFill>
              </a:rPr>
              <a:t>Fakultə</a:t>
            </a:r>
            <a:r>
              <a:rPr lang="en-US" sz="2000" b="1" dirty="0">
                <a:solidFill>
                  <a:schemeClr val="bg1"/>
                </a:solidFill>
              </a:rPr>
              <a:t>: </a:t>
            </a:r>
            <a:r>
              <a:rPr lang="az-Latn-AZ" sz="2000" b="1" dirty="0">
                <a:solidFill>
                  <a:schemeClr val="bg1"/>
                </a:solidFill>
              </a:rPr>
              <a:t>İnformasiya və telekommunikasiya texnologiyaları</a:t>
            </a:r>
          </a:p>
          <a:p>
            <a:pPr marL="285750" indent="-285750">
              <a:buFont typeface="Arial" panose="020B0604020202020204" pitchFamily="34" charset="0"/>
              <a:buChar char="•"/>
            </a:pPr>
            <a:r>
              <a:rPr lang="az-Latn-AZ" sz="2000" b="1" dirty="0">
                <a:solidFill>
                  <a:schemeClr val="bg1"/>
                </a:solidFill>
              </a:rPr>
              <a:t>Kafedra</a:t>
            </a:r>
            <a:r>
              <a:rPr lang="en-US" sz="2000" b="1" dirty="0">
                <a:solidFill>
                  <a:schemeClr val="bg1"/>
                </a:solidFill>
              </a:rPr>
              <a:t>:</a:t>
            </a:r>
            <a:r>
              <a:rPr lang="az-Latn-AZ" sz="2000" b="1" dirty="0">
                <a:solidFill>
                  <a:schemeClr val="bg1"/>
                </a:solidFill>
              </a:rPr>
              <a:t>Mühəndis Riyaziyyatı və süni intellekt</a:t>
            </a:r>
          </a:p>
          <a:p>
            <a:pPr marL="285750" indent="-285750">
              <a:buFont typeface="Arial" panose="020B0604020202020204" pitchFamily="34" charset="0"/>
              <a:buChar char="•"/>
            </a:pPr>
            <a:r>
              <a:rPr lang="az-Latn-AZ" sz="2000" b="1" dirty="0">
                <a:solidFill>
                  <a:schemeClr val="bg1"/>
                </a:solidFill>
              </a:rPr>
              <a:t>Fənn adı</a:t>
            </a:r>
            <a:r>
              <a:rPr lang="en-US" sz="2000" b="1" dirty="0">
                <a:solidFill>
                  <a:schemeClr val="bg1"/>
                </a:solidFill>
              </a:rPr>
              <a:t>:</a:t>
            </a:r>
            <a:r>
              <a:rPr lang="az-Latn-AZ" sz="2000" b="1" dirty="0">
                <a:solidFill>
                  <a:schemeClr val="bg1"/>
                </a:solidFill>
              </a:rPr>
              <a:t> Proqramlaşdırmanın əsasları</a:t>
            </a:r>
          </a:p>
          <a:p>
            <a:pPr algn="ctr"/>
            <a:endParaRPr lang="az-Latn-AZ" sz="2000" b="1" dirty="0">
              <a:solidFill>
                <a:schemeClr val="bg1"/>
              </a:solidFill>
            </a:endParaRPr>
          </a:p>
          <a:p>
            <a:pPr algn="ctr"/>
            <a:r>
              <a:rPr lang="az-Latn-AZ" sz="2800" b="1" dirty="0" smtClean="0">
                <a:solidFill>
                  <a:schemeClr val="bg1"/>
                </a:solidFill>
              </a:rPr>
              <a:t>SƏRBƏST İŞ</a:t>
            </a:r>
          </a:p>
          <a:p>
            <a:pPr marL="285750" indent="-285750">
              <a:buFont typeface="Arial" panose="020B0604020202020204" pitchFamily="34" charset="0"/>
              <a:buChar char="•"/>
            </a:pPr>
            <a:r>
              <a:rPr lang="az-Latn-AZ" sz="2000" b="1" dirty="0" smtClean="0">
                <a:solidFill>
                  <a:schemeClr val="bg1"/>
                </a:solidFill>
              </a:rPr>
              <a:t>Mövzu</a:t>
            </a:r>
            <a:r>
              <a:rPr lang="en-US" sz="2000" b="1" dirty="0" smtClean="0">
                <a:solidFill>
                  <a:schemeClr val="bg1"/>
                </a:solidFill>
              </a:rPr>
              <a:t>:</a:t>
            </a:r>
            <a:endParaRPr lang="az-Latn-AZ" sz="2000" b="1" dirty="0" smtClean="0">
              <a:solidFill>
                <a:schemeClr val="bg1"/>
              </a:solidFill>
            </a:endParaRPr>
          </a:p>
          <a:p>
            <a:pPr marL="285750" indent="-285750">
              <a:buFont typeface="Arial" panose="020B0604020202020204" pitchFamily="34" charset="0"/>
              <a:buChar char="•"/>
            </a:pPr>
            <a:r>
              <a:rPr lang="en-US" sz="2000" b="1" dirty="0" smtClean="0">
                <a:solidFill>
                  <a:schemeClr val="bg1"/>
                </a:solidFill>
              </a:rPr>
              <a:t>Kurs:1</a:t>
            </a:r>
            <a:endParaRPr lang="en-US" sz="2000" b="1" dirty="0">
              <a:solidFill>
                <a:schemeClr val="bg1"/>
              </a:solidFill>
            </a:endParaRPr>
          </a:p>
          <a:p>
            <a:pPr marL="285750" indent="-285750">
              <a:buFont typeface="Arial" panose="020B0604020202020204" pitchFamily="34" charset="0"/>
              <a:buChar char="•"/>
            </a:pPr>
            <a:r>
              <a:rPr lang="en-US" sz="2000" b="1" dirty="0">
                <a:solidFill>
                  <a:schemeClr val="bg1"/>
                </a:solidFill>
              </a:rPr>
              <a:t>Qrup:6224a1</a:t>
            </a:r>
          </a:p>
          <a:p>
            <a:pPr marL="285750" indent="-285750">
              <a:buFont typeface="Arial" panose="020B0604020202020204" pitchFamily="34" charset="0"/>
              <a:buChar char="•"/>
            </a:pPr>
            <a:r>
              <a:rPr lang="en-US" sz="2000" b="1" dirty="0">
                <a:solidFill>
                  <a:schemeClr val="bg1"/>
                </a:solidFill>
              </a:rPr>
              <a:t>T</a:t>
            </a:r>
            <a:r>
              <a:rPr lang="az-Latn-AZ" sz="2000" b="1" dirty="0">
                <a:solidFill>
                  <a:schemeClr val="bg1"/>
                </a:solidFill>
              </a:rPr>
              <a:t>ələbə</a:t>
            </a:r>
            <a:r>
              <a:rPr lang="en-US" sz="2000" b="1" dirty="0">
                <a:solidFill>
                  <a:schemeClr val="bg1"/>
                </a:solidFill>
              </a:rPr>
              <a:t>:C</a:t>
            </a:r>
            <a:r>
              <a:rPr lang="az-Latn-AZ" sz="2000" b="1" dirty="0">
                <a:solidFill>
                  <a:schemeClr val="bg1"/>
                </a:solidFill>
              </a:rPr>
              <a:t>əfərova Nazlı</a:t>
            </a:r>
          </a:p>
          <a:p>
            <a:pPr marL="285750" indent="-285750">
              <a:buFont typeface="Arial" panose="020B0604020202020204" pitchFamily="34" charset="0"/>
              <a:buChar char="•"/>
            </a:pPr>
            <a:r>
              <a:rPr lang="az-Latn-AZ" sz="2000" b="1" dirty="0">
                <a:solidFill>
                  <a:schemeClr val="bg1"/>
                </a:solidFill>
              </a:rPr>
              <a:t>Müəllim</a:t>
            </a:r>
            <a:r>
              <a:rPr lang="en-US" sz="2000" b="1" dirty="0">
                <a:solidFill>
                  <a:schemeClr val="bg1"/>
                </a:solidFill>
              </a:rPr>
              <a:t>:H</a:t>
            </a:r>
            <a:r>
              <a:rPr lang="az-Latn-AZ" sz="2000" b="1" dirty="0">
                <a:solidFill>
                  <a:schemeClr val="bg1"/>
                </a:solidFill>
              </a:rPr>
              <a:t>üseynli Vüqar</a:t>
            </a:r>
          </a:p>
        </p:txBody>
      </p:sp>
    </p:spTree>
    <p:extLst>
      <p:ext uri="{BB962C8B-B14F-4D97-AF65-F5344CB8AC3E}">
        <p14:creationId xmlns:p14="http://schemas.microsoft.com/office/powerpoint/2010/main" val="2638186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125686" cy="1325563"/>
          </a:xfrm>
        </p:spPr>
        <p:txBody>
          <a:bodyPr>
            <a:normAutofit/>
          </a:bodyPr>
          <a:lstStyle/>
          <a:p>
            <a:r>
              <a:rPr lang="en-US" sz="5400" b="1" dirty="0" smtClean="0">
                <a:solidFill>
                  <a:schemeClr val="bg1"/>
                </a:solidFill>
                <a:latin typeface="+mn-lt"/>
              </a:rPr>
              <a:t>QUICK SORT</a:t>
            </a:r>
            <a:endParaRPr lang="ru-RU" sz="5400" b="1" dirty="0">
              <a:solidFill>
                <a:schemeClr val="bg1"/>
              </a:solidFill>
              <a:latin typeface="+mn-lt"/>
            </a:endParaRPr>
          </a:p>
        </p:txBody>
      </p:sp>
      <p:sp>
        <p:nvSpPr>
          <p:cNvPr id="3" name="Rectangle 2"/>
          <p:cNvSpPr/>
          <p:nvPr/>
        </p:nvSpPr>
        <p:spPr>
          <a:xfrm>
            <a:off x="159657" y="1325563"/>
            <a:ext cx="5341257" cy="4031873"/>
          </a:xfrm>
          <a:prstGeom prst="rect">
            <a:avLst/>
          </a:prstGeom>
        </p:spPr>
        <p:txBody>
          <a:bodyPr wrap="square">
            <a:spAutoFit/>
          </a:bodyPr>
          <a:lstStyle/>
          <a:p>
            <a:r>
              <a:rPr lang="az-Latn-AZ" sz="3200" b="1" dirty="0" smtClean="0">
                <a:solidFill>
                  <a:schemeClr val="bg1"/>
                </a:solidFill>
              </a:rPr>
              <a:t>Quick Sort (Qısa Sıralama), sıralama alqoritmalarından biridir və "Böl və hökm sür" (Divide and Conquer) yanaşmasına əsaslanır. Bu alqoritma böyük verilənlər dəstələrini sürətlə sıralamaq üçün geniş istifadə edilir.</a:t>
            </a:r>
            <a:endParaRPr lang="ru-RU" sz="3200" b="1" dirty="0">
              <a:solidFill>
                <a:schemeClr val="bg1"/>
              </a:solidFill>
            </a:endParaRPr>
          </a:p>
        </p:txBody>
      </p:sp>
      <p:pic>
        <p:nvPicPr>
          <p:cNvPr id="1026" name="Picture 2" descr="Unraveling QuickSort: The Fast and Versatile Sorting Algorithm | by Nathal  Dawson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9290" y="1325563"/>
            <a:ext cx="5457305" cy="3877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893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2897"/>
            <a:ext cx="5939971" cy="1325563"/>
          </a:xfrm>
        </p:spPr>
        <p:txBody>
          <a:bodyPr>
            <a:normAutofit/>
          </a:bodyPr>
          <a:lstStyle/>
          <a:p>
            <a:r>
              <a:rPr lang="az-Latn-AZ" sz="5400" b="1" dirty="0" smtClean="0">
                <a:solidFill>
                  <a:schemeClr val="bg1"/>
                </a:solidFill>
                <a:latin typeface="+mn-lt"/>
              </a:rPr>
              <a:t>Alqoritmanın İzahı</a:t>
            </a:r>
            <a:r>
              <a:rPr lang="az-Latn-AZ" sz="5400" b="1" dirty="0" smtClean="0">
                <a:solidFill>
                  <a:schemeClr val="bg1"/>
                </a:solidFill>
              </a:rPr>
              <a:t>:</a:t>
            </a:r>
            <a:endParaRPr lang="ru-RU" sz="5400" b="1" dirty="0">
              <a:solidFill>
                <a:schemeClr val="bg1"/>
              </a:solidFill>
            </a:endParaRPr>
          </a:p>
        </p:txBody>
      </p:sp>
      <p:sp>
        <p:nvSpPr>
          <p:cNvPr id="3" name="Rectangle 1"/>
          <p:cNvSpPr>
            <a:spLocks noChangeArrowheads="1"/>
          </p:cNvSpPr>
          <p:nvPr/>
        </p:nvSpPr>
        <p:spPr bwMode="auto">
          <a:xfrm>
            <a:off x="497114" y="1784248"/>
            <a:ext cx="9953172"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rgbClr val="C00000"/>
                </a:solidFill>
                <a:effectLst/>
                <a:latin typeface="Arial" panose="020B0604020202020204" pitchFamily="34" charset="0"/>
              </a:rPr>
              <a:t>Əsas vəziyyət</a:t>
            </a:r>
            <a:r>
              <a:rPr kumimoji="0" lang="az-Latn-AZ" altLang="ru-RU" sz="2400" b="1" i="0" u="none" strike="noStrike" cap="none" normalizeH="0" baseline="0" dirty="0" smtClean="0">
                <a:ln>
                  <a:noFill/>
                </a:ln>
                <a:solidFill>
                  <a:schemeClr val="bg1"/>
                </a:solidFill>
                <a:effectLst/>
                <a:latin typeface="Arial" panose="020B0604020202020204" pitchFamily="34" charset="0"/>
              </a:rPr>
              <a:t>: Əgər massivdə bir və ya bir neçə element varsa, artıq sıralanmış sayılır və həmin massiv qaytarılır.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rgbClr val="C00000"/>
                </a:solidFill>
                <a:effectLst/>
                <a:latin typeface="Arial" panose="020B0604020202020204" pitchFamily="34" charset="0"/>
              </a:rPr>
              <a:t>Pivot seçimi</a:t>
            </a:r>
            <a:r>
              <a:rPr kumimoji="0" lang="az-Latn-AZ" altLang="ru-RU" sz="2400" b="1" i="0" u="none" strike="noStrike" cap="none" normalizeH="0" baseline="0" dirty="0" smtClean="0">
                <a:ln>
                  <a:noFill/>
                </a:ln>
                <a:solidFill>
                  <a:schemeClr val="bg1"/>
                </a:solidFill>
                <a:effectLst/>
                <a:latin typeface="Arial" panose="020B0604020202020204" pitchFamily="34" charset="0"/>
              </a:rPr>
              <a:t>: Bu nümunədə pivot olaraq massivdəki sonuncu element seçilir. Pivotun seçilməsi müxtəlif yollarla edilə bilər (məsələn, ilk element, median və ya təsadüfi bir element seçilə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rgbClr val="C00000"/>
                </a:solidFill>
                <a:effectLst/>
                <a:latin typeface="Arial" panose="020B0604020202020204" pitchFamily="34" charset="0"/>
              </a:rPr>
              <a:t>Bölünmə</a:t>
            </a:r>
            <a:r>
              <a:rPr kumimoji="0" lang="az-Latn-AZ" altLang="ru-RU" sz="2400" b="1" i="0" u="none" strike="noStrike" cap="none" normalizeH="0" baseline="0" dirty="0" smtClean="0">
                <a:ln>
                  <a:noFill/>
                </a:ln>
                <a:solidFill>
                  <a:schemeClr val="bg1"/>
                </a:solidFill>
                <a:effectLst/>
                <a:latin typeface="Arial" panose="020B0604020202020204" pitchFamily="34" charset="0"/>
              </a:rPr>
              <a:t>: Massivdəki hər bir element pivotla müqayisə edilir. Pivotdan kiçik olanlar bir tərəfə, böyük olanlar isə digər tərəfə yığılır.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bg1"/>
                </a:solidFill>
                <a:effectLst/>
                <a:latin typeface="Arial" panose="020B0604020202020204" pitchFamily="34" charset="0"/>
              </a:rPr>
              <a:t>T</a:t>
            </a:r>
            <a:r>
              <a:rPr kumimoji="0" lang="az-Latn-AZ" altLang="ru-RU" sz="2400" b="1" i="0" u="none" strike="noStrike" cap="none" normalizeH="0" baseline="0" dirty="0" smtClean="0">
                <a:ln>
                  <a:noFill/>
                </a:ln>
                <a:solidFill>
                  <a:srgbClr val="C00000"/>
                </a:solidFill>
                <a:effectLst/>
                <a:latin typeface="Arial" panose="020B0604020202020204" pitchFamily="34" charset="0"/>
              </a:rPr>
              <a:t>əkrarlama</a:t>
            </a:r>
            <a:r>
              <a:rPr kumimoji="0" lang="az-Latn-AZ" altLang="ru-RU" sz="2400" b="1" i="0" u="none" strike="noStrike" cap="none" normalizeH="0" baseline="0" dirty="0" smtClean="0">
                <a:ln>
                  <a:noFill/>
                </a:ln>
                <a:solidFill>
                  <a:schemeClr val="bg1"/>
                </a:solidFill>
                <a:effectLst/>
                <a:latin typeface="Arial" panose="020B0604020202020204" pitchFamily="34" charset="0"/>
              </a:rPr>
              <a:t>: Yuxarıda əldə edilən iki yarım massiv təkrarlanaraq sıralanır və nəticədə tam sıralanmış massiv əldə edilir. </a:t>
            </a:r>
          </a:p>
        </p:txBody>
      </p:sp>
    </p:spTree>
    <p:extLst>
      <p:ext uri="{BB962C8B-B14F-4D97-AF65-F5344CB8AC3E}">
        <p14:creationId xmlns:p14="http://schemas.microsoft.com/office/powerpoint/2010/main" val="2514861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684" y="365125"/>
            <a:ext cx="8926286" cy="1325563"/>
          </a:xfrm>
        </p:spPr>
        <p:txBody>
          <a:bodyPr>
            <a:noAutofit/>
          </a:bodyPr>
          <a:lstStyle/>
          <a:p>
            <a:r>
              <a:rPr lang="az-Latn-AZ" sz="5400" b="1" dirty="0" smtClean="0">
                <a:solidFill>
                  <a:schemeClr val="bg1"/>
                </a:solidFill>
                <a:latin typeface="+mn-lt"/>
              </a:rPr>
              <a:t>Quick Sort'un üstünlükləri:</a:t>
            </a:r>
            <a:br>
              <a:rPr lang="az-Latn-AZ" sz="5400" b="1" dirty="0" smtClean="0">
                <a:solidFill>
                  <a:schemeClr val="bg1"/>
                </a:solidFill>
                <a:latin typeface="+mn-lt"/>
              </a:rPr>
            </a:br>
            <a:endParaRPr lang="az-Latn-AZ" sz="5400" dirty="0">
              <a:solidFill>
                <a:schemeClr val="bg1"/>
              </a:solidFill>
              <a:latin typeface="+mn-lt"/>
            </a:endParaRPr>
          </a:p>
        </p:txBody>
      </p:sp>
      <p:sp>
        <p:nvSpPr>
          <p:cNvPr id="3" name="Rectangle 2"/>
          <p:cNvSpPr/>
          <p:nvPr/>
        </p:nvSpPr>
        <p:spPr>
          <a:xfrm>
            <a:off x="188684" y="1261293"/>
            <a:ext cx="8273143" cy="1569660"/>
          </a:xfrm>
          <a:prstGeom prst="rect">
            <a:avLst/>
          </a:prstGeom>
        </p:spPr>
        <p:txBody>
          <a:bodyPr wrap="square">
            <a:spAutoFit/>
          </a:bodyPr>
          <a:lstStyle/>
          <a:p>
            <a:pPr>
              <a:buFont typeface="Arial" panose="020B0604020202020204" pitchFamily="34" charset="0"/>
              <a:buChar char="•"/>
            </a:pPr>
            <a:r>
              <a:rPr lang="az-Latn-AZ" sz="2400" b="1" dirty="0" smtClean="0">
                <a:solidFill>
                  <a:schemeClr val="bg1"/>
                </a:solidFill>
              </a:rPr>
              <a:t>Sürət</a:t>
            </a:r>
            <a:r>
              <a:rPr lang="az-Latn-AZ" sz="2400" dirty="0" smtClean="0">
                <a:solidFill>
                  <a:schemeClr val="bg1"/>
                </a:solidFill>
              </a:rPr>
              <a:t>: </a:t>
            </a:r>
            <a:r>
              <a:rPr lang="az-Latn-AZ" sz="2400" b="1" dirty="0" smtClean="0">
                <a:solidFill>
                  <a:schemeClr val="bg1"/>
                </a:solidFill>
              </a:rPr>
              <a:t>Quick Sort, digər sıralama alqoritmlərinə nisbətən çox sürətlidir, xüsusən böyük verilənlərdə.</a:t>
            </a:r>
          </a:p>
          <a:p>
            <a:pPr>
              <a:buFont typeface="Arial" panose="020B0604020202020204" pitchFamily="34" charset="0"/>
              <a:buChar char="•"/>
            </a:pPr>
            <a:r>
              <a:rPr lang="az-Latn-AZ" sz="2400" b="1" dirty="0" smtClean="0">
                <a:solidFill>
                  <a:schemeClr val="bg1"/>
                </a:solidFill>
              </a:rPr>
              <a:t>Yaddaş tələbləri: Yalnız əlavə yaddaş istifadə etmədən işləyir (yerində sıralama).</a:t>
            </a:r>
            <a:endParaRPr lang="az-Latn-AZ" sz="2400" b="1" dirty="0">
              <a:solidFill>
                <a:schemeClr val="bg1"/>
              </a:solidFill>
            </a:endParaRPr>
          </a:p>
        </p:txBody>
      </p:sp>
      <p:sp>
        <p:nvSpPr>
          <p:cNvPr id="4" name="Rectangle 3"/>
          <p:cNvSpPr/>
          <p:nvPr/>
        </p:nvSpPr>
        <p:spPr>
          <a:xfrm>
            <a:off x="7254" y="3265456"/>
            <a:ext cx="9289145" cy="923330"/>
          </a:xfrm>
          <a:prstGeom prst="rect">
            <a:avLst/>
          </a:prstGeom>
        </p:spPr>
        <p:txBody>
          <a:bodyPr wrap="square">
            <a:spAutoFit/>
          </a:bodyPr>
          <a:lstStyle/>
          <a:p>
            <a:r>
              <a:rPr lang="az-Latn-AZ" sz="5400" b="1" dirty="0" smtClean="0">
                <a:solidFill>
                  <a:schemeClr val="bg1"/>
                </a:solidFill>
              </a:rPr>
              <a:t>Quick Sort'un çatışmazlıqları:</a:t>
            </a:r>
            <a:endParaRPr lang="az-Latn-AZ" sz="5400" b="1" dirty="0">
              <a:solidFill>
                <a:schemeClr val="bg1"/>
              </a:solidFill>
            </a:endParaRPr>
          </a:p>
        </p:txBody>
      </p:sp>
      <mc:AlternateContent xmlns:mc="http://schemas.openxmlformats.org/markup-compatibility/2006" xmlns:a14="http://schemas.microsoft.com/office/drawing/2010/main">
        <mc:Choice Requires="a14">
          <p:sp>
            <p:nvSpPr>
              <p:cNvPr id="5" name="Rectangle 4"/>
              <p:cNvSpPr/>
              <p:nvPr/>
            </p:nvSpPr>
            <p:spPr>
              <a:xfrm>
                <a:off x="253999" y="4405721"/>
                <a:ext cx="9042400" cy="1938992"/>
              </a:xfrm>
              <a:prstGeom prst="rect">
                <a:avLst/>
              </a:prstGeom>
            </p:spPr>
            <p:txBody>
              <a:bodyPr wrap="square">
                <a:spAutoFit/>
              </a:bodyPr>
              <a:lstStyle/>
              <a:p>
                <a:pPr>
                  <a:buFont typeface="Arial" panose="020B0604020202020204" pitchFamily="34" charset="0"/>
                  <a:buChar char="•"/>
                </a:pPr>
                <a:r>
                  <a:rPr lang="az-Latn-AZ" sz="2000" b="1" dirty="0" smtClean="0">
                    <a:solidFill>
                      <a:schemeClr val="bg1"/>
                    </a:solidFill>
                  </a:rPr>
                  <a:t>Ən</a:t>
                </a:r>
                <a:r>
                  <a:rPr lang="az-Latn-AZ" sz="2000" b="1" dirty="0">
                    <a:solidFill>
                      <a:schemeClr val="bg1"/>
                    </a:solidFill>
                  </a:rPr>
                  <a:t> pis halda performans</a:t>
                </a:r>
                <a:r>
                  <a:rPr lang="az-Latn-AZ" sz="2000" dirty="0">
                    <a:solidFill>
                      <a:schemeClr val="bg1"/>
                    </a:solidFill>
                  </a:rPr>
                  <a:t>: Pivotun pis seçilməsio</a:t>
                </a:r>
                <a14:m>
                  <m:oMath xmlns:m="http://schemas.openxmlformats.org/officeDocument/2006/math">
                    <m:r>
                      <a:rPr lang="az-Latn-AZ" sz="2000" i="1">
                        <a:solidFill>
                          <a:schemeClr val="bg1"/>
                        </a:solidFill>
                        <a:latin typeface="Cambria Math" panose="02040503050406030204" pitchFamily="18" charset="0"/>
                      </a:rPr>
                      <m:t>𝑂</m:t>
                    </m:r>
                    <m:r>
                      <a:rPr lang="az-Latn-AZ" sz="2000" i="1">
                        <a:solidFill>
                          <a:schemeClr val="bg1"/>
                        </a:solidFill>
                        <a:latin typeface="Cambria Math" panose="02040503050406030204" pitchFamily="18" charset="0"/>
                      </a:rPr>
                      <m:t>(</m:t>
                    </m:r>
                    <m:sSup>
                      <m:sSupPr>
                        <m:ctrlPr>
                          <a:rPr lang="az-Latn-AZ" sz="2000" i="1">
                            <a:solidFill>
                              <a:schemeClr val="bg1"/>
                            </a:solidFill>
                            <a:latin typeface="Cambria Math" panose="02040503050406030204" pitchFamily="18" charset="0"/>
                          </a:rPr>
                        </m:ctrlPr>
                      </m:sSupPr>
                      <m:e>
                        <m:r>
                          <a:rPr lang="az-Latn-AZ" sz="2000" i="1">
                            <a:solidFill>
                              <a:schemeClr val="bg1"/>
                            </a:solidFill>
                            <a:latin typeface="Cambria Math" panose="02040503050406030204" pitchFamily="18" charset="0"/>
                          </a:rPr>
                          <m:t>𝑛</m:t>
                        </m:r>
                      </m:e>
                      <m:sup>
                        <m:r>
                          <a:rPr lang="az-Latn-AZ" sz="2000" i="1">
                            <a:solidFill>
                              <a:schemeClr val="bg1"/>
                            </a:solidFill>
                            <a:latin typeface="Cambria Math" panose="02040503050406030204" pitchFamily="18" charset="0"/>
                          </a:rPr>
                          <m:t>2</m:t>
                        </m:r>
                      </m:sup>
                    </m:sSup>
                  </m:oMath>
                </a14:m>
                <a:r>
                  <a:rPr lang="az-Latn-AZ" sz="2000" i="1" dirty="0">
                    <a:solidFill>
                      <a:schemeClr val="bg1"/>
                    </a:solidFill>
                  </a:rPr>
                  <a:t>) </a:t>
                </a:r>
                <a:r>
                  <a:rPr lang="az-Latn-AZ" sz="2000" dirty="0">
                    <a:solidFill>
                      <a:schemeClr val="bg1"/>
                    </a:solidFill>
                  </a:rPr>
                  <a:t>vaxt kompleksi ilə nəticələnə bilər. Bu vəziyyətdən qaçınmaq üçün pivot seçimi yaxşı strategiyalarla edilməlidir (məsələn, "median of three" üsulu).</a:t>
                </a:r>
              </a:p>
              <a:p>
                <a:pPr>
                  <a:buFont typeface="Arial" panose="020B0604020202020204" pitchFamily="34" charset="0"/>
                  <a:buChar char="•"/>
                </a:pPr>
                <a:r>
                  <a:rPr lang="az-Latn-AZ" sz="2000" b="1" dirty="0">
                    <a:solidFill>
                      <a:schemeClr val="bg1"/>
                    </a:solidFill>
                  </a:rPr>
                  <a:t>Stabillik</a:t>
                </a:r>
                <a:r>
                  <a:rPr lang="az-Latn-AZ" sz="2000" dirty="0">
                    <a:solidFill>
                      <a:schemeClr val="bg1"/>
                    </a:solidFill>
                  </a:rPr>
                  <a:t>: Quick Sort stabilliyə malik deyil. Yəni, eyni dəyərə malik olan elementlərin sırası sıralama nəticəsində dəyişə bilər. Lakin, əgər stabil bir sıralama tələb olunursa, alternativ metodlar (məsələn, Merge Sort) istifadə edilməlidir.</a:t>
                </a:r>
              </a:p>
            </p:txBody>
          </p:sp>
        </mc:Choice>
        <mc:Fallback xmlns="">
          <p:sp>
            <p:nvSpPr>
              <p:cNvPr id="5" name="Rectangle 4"/>
              <p:cNvSpPr>
                <a:spLocks noRot="1" noChangeAspect="1" noMove="1" noResize="1" noEditPoints="1" noAdjustHandles="1" noChangeArrowheads="1" noChangeShapeType="1" noTextEdit="1"/>
              </p:cNvSpPr>
              <p:nvPr/>
            </p:nvSpPr>
            <p:spPr>
              <a:xfrm>
                <a:off x="253999" y="4405721"/>
                <a:ext cx="9042400" cy="1938992"/>
              </a:xfrm>
              <a:prstGeom prst="rect">
                <a:avLst/>
              </a:prstGeom>
              <a:blipFill>
                <a:blip r:embed="rId2"/>
                <a:stretch>
                  <a:fillRect l="-742" t="-1887" b="-4717"/>
                </a:stretch>
              </a:blipFill>
            </p:spPr>
            <p:txBody>
              <a:bodyPr/>
              <a:lstStyle/>
              <a:p>
                <a:r>
                  <a:rPr lang="ru-RU">
                    <a:noFill/>
                  </a:rPr>
                  <a:t> </a:t>
                </a:r>
              </a:p>
            </p:txBody>
          </p:sp>
        </mc:Fallback>
      </mc:AlternateContent>
    </p:spTree>
    <p:extLst>
      <p:ext uri="{BB962C8B-B14F-4D97-AF65-F5344CB8AC3E}">
        <p14:creationId xmlns:p14="http://schemas.microsoft.com/office/powerpoint/2010/main" val="327097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1925"/>
            <a:ext cx="5272314" cy="1325563"/>
          </a:xfrm>
        </p:spPr>
        <p:txBody>
          <a:bodyPr>
            <a:normAutofit/>
          </a:bodyPr>
          <a:lstStyle/>
          <a:p>
            <a:r>
              <a:rPr lang="az-Latn-AZ" sz="5400" b="1" dirty="0" smtClean="0">
                <a:solidFill>
                  <a:schemeClr val="bg1"/>
                </a:solidFill>
                <a:latin typeface="+mn-lt"/>
              </a:rPr>
              <a:t>KOD NUMUNƏSİ</a:t>
            </a:r>
            <a:endParaRPr lang="ru-RU" sz="5400" b="1" dirty="0">
              <a:solidFill>
                <a:schemeClr val="bg1"/>
              </a:solidFill>
              <a:latin typeface="+mn-lt"/>
            </a:endParaRPr>
          </a:p>
        </p:txBody>
      </p:sp>
      <p:pic>
        <p:nvPicPr>
          <p:cNvPr id="3" name="Picture 2"/>
          <p:cNvPicPr>
            <a:picLocks noChangeAspect="1"/>
          </p:cNvPicPr>
          <p:nvPr/>
        </p:nvPicPr>
        <p:blipFill>
          <a:blip r:embed="rId2"/>
          <a:stretch>
            <a:fillRect/>
          </a:stretch>
        </p:blipFill>
        <p:spPr>
          <a:xfrm>
            <a:off x="2347731" y="1160298"/>
            <a:ext cx="6346326" cy="5582429"/>
          </a:xfrm>
          <a:prstGeom prst="rect">
            <a:avLst/>
          </a:prstGeom>
        </p:spPr>
      </p:pic>
    </p:spTree>
    <p:extLst>
      <p:ext uri="{BB962C8B-B14F-4D97-AF65-F5344CB8AC3E}">
        <p14:creationId xmlns:p14="http://schemas.microsoft.com/office/powerpoint/2010/main" val="333218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029" y="190953"/>
            <a:ext cx="4575628" cy="1325563"/>
          </a:xfrm>
        </p:spPr>
        <p:txBody>
          <a:bodyPr>
            <a:noAutofit/>
          </a:bodyPr>
          <a:lstStyle/>
          <a:p>
            <a:r>
              <a:rPr lang="az-Latn-AZ" sz="6000" b="1" dirty="0" smtClean="0">
                <a:solidFill>
                  <a:schemeClr val="bg1"/>
                </a:solidFill>
                <a:latin typeface="+mn-lt"/>
              </a:rPr>
              <a:t>MERGE SORT</a:t>
            </a:r>
            <a:endParaRPr lang="ru-RU" sz="6000" b="1" dirty="0">
              <a:solidFill>
                <a:schemeClr val="bg1"/>
              </a:solidFill>
              <a:latin typeface="+mn-lt"/>
            </a:endParaRPr>
          </a:p>
        </p:txBody>
      </p:sp>
      <p:sp>
        <p:nvSpPr>
          <p:cNvPr id="3" name="Rectangle 2"/>
          <p:cNvSpPr/>
          <p:nvPr/>
        </p:nvSpPr>
        <p:spPr>
          <a:xfrm>
            <a:off x="156029" y="1676173"/>
            <a:ext cx="5080000" cy="3785652"/>
          </a:xfrm>
          <a:prstGeom prst="rect">
            <a:avLst/>
          </a:prstGeom>
        </p:spPr>
        <p:txBody>
          <a:bodyPr wrap="square">
            <a:spAutoFit/>
          </a:bodyPr>
          <a:lstStyle/>
          <a:p>
            <a:r>
              <a:rPr lang="az-Latn-AZ" sz="2400" b="1" dirty="0" smtClean="0">
                <a:solidFill>
                  <a:schemeClr val="bg1"/>
                </a:solidFill>
              </a:rPr>
              <a:t>Merge Sort (Birleşdirərək sıralama), sıralama alqoritmalarından biridir və "Böl və hökm sür" (Divide and Conquer) yanaşmasına əsaslanır. Bu alqoritma verilənləri təkrarlayaraq, kiçik hissələrə ayırır və sonra bu hissələri birləşdirərək sıralayır. Merge Sort çox təsirli və güclü bir sıralama alqoritmasıdır, xüsusən də böyük verilənlər dəstələri üçün.</a:t>
            </a:r>
            <a:endParaRPr lang="ru-RU" sz="2400" b="1" dirty="0">
              <a:solidFill>
                <a:schemeClr val="bg1"/>
              </a:solidFill>
            </a:endParaRPr>
          </a:p>
        </p:txBody>
      </p:sp>
      <p:pic>
        <p:nvPicPr>
          <p:cNvPr id="3074" name="Picture 2" descr="Merge Sort (With Code in Python/C++/Java/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346" y="190953"/>
            <a:ext cx="6010648" cy="6109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376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2866"/>
            <a:ext cx="8059057" cy="1035277"/>
          </a:xfrm>
        </p:spPr>
        <p:txBody>
          <a:bodyPr/>
          <a:lstStyle/>
          <a:p>
            <a:r>
              <a:rPr lang="az-Latn-AZ" b="1" dirty="0" smtClean="0">
                <a:solidFill>
                  <a:schemeClr val="bg1"/>
                </a:solidFill>
                <a:latin typeface="+mn-lt"/>
              </a:rPr>
              <a:t>Merge Sort-un üstünlükləri:</a:t>
            </a:r>
            <a:endParaRPr lang="ru-RU" b="1" dirty="0">
              <a:solidFill>
                <a:schemeClr val="bg1"/>
              </a:solidFill>
              <a:latin typeface="+mn-lt"/>
            </a:endParaRPr>
          </a:p>
        </p:txBody>
      </p:sp>
      <p:sp>
        <p:nvSpPr>
          <p:cNvPr id="3" name="Rectangle 1"/>
          <p:cNvSpPr>
            <a:spLocks noChangeArrowheads="1"/>
          </p:cNvSpPr>
          <p:nvPr/>
        </p:nvSpPr>
        <p:spPr bwMode="auto">
          <a:xfrm>
            <a:off x="0" y="954624"/>
            <a:ext cx="1007291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bg1"/>
                </a:solidFill>
                <a:effectLst/>
                <a:latin typeface="Arial" panose="020B0604020202020204" pitchFamily="34" charset="0"/>
              </a:rPr>
              <a:t>Stabil sıralama</a:t>
            </a:r>
            <a:r>
              <a:rPr kumimoji="0" lang="az-Latn-AZ" altLang="ru-RU" b="0" i="0" u="none" strike="noStrike" cap="none" normalizeH="0" baseline="0" dirty="0" smtClean="0">
                <a:ln>
                  <a:noFill/>
                </a:ln>
                <a:solidFill>
                  <a:schemeClr val="bg1"/>
                </a:solidFill>
                <a:effectLst/>
                <a:latin typeface="Arial" panose="020B0604020202020204" pitchFamily="34" charset="0"/>
              </a:rPr>
              <a:t>: Merge Sort stabil bir alqoritmadır, yəni eyni dəyərə sahib elementlər orijinal sıralarını qoruyur. Məsələn, bir massivdə 2 dənə "A" elementi varsa, onlar orijinal sıralama şəklində qalacaq.</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bg1"/>
                </a:solidFill>
                <a:effectLst/>
                <a:latin typeface="Arial" panose="020B0604020202020204" pitchFamily="34" charset="0"/>
              </a:rPr>
              <a:t>Sabit zaman mürəkkəbliyi (O(n log n))</a:t>
            </a:r>
            <a:r>
              <a:rPr kumimoji="0" lang="az-Latn-AZ" altLang="ru-RU" b="0" i="0" u="none" strike="noStrike" cap="none" normalizeH="0" baseline="0" dirty="0" smtClean="0">
                <a:ln>
                  <a:noFill/>
                </a:ln>
                <a:solidFill>
                  <a:schemeClr val="bg1"/>
                </a:solidFill>
                <a:effectLst/>
                <a:latin typeface="Arial" panose="020B0604020202020204" pitchFamily="34" charset="0"/>
              </a:rPr>
              <a:t>: Merge Sort-un zaman mürəkkəbliyi heç vaxt O(n²)-ə düşmür. Hər halda O(n log n) zaman alır, bu da onu daha təhlükəsiz və etibarlı edir.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bg1"/>
                </a:solidFill>
                <a:effectLst/>
                <a:latin typeface="Arial" panose="020B0604020202020204" pitchFamily="34" charset="0"/>
              </a:rPr>
              <a:t>Böyük verilənlər üçün uyğun</a:t>
            </a:r>
            <a:r>
              <a:rPr kumimoji="0" lang="az-Latn-AZ" altLang="ru-RU" b="0" i="0" u="none" strike="noStrike" cap="none" normalizeH="0" baseline="0" dirty="0" smtClean="0">
                <a:ln>
                  <a:noFill/>
                </a:ln>
                <a:solidFill>
                  <a:schemeClr val="bg1"/>
                </a:solidFill>
                <a:effectLst/>
                <a:latin typeface="Arial" panose="020B0604020202020204" pitchFamily="34" charset="0"/>
              </a:rPr>
              <a:t>: Merge Sort, çox böyük verilənlər dəstələri ilə işləyərkən çox səmərəlidir. Xüsusilə, məlumatlar sabit yaddaşda və ya xarici yaddaşda saxlanarkən (external sorting) Merge Sort çox faydalıdır.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bg1"/>
                </a:solidFill>
                <a:effectLst/>
                <a:latin typeface="Arial" panose="020B0604020202020204" pitchFamily="34" charset="0"/>
              </a:rPr>
              <a:t>Paralel hesablama</a:t>
            </a:r>
            <a:r>
              <a:rPr kumimoji="0" lang="az-Latn-AZ" altLang="ru-RU" b="0" i="0" u="none" strike="noStrike" cap="none" normalizeH="0" baseline="0" dirty="0" smtClean="0">
                <a:ln>
                  <a:noFill/>
                </a:ln>
                <a:solidFill>
                  <a:schemeClr val="bg1"/>
                </a:solidFill>
                <a:effectLst/>
                <a:latin typeface="Arial" panose="020B0604020202020204" pitchFamily="34" charset="0"/>
              </a:rPr>
              <a:t>: Merge Sort paralel işləyə bilən bir alqoritmadır. Hər iki alt massiv ayrı-ayrı işlənə bilər və bu, onu çox nüvəli prosessorlarda paralel işləmək üçün uyğun edir.</a:t>
            </a:r>
          </a:p>
        </p:txBody>
      </p:sp>
      <p:sp>
        <p:nvSpPr>
          <p:cNvPr id="4" name="TextBox 3"/>
          <p:cNvSpPr txBox="1"/>
          <p:nvPr/>
        </p:nvSpPr>
        <p:spPr>
          <a:xfrm>
            <a:off x="0" y="3909537"/>
            <a:ext cx="7794172" cy="769441"/>
          </a:xfrm>
          <a:prstGeom prst="rect">
            <a:avLst/>
          </a:prstGeom>
          <a:noFill/>
        </p:spPr>
        <p:txBody>
          <a:bodyPr wrap="square" rtlCol="0">
            <a:spAutoFit/>
          </a:bodyPr>
          <a:lstStyle/>
          <a:p>
            <a:r>
              <a:rPr lang="az-Latn-AZ" sz="4400" b="1" dirty="0" smtClean="0">
                <a:solidFill>
                  <a:schemeClr val="bg1"/>
                </a:solidFill>
              </a:rPr>
              <a:t>Merge Sort-un çatışmazlıqları</a:t>
            </a:r>
            <a:r>
              <a:rPr lang="az-Latn-AZ" sz="4000" b="1" dirty="0" smtClean="0">
                <a:solidFill>
                  <a:schemeClr val="bg1"/>
                </a:solidFill>
              </a:rPr>
              <a:t>:</a:t>
            </a:r>
            <a:endParaRPr lang="ru-RU" sz="4000" b="1" dirty="0">
              <a:solidFill>
                <a:schemeClr val="bg1"/>
              </a:solidFill>
            </a:endParaRPr>
          </a:p>
        </p:txBody>
      </p:sp>
      <p:sp>
        <p:nvSpPr>
          <p:cNvPr id="5" name="Rectangle 2"/>
          <p:cNvSpPr>
            <a:spLocks noChangeArrowheads="1"/>
          </p:cNvSpPr>
          <p:nvPr/>
        </p:nvSpPr>
        <p:spPr bwMode="auto">
          <a:xfrm>
            <a:off x="0" y="4771570"/>
            <a:ext cx="1144451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az-Latn-AZ" altLang="ru-RU" b="1" dirty="0" smtClean="0">
                <a:solidFill>
                  <a:schemeClr val="bg1"/>
                </a:solidFill>
                <a:latin typeface="Arial" panose="020B0604020202020204" pitchFamily="34" charset="0"/>
              </a:rPr>
              <a:t>Əl</a:t>
            </a:r>
            <a:r>
              <a:rPr kumimoji="0" lang="az-Latn-AZ" altLang="ru-RU" sz="1800" b="1" i="0" u="none" strike="noStrike" cap="none" normalizeH="0" baseline="0" dirty="0" smtClean="0">
                <a:ln>
                  <a:noFill/>
                </a:ln>
                <a:solidFill>
                  <a:schemeClr val="bg1"/>
                </a:solidFill>
                <a:effectLst/>
                <a:latin typeface="Arial" panose="020B0604020202020204" pitchFamily="34" charset="0"/>
              </a:rPr>
              <a:t>avə yaddaş istifadəsi</a:t>
            </a:r>
            <a:r>
              <a:rPr kumimoji="0" lang="az-Latn-AZ" altLang="ru-RU" sz="1800" b="0" i="0" u="none" strike="noStrike" cap="none" normalizeH="0" baseline="0" dirty="0" smtClean="0">
                <a:ln>
                  <a:noFill/>
                </a:ln>
                <a:solidFill>
                  <a:schemeClr val="bg1"/>
                </a:solidFill>
                <a:effectLst/>
                <a:latin typeface="Arial" panose="020B0604020202020204" pitchFamily="34" charset="0"/>
              </a:rPr>
              <a:t>: Merge Sort-un ən böyük çatışmazlığı </a:t>
            </a:r>
            <a:r>
              <a:rPr kumimoji="0" lang="az-Latn-AZ" altLang="ru-RU" sz="1800" b="1" i="0" u="none" strike="noStrike" cap="none" normalizeH="0" baseline="0" dirty="0" smtClean="0">
                <a:ln>
                  <a:noFill/>
                </a:ln>
                <a:solidFill>
                  <a:schemeClr val="bg1"/>
                </a:solidFill>
                <a:effectLst/>
                <a:latin typeface="Arial" panose="020B0604020202020204" pitchFamily="34" charset="0"/>
              </a:rPr>
              <a:t>əlavə yaddaş tələb etməsidir</a:t>
            </a:r>
            <a:r>
              <a:rPr kumimoji="0" lang="az-Latn-AZ" altLang="ru-RU" sz="1800" b="0" i="0" u="none" strike="noStrike" cap="none" normalizeH="0" baseline="0" dirty="0" smtClean="0">
                <a:ln>
                  <a:noFill/>
                </a:ln>
                <a:solidFill>
                  <a:schemeClr val="bg1"/>
                </a:solidFill>
                <a:effectLst/>
                <a:latin typeface="Arial" panose="020B0604020202020204" pitchFamily="34" charset="0"/>
              </a:rPr>
              <a:t>. Yəni sıralama zamanı yeni massivlər yaradılır, bu da əlavə yaddaş tutumuna səbəb olur. Bu, böyük verilənlərdə daha çox yaddaş istehlakı ilə nəticələnə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1800" b="1" i="0" u="none" strike="noStrike" cap="none" normalizeH="0" baseline="0" dirty="0" smtClean="0">
                <a:ln>
                  <a:noFill/>
                </a:ln>
                <a:solidFill>
                  <a:schemeClr val="bg1"/>
                </a:solidFill>
                <a:effectLst/>
                <a:latin typeface="Arial" panose="020B0604020202020204" pitchFamily="34" charset="0"/>
              </a:rPr>
              <a:t>Sürət</a:t>
            </a:r>
            <a:r>
              <a:rPr kumimoji="0" lang="az-Latn-AZ" altLang="ru-RU" sz="1800" b="0" i="0" u="none" strike="noStrike" cap="none" normalizeH="0" baseline="0" dirty="0" smtClean="0">
                <a:ln>
                  <a:noFill/>
                </a:ln>
                <a:solidFill>
                  <a:schemeClr val="bg1"/>
                </a:solidFill>
                <a:effectLst/>
                <a:latin typeface="Arial" panose="020B0604020202020204" pitchFamily="34" charset="0"/>
              </a:rPr>
              <a:t>: Merge Sort, Quick Sort kimi digər alqoritmalara nisbətən daha yavaşdır, xüsusilə kiçik verilənlər dəstələrində. Quick Sort-un ortalama halda daha sürətli olduğunu göstərən bir çox araşdırma mövcuddur</a:t>
            </a:r>
            <a:r>
              <a:rPr kumimoji="0" lang="ru-RU" altLang="ru-RU" sz="1800" b="0" i="0" u="none" strike="noStrike" cap="none" normalizeH="0" baseline="0" dirty="0" smtClean="0">
                <a:ln>
                  <a:noFill/>
                </a:ln>
                <a:solidFill>
                  <a:schemeClr val="bg1"/>
                </a:solidFill>
                <a:effectLst/>
                <a:latin typeface="Arial" panose="020B0604020202020204" pitchFamily="34" charset="0"/>
              </a:rPr>
              <a:t>.</a:t>
            </a:r>
          </a:p>
        </p:txBody>
      </p:sp>
    </p:spTree>
    <p:extLst>
      <p:ext uri="{BB962C8B-B14F-4D97-AF65-F5344CB8AC3E}">
        <p14:creationId xmlns:p14="http://schemas.microsoft.com/office/powerpoint/2010/main" val="2645140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7410"/>
            <a:ext cx="5054600" cy="1325563"/>
          </a:xfrm>
        </p:spPr>
        <p:txBody>
          <a:bodyPr>
            <a:normAutofit/>
          </a:bodyPr>
          <a:lstStyle/>
          <a:p>
            <a:r>
              <a:rPr lang="az-Latn-AZ" sz="4800" b="1" dirty="0" smtClean="0">
                <a:solidFill>
                  <a:schemeClr val="bg1"/>
                </a:solidFill>
                <a:latin typeface="+mn-lt"/>
              </a:rPr>
              <a:t>KOD NUMUNƏSİ</a:t>
            </a:r>
            <a:endParaRPr lang="ru-RU" sz="4800" b="1" dirty="0">
              <a:solidFill>
                <a:schemeClr val="bg1"/>
              </a:solidFill>
              <a:latin typeface="+mn-lt"/>
            </a:endParaRPr>
          </a:p>
        </p:txBody>
      </p:sp>
      <p:pic>
        <p:nvPicPr>
          <p:cNvPr id="3" name="Picture 2"/>
          <p:cNvPicPr>
            <a:picLocks noChangeAspect="1"/>
          </p:cNvPicPr>
          <p:nvPr/>
        </p:nvPicPr>
        <p:blipFill>
          <a:blip r:embed="rId2"/>
          <a:stretch>
            <a:fillRect/>
          </a:stretch>
        </p:blipFill>
        <p:spPr>
          <a:xfrm>
            <a:off x="5533572" y="333392"/>
            <a:ext cx="5613400" cy="6294684"/>
          </a:xfrm>
          <a:prstGeom prst="rect">
            <a:avLst/>
          </a:prstGeom>
        </p:spPr>
      </p:pic>
    </p:spTree>
    <p:extLst>
      <p:ext uri="{BB962C8B-B14F-4D97-AF65-F5344CB8AC3E}">
        <p14:creationId xmlns:p14="http://schemas.microsoft.com/office/powerpoint/2010/main" val="3327834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8382"/>
            <a:ext cx="6143171" cy="1325563"/>
          </a:xfrm>
        </p:spPr>
        <p:txBody>
          <a:bodyPr>
            <a:normAutofit/>
          </a:bodyPr>
          <a:lstStyle/>
          <a:p>
            <a:r>
              <a:rPr lang="az-Latn-AZ" sz="5400" b="1" dirty="0" smtClean="0">
                <a:solidFill>
                  <a:schemeClr val="bg1"/>
                </a:solidFill>
                <a:latin typeface="+mn-lt"/>
              </a:rPr>
              <a:t>COUNTİNG SORT</a:t>
            </a:r>
            <a:endParaRPr lang="ru-RU" sz="5400" b="1" dirty="0">
              <a:solidFill>
                <a:schemeClr val="bg1"/>
              </a:solidFill>
              <a:latin typeface="+mn-lt"/>
            </a:endParaRPr>
          </a:p>
        </p:txBody>
      </p:sp>
      <p:sp>
        <p:nvSpPr>
          <p:cNvPr id="3" name="Rectangle 2"/>
          <p:cNvSpPr/>
          <p:nvPr/>
        </p:nvSpPr>
        <p:spPr>
          <a:xfrm>
            <a:off x="0" y="1443945"/>
            <a:ext cx="6458857" cy="4401205"/>
          </a:xfrm>
          <a:prstGeom prst="rect">
            <a:avLst/>
          </a:prstGeom>
        </p:spPr>
        <p:txBody>
          <a:bodyPr wrap="square">
            <a:spAutoFit/>
          </a:bodyPr>
          <a:lstStyle/>
          <a:p>
            <a:r>
              <a:rPr lang="az-Latn-AZ" sz="2800" b="1" dirty="0" smtClean="0">
                <a:solidFill>
                  <a:schemeClr val="bg1"/>
                </a:solidFill>
              </a:rPr>
              <a:t>Counting Sort (Sayma sıralaması), çox sürətli və sadə bir sıralama alqoritmasıdır, lakin yalnız müəyyən şərtlər altında istifadə edilə bilər. Counting Sort-un əsas prinsipi, verilən massivdəki hər bir elementin sayını hesablayıb, bu sayları istifadə edərək sıralama əməliyyatı aparmaqdır. Bu alqoritma, əsasən böyük aralıqlı, tam saylı verilənlər ilə işləyərkən çox effektlidir.</a:t>
            </a:r>
            <a:endParaRPr lang="ru-RU" sz="2800" b="1" dirty="0">
              <a:solidFill>
                <a:schemeClr val="bg1"/>
              </a:solidFill>
            </a:endParaRPr>
          </a:p>
        </p:txBody>
      </p:sp>
      <p:pic>
        <p:nvPicPr>
          <p:cNvPr id="5124" name="Picture 4" descr="Counting Sort Algorithm: Using C++ | Board Infinit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47322" y="1825808"/>
            <a:ext cx="5640703" cy="3172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2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954"/>
            <a:ext cx="9031514" cy="1325563"/>
          </a:xfrm>
        </p:spPr>
        <p:txBody>
          <a:bodyPr>
            <a:normAutofit/>
          </a:bodyPr>
          <a:lstStyle/>
          <a:p>
            <a:r>
              <a:rPr lang="az-Latn-AZ" sz="5400" b="1" dirty="0" smtClean="0">
                <a:solidFill>
                  <a:schemeClr val="bg1"/>
                </a:solidFill>
                <a:latin typeface="+mn-lt"/>
              </a:rPr>
              <a:t>Counting Sort-un üstünlükləri:</a:t>
            </a:r>
            <a:endParaRPr lang="ru-RU" sz="5400" b="1" dirty="0">
              <a:solidFill>
                <a:schemeClr val="bg1"/>
              </a:solidFill>
              <a:latin typeface="+mn-lt"/>
            </a:endParaRPr>
          </a:p>
        </p:txBody>
      </p:sp>
      <p:sp>
        <p:nvSpPr>
          <p:cNvPr id="3" name="Rectangle 1"/>
          <p:cNvSpPr>
            <a:spLocks noChangeArrowheads="1"/>
          </p:cNvSpPr>
          <p:nvPr/>
        </p:nvSpPr>
        <p:spPr bwMode="auto">
          <a:xfrm>
            <a:off x="0" y="1257715"/>
            <a:ext cx="1092018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bg1"/>
                </a:solidFill>
                <a:effectLst/>
                <a:latin typeface="Arial" panose="020B0604020202020204" pitchFamily="34" charset="0"/>
              </a:rPr>
              <a:t>Sürət</a:t>
            </a:r>
            <a:r>
              <a:rPr kumimoji="0" lang="az-Latn-AZ" altLang="ru-RU" sz="2400" b="0" i="0" u="none" strike="noStrike" cap="none" normalizeH="0" baseline="0" dirty="0" smtClean="0">
                <a:ln>
                  <a:noFill/>
                </a:ln>
                <a:solidFill>
                  <a:schemeClr val="bg1"/>
                </a:solidFill>
                <a:effectLst/>
                <a:latin typeface="Arial" panose="020B0604020202020204" pitchFamily="34" charset="0"/>
              </a:rPr>
              <a:t>: Counting Sort, </a:t>
            </a:r>
            <a:r>
              <a:rPr kumimoji="0" lang="az-Latn-AZ" altLang="ru-RU" sz="2400" b="1" i="0" u="none" strike="noStrike" cap="none" normalizeH="0" baseline="0" dirty="0" smtClean="0">
                <a:ln>
                  <a:noFill/>
                </a:ln>
                <a:solidFill>
                  <a:schemeClr val="bg1"/>
                </a:solidFill>
                <a:effectLst/>
                <a:latin typeface="Arial" panose="020B0604020202020204" pitchFamily="34" charset="0"/>
              </a:rPr>
              <a:t>kiçik diapazonlu verilənlər</a:t>
            </a:r>
            <a:r>
              <a:rPr kumimoji="0" lang="az-Latn-AZ" altLang="ru-RU" sz="2400" b="0" i="0" u="none" strike="noStrike" cap="none" normalizeH="0" baseline="0" dirty="0" smtClean="0">
                <a:ln>
                  <a:noFill/>
                </a:ln>
                <a:solidFill>
                  <a:schemeClr val="bg1"/>
                </a:solidFill>
                <a:effectLst/>
                <a:latin typeface="Arial" panose="020B0604020202020204" pitchFamily="34" charset="0"/>
              </a:rPr>
              <a:t> ilə işlədikdə çox sürətlidir. Zaman mürəkkəbliyi O(n) olaraq da əldə edilə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bg1"/>
                </a:solidFill>
                <a:effectLst/>
                <a:latin typeface="Arial" panose="020B0604020202020204" pitchFamily="34" charset="0"/>
              </a:rPr>
              <a:t>Sadəlik</a:t>
            </a:r>
            <a:r>
              <a:rPr kumimoji="0" lang="az-Latn-AZ" altLang="ru-RU" sz="2400" b="0" i="0" u="none" strike="noStrike" cap="none" normalizeH="0" baseline="0" dirty="0" smtClean="0">
                <a:ln>
                  <a:noFill/>
                </a:ln>
                <a:solidFill>
                  <a:schemeClr val="bg1"/>
                </a:solidFill>
                <a:effectLst/>
                <a:latin typeface="Arial" panose="020B0604020202020204" pitchFamily="34" charset="0"/>
              </a:rPr>
              <a:t>: Alqoritma çox sadədir və yaxşı başa düşülə bilər. Yalnız sayma və cəmiyyə əməliyyatlarına əsaslanır.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400" b="1" i="0" u="none" strike="noStrike" cap="none" normalizeH="0" baseline="0" dirty="0" smtClean="0">
                <a:ln>
                  <a:noFill/>
                </a:ln>
                <a:solidFill>
                  <a:schemeClr val="bg1"/>
                </a:solidFill>
                <a:effectLst/>
                <a:latin typeface="Arial" panose="020B0604020202020204" pitchFamily="34" charset="0"/>
              </a:rPr>
              <a:t>Stabil sıralama</a:t>
            </a:r>
            <a:r>
              <a:rPr kumimoji="0" lang="az-Latn-AZ" altLang="ru-RU" sz="2400" b="0" i="0" u="none" strike="noStrike" cap="none" normalizeH="0" baseline="0" dirty="0" smtClean="0">
                <a:ln>
                  <a:noFill/>
                </a:ln>
                <a:solidFill>
                  <a:schemeClr val="bg1"/>
                </a:solidFill>
                <a:effectLst/>
                <a:latin typeface="Arial" panose="020B0604020202020204" pitchFamily="34" charset="0"/>
              </a:rPr>
              <a:t>: Counting Sort, stabil bir sıralama alqoritmasıdır. Yəni, eyni qiymətə sahib elementlərin orijinal sırası qorunur</a:t>
            </a:r>
            <a:r>
              <a:rPr kumimoji="0" lang="az-Latn-AZ" altLang="ru-RU" sz="2400" b="0" i="0" u="none" strike="noStrike" cap="none" normalizeH="0" baseline="0" dirty="0" smtClean="0">
                <a:ln>
                  <a:noFill/>
                </a:ln>
                <a:solidFill>
                  <a:schemeClr val="tx1"/>
                </a:solidFill>
                <a:effectLst/>
                <a:latin typeface="Arial" panose="020B0604020202020204" pitchFamily="34" charset="0"/>
              </a:rPr>
              <a:t>.</a:t>
            </a:r>
          </a:p>
        </p:txBody>
      </p:sp>
      <p:sp>
        <p:nvSpPr>
          <p:cNvPr id="4" name="TextBox 3"/>
          <p:cNvSpPr txBox="1"/>
          <p:nvPr/>
        </p:nvSpPr>
        <p:spPr>
          <a:xfrm>
            <a:off x="0" y="3566039"/>
            <a:ext cx="10029372" cy="923330"/>
          </a:xfrm>
          <a:prstGeom prst="rect">
            <a:avLst/>
          </a:prstGeom>
          <a:noFill/>
        </p:spPr>
        <p:txBody>
          <a:bodyPr wrap="square" rtlCol="0">
            <a:spAutoFit/>
          </a:bodyPr>
          <a:lstStyle/>
          <a:p>
            <a:r>
              <a:rPr lang="az-Latn-AZ" sz="5400" b="1" dirty="0" smtClean="0">
                <a:solidFill>
                  <a:schemeClr val="bg1"/>
                </a:solidFill>
              </a:rPr>
              <a:t>Counting Sort-un çatışmazlıqları:</a:t>
            </a:r>
            <a:endParaRPr lang="ru-RU" sz="5400" b="1" dirty="0">
              <a:solidFill>
                <a:schemeClr val="bg1"/>
              </a:solidFill>
            </a:endParaRPr>
          </a:p>
        </p:txBody>
      </p:sp>
      <p:sp>
        <p:nvSpPr>
          <p:cNvPr id="5" name="Rectangle 2"/>
          <p:cNvSpPr>
            <a:spLocks noChangeArrowheads="1"/>
          </p:cNvSpPr>
          <p:nvPr/>
        </p:nvSpPr>
        <p:spPr bwMode="auto">
          <a:xfrm>
            <a:off x="36648" y="4632800"/>
            <a:ext cx="995607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i="0" u="none" strike="noStrike" cap="none" normalizeH="0" baseline="0" dirty="0" smtClean="0">
                <a:ln>
                  <a:noFill/>
                </a:ln>
                <a:solidFill>
                  <a:schemeClr val="bg1"/>
                </a:solidFill>
                <a:effectLst/>
                <a:latin typeface="Arial" panose="020B0604020202020204" pitchFamily="34" charset="0"/>
              </a:rPr>
              <a:t>Diapazonun genişliyi: Counting Sort, yalnız kiçik diapazonlu verilənlər ilə yaxşı işləyir. Əgər verilənlər çox geniş diapazona malikdirsə, bu, yaddaş və vaxtın israfına səbəb ola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i="0" u="none" strike="noStrike" cap="none" normalizeH="0" baseline="0" dirty="0" smtClean="0">
                <a:ln>
                  <a:noFill/>
                </a:ln>
                <a:solidFill>
                  <a:schemeClr val="bg1"/>
                </a:solidFill>
                <a:effectLst/>
                <a:latin typeface="Arial" panose="020B0604020202020204" pitchFamily="34" charset="0"/>
              </a:rPr>
              <a:t>Yaddaş istifadə: Yaddaş istifadəsi, verilənlərin diapazonu ilə əlaqəlidir. Diapazon çox geniş olduqda, əlavə yaddaş tələbi çox yüksək olur və bu, alqoritmanın effektivliyini azaldır.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i="0" u="none" strike="noStrike" cap="none" normalizeH="0" baseline="0" dirty="0" smtClean="0">
                <a:ln>
                  <a:noFill/>
                </a:ln>
                <a:solidFill>
                  <a:schemeClr val="bg1"/>
                </a:solidFill>
                <a:effectLst/>
                <a:latin typeface="Arial" panose="020B0604020202020204" pitchFamily="34" charset="0"/>
              </a:rPr>
              <a:t>Təkrarlanan verilənlər: Counting Sort, yalnız tam ədədlərlə işləməyə uyğundur. Dezimal və ya başqa növ verilənlərlə işləmək üçün əlavə modifikasiyalar tələb olunur.</a:t>
            </a:r>
          </a:p>
        </p:txBody>
      </p:sp>
    </p:spTree>
    <p:extLst>
      <p:ext uri="{BB962C8B-B14F-4D97-AF65-F5344CB8AC3E}">
        <p14:creationId xmlns:p14="http://schemas.microsoft.com/office/powerpoint/2010/main" val="1336399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09836" y="950315"/>
            <a:ext cx="7890620" cy="5672332"/>
          </a:xfrm>
          <a:prstGeom prst="rect">
            <a:avLst/>
          </a:prstGeom>
        </p:spPr>
      </p:pic>
      <p:sp>
        <p:nvSpPr>
          <p:cNvPr id="4" name="Rectangle 3"/>
          <p:cNvSpPr/>
          <p:nvPr/>
        </p:nvSpPr>
        <p:spPr>
          <a:xfrm>
            <a:off x="3866930" y="239876"/>
            <a:ext cx="3098948" cy="584775"/>
          </a:xfrm>
          <a:prstGeom prst="rect">
            <a:avLst/>
          </a:prstGeom>
        </p:spPr>
        <p:txBody>
          <a:bodyPr wrap="square">
            <a:spAutoFit/>
          </a:bodyPr>
          <a:lstStyle/>
          <a:p>
            <a:r>
              <a:rPr lang="az-Latn-AZ" sz="3200" b="1" dirty="0">
                <a:solidFill>
                  <a:schemeClr val="bg1"/>
                </a:solidFill>
              </a:rPr>
              <a:t>KOD NUMUNƏSİ</a:t>
            </a:r>
            <a:endParaRPr lang="ru-RU" sz="3200" dirty="0"/>
          </a:p>
        </p:txBody>
      </p:sp>
    </p:spTree>
    <p:extLst>
      <p:ext uri="{BB962C8B-B14F-4D97-AF65-F5344CB8AC3E}">
        <p14:creationId xmlns:p14="http://schemas.microsoft.com/office/powerpoint/2010/main" val="3915767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4496"/>
            <a:ext cx="4357914" cy="1325563"/>
          </a:xfrm>
        </p:spPr>
        <p:txBody>
          <a:bodyPr>
            <a:normAutofit/>
          </a:bodyPr>
          <a:lstStyle/>
          <a:p>
            <a:r>
              <a:rPr lang="az-Latn-AZ" sz="5400" b="1" dirty="0" smtClean="0">
                <a:solidFill>
                  <a:schemeClr val="bg1"/>
                </a:solidFill>
                <a:latin typeface="+mn-lt"/>
              </a:rPr>
              <a:t>LİNEAR SİEVE</a:t>
            </a:r>
            <a:endParaRPr lang="ru-RU" sz="5400" b="1" dirty="0">
              <a:solidFill>
                <a:schemeClr val="bg1"/>
              </a:solidFill>
              <a:latin typeface="+mn-lt"/>
            </a:endParaRPr>
          </a:p>
        </p:txBody>
      </p:sp>
      <p:sp>
        <p:nvSpPr>
          <p:cNvPr id="3" name="Rectangle 2"/>
          <p:cNvSpPr/>
          <p:nvPr/>
        </p:nvSpPr>
        <p:spPr>
          <a:xfrm>
            <a:off x="188686" y="1560059"/>
            <a:ext cx="5617028" cy="3785652"/>
          </a:xfrm>
          <a:prstGeom prst="rect">
            <a:avLst/>
          </a:prstGeom>
        </p:spPr>
        <p:txBody>
          <a:bodyPr wrap="square">
            <a:spAutoFit/>
          </a:bodyPr>
          <a:lstStyle/>
          <a:p>
            <a:r>
              <a:rPr lang="az-Latn-AZ" sz="2400" b="1" dirty="0" smtClean="0">
                <a:solidFill>
                  <a:schemeClr val="bg1"/>
                </a:solidFill>
              </a:rPr>
              <a:t>Linear Sieve (Xətti Süzgəc), təbii ədədlərin asal olub-olmamasını tapmaq üçün istifadə olunan çox sürətli və effektiv bir alqoritmadır. Bu alqoritma, Eratosthenes'in Süzgəcindən daha sürətlidir və daha yaxşı zaman mürəkkəbliyinə malikdir. Linear Sieve, asal ədədlərin siyahısını hesablamaq üçün istifadə olunan yeni və inkişaf etmiş bir yanaşmadır.</a:t>
            </a:r>
            <a:endParaRPr lang="ru-RU" sz="2400" b="1" dirty="0">
              <a:solidFill>
                <a:schemeClr val="bg1"/>
              </a:solidFill>
            </a:endParaRPr>
          </a:p>
        </p:txBody>
      </p:sp>
      <p:pic>
        <p:nvPicPr>
          <p:cNvPr id="4" name="Picture 3"/>
          <p:cNvPicPr>
            <a:picLocks noChangeAspect="1"/>
          </p:cNvPicPr>
          <p:nvPr/>
        </p:nvPicPr>
        <p:blipFill>
          <a:blip r:embed="rId2"/>
          <a:stretch>
            <a:fillRect/>
          </a:stretch>
        </p:blipFill>
        <p:spPr>
          <a:xfrm>
            <a:off x="6450423" y="1752104"/>
            <a:ext cx="5234520" cy="2863438"/>
          </a:xfrm>
          <a:prstGeom prst="rect">
            <a:avLst/>
          </a:prstGeom>
        </p:spPr>
      </p:pic>
    </p:spTree>
    <p:extLst>
      <p:ext uri="{BB962C8B-B14F-4D97-AF65-F5344CB8AC3E}">
        <p14:creationId xmlns:p14="http://schemas.microsoft.com/office/powerpoint/2010/main" val="1590983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494486" cy="1325563"/>
          </a:xfrm>
        </p:spPr>
        <p:txBody>
          <a:bodyPr>
            <a:normAutofit/>
          </a:bodyPr>
          <a:lstStyle/>
          <a:p>
            <a:r>
              <a:rPr lang="az-Latn-AZ" sz="5400" b="1" dirty="0" smtClean="0">
                <a:solidFill>
                  <a:schemeClr val="bg1"/>
                </a:solidFill>
                <a:latin typeface="+mn-lt"/>
              </a:rPr>
              <a:t>Linear Sieve-in Üstünlükləri:</a:t>
            </a:r>
            <a:endParaRPr lang="ru-RU" sz="5400" b="1" dirty="0">
              <a:solidFill>
                <a:schemeClr val="bg1"/>
              </a:solidFill>
              <a:latin typeface="+mn-lt"/>
            </a:endParaRPr>
          </a:p>
        </p:txBody>
      </p:sp>
      <p:sp>
        <p:nvSpPr>
          <p:cNvPr id="3" name="Rectangle 1"/>
          <p:cNvSpPr>
            <a:spLocks noChangeArrowheads="1"/>
          </p:cNvSpPr>
          <p:nvPr/>
        </p:nvSpPr>
        <p:spPr bwMode="auto">
          <a:xfrm>
            <a:off x="0" y="1117122"/>
            <a:ext cx="1113245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Sürət: Linear Sieve, n-ə qədər olan asal ədədləri tapmaq üçün çox sürətli və effektivdir. Hər bir ədəd yalnız bir dəfə işləndiyi üçün zaman mürəkkəbliyi O(n) olur.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Daha Az Təkrarlama: Eratosthenes'in Süzgəcində hər bir çoxluq təkrarlanır, amma Linear Sieve-də yalnız bir dəfə işarələnir. Bu, daha yaxşı optimallaşdırma təmin edir.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Az Yaddaş İstifadəsi: Linear Sieve, çox sadə və minimal yaddaş istifadə edən bir yanaşmadır. Yalnız bir</a:t>
            </a:r>
          </a:p>
        </p:txBody>
      </p:sp>
      <p:sp>
        <p:nvSpPr>
          <p:cNvPr id="4" name="TextBox 3"/>
          <p:cNvSpPr txBox="1"/>
          <p:nvPr/>
        </p:nvSpPr>
        <p:spPr>
          <a:xfrm>
            <a:off x="0" y="3056114"/>
            <a:ext cx="9666514" cy="923330"/>
          </a:xfrm>
          <a:prstGeom prst="rect">
            <a:avLst/>
          </a:prstGeom>
          <a:noFill/>
        </p:spPr>
        <p:txBody>
          <a:bodyPr wrap="square" rtlCol="0">
            <a:spAutoFit/>
          </a:bodyPr>
          <a:lstStyle/>
          <a:p>
            <a:r>
              <a:rPr lang="az-Latn-AZ" sz="5400" b="1" dirty="0" smtClean="0">
                <a:solidFill>
                  <a:schemeClr val="bg1"/>
                </a:solidFill>
              </a:rPr>
              <a:t>Linear Sieve-in Çatışmazlıqları:</a:t>
            </a:r>
            <a:endParaRPr lang="ru-RU" sz="5400" b="1" dirty="0">
              <a:solidFill>
                <a:schemeClr val="bg1"/>
              </a:solidFill>
            </a:endParaRPr>
          </a:p>
        </p:txBody>
      </p:sp>
      <p:sp>
        <p:nvSpPr>
          <p:cNvPr id="5" name="Rectangle 2"/>
          <p:cNvSpPr>
            <a:spLocks noChangeArrowheads="1"/>
          </p:cNvSpPr>
          <p:nvPr/>
        </p:nvSpPr>
        <p:spPr bwMode="auto">
          <a:xfrm>
            <a:off x="0" y="4179498"/>
            <a:ext cx="997639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Verilənlər diapazonu: Bu alqoritma çox geniş diapazonlar üçün işləyərkən hələ də müəyyən qədər yaddaş tələb edir, lakin bu, Eratosthenes'in Süzgəcindən daha azdır.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sz="2000" b="1" i="0" u="none" strike="noStrike" cap="none" normalizeH="0" baseline="0" dirty="0" smtClean="0">
                <a:ln>
                  <a:noFill/>
                </a:ln>
                <a:solidFill>
                  <a:schemeClr val="bg1"/>
                </a:solidFill>
                <a:effectLst/>
                <a:latin typeface="Arial" panose="020B0604020202020204" pitchFamily="34" charset="0"/>
              </a:rPr>
              <a:t>Yalnız tam ədədlərlə işləyir: Linear Sieve yalnız tam ədədlərlə işləyir və ondalıklı və ya digər növ verilənlərlə işləmək üçün modifikasiya tələb edir.</a:t>
            </a:r>
          </a:p>
        </p:txBody>
      </p:sp>
    </p:spTree>
    <p:extLst>
      <p:ext uri="{BB962C8B-B14F-4D97-AF65-F5344CB8AC3E}">
        <p14:creationId xmlns:p14="http://schemas.microsoft.com/office/powerpoint/2010/main" val="4136228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04494" y="1150324"/>
            <a:ext cx="7783011" cy="5544324"/>
          </a:xfrm>
          <a:prstGeom prst="rect">
            <a:avLst/>
          </a:prstGeom>
        </p:spPr>
      </p:pic>
      <p:sp>
        <p:nvSpPr>
          <p:cNvPr id="3" name="Rectangle 2"/>
          <p:cNvSpPr/>
          <p:nvPr/>
        </p:nvSpPr>
        <p:spPr>
          <a:xfrm>
            <a:off x="4274307" y="366552"/>
            <a:ext cx="3028008" cy="584775"/>
          </a:xfrm>
          <a:prstGeom prst="rect">
            <a:avLst/>
          </a:prstGeom>
        </p:spPr>
        <p:txBody>
          <a:bodyPr wrap="none">
            <a:spAutoFit/>
          </a:bodyPr>
          <a:lstStyle/>
          <a:p>
            <a:r>
              <a:rPr lang="az-Latn-AZ" sz="3200" b="1" dirty="0">
                <a:solidFill>
                  <a:schemeClr val="bg1"/>
                </a:solidFill>
              </a:rPr>
              <a:t>KOD NUMUNƏSİ</a:t>
            </a:r>
            <a:endParaRPr lang="ru-RU" sz="3200" dirty="0"/>
          </a:p>
        </p:txBody>
      </p:sp>
    </p:spTree>
    <p:extLst>
      <p:ext uri="{BB962C8B-B14F-4D97-AF65-F5344CB8AC3E}">
        <p14:creationId xmlns:p14="http://schemas.microsoft.com/office/powerpoint/2010/main" val="4087830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474029" cy="1325563"/>
          </a:xfrm>
        </p:spPr>
        <p:txBody>
          <a:bodyPr>
            <a:normAutofit/>
          </a:bodyPr>
          <a:lstStyle/>
          <a:p>
            <a:r>
              <a:rPr lang="en-US" sz="5400" b="1" dirty="0" smtClean="0">
                <a:solidFill>
                  <a:schemeClr val="bg1"/>
                </a:solidFill>
                <a:latin typeface="+mn-lt"/>
              </a:rPr>
              <a:t>House Robber</a:t>
            </a:r>
            <a:endParaRPr lang="ru-RU" sz="5400" dirty="0">
              <a:solidFill>
                <a:schemeClr val="bg1"/>
              </a:solidFill>
              <a:latin typeface="+mn-lt"/>
            </a:endParaRPr>
          </a:p>
        </p:txBody>
      </p:sp>
      <p:sp>
        <p:nvSpPr>
          <p:cNvPr id="3" name="Rectangle 2"/>
          <p:cNvSpPr/>
          <p:nvPr/>
        </p:nvSpPr>
        <p:spPr>
          <a:xfrm>
            <a:off x="0" y="1325563"/>
            <a:ext cx="6096000" cy="3970318"/>
          </a:xfrm>
          <a:prstGeom prst="rect">
            <a:avLst/>
          </a:prstGeom>
        </p:spPr>
        <p:txBody>
          <a:bodyPr>
            <a:spAutoFit/>
          </a:bodyPr>
          <a:lstStyle/>
          <a:p>
            <a:r>
              <a:rPr lang="az-Latn-AZ" sz="2800" b="1" dirty="0" smtClean="0">
                <a:solidFill>
                  <a:schemeClr val="bg1"/>
                </a:solidFill>
              </a:rPr>
              <a:t>House Robber problemi, dinamik proqramlaşdırma sahəsində məşhur və tez-tez rast gəlinən bir problemdir. Bu problem, bir neçə evdən ibarət bir sıra veriləndən ibarətdir və məqsəd, robbinin (evdən oğurlayan şəxs) mümkün olan ən yüksək məbləği oğurlamaqdır, lakin hər iki ardıcıl evdən oğurlamağa icazə verilmir.</a:t>
            </a:r>
            <a:endParaRPr lang="ru-RU" sz="2800" b="1" dirty="0">
              <a:solidFill>
                <a:schemeClr val="bg1"/>
              </a:solidFill>
            </a:endParaRPr>
          </a:p>
        </p:txBody>
      </p:sp>
      <p:pic>
        <p:nvPicPr>
          <p:cNvPr id="4" name="Picture 3"/>
          <p:cNvPicPr>
            <a:picLocks noChangeAspect="1"/>
          </p:cNvPicPr>
          <p:nvPr/>
        </p:nvPicPr>
        <p:blipFill>
          <a:blip r:embed="rId2"/>
          <a:stretch>
            <a:fillRect/>
          </a:stretch>
        </p:blipFill>
        <p:spPr>
          <a:xfrm>
            <a:off x="5965372" y="2264230"/>
            <a:ext cx="5979886" cy="1830578"/>
          </a:xfrm>
          <a:prstGeom prst="rect">
            <a:avLst/>
          </a:prstGeom>
        </p:spPr>
      </p:pic>
    </p:spTree>
    <p:extLst>
      <p:ext uri="{BB962C8B-B14F-4D97-AF65-F5344CB8AC3E}">
        <p14:creationId xmlns:p14="http://schemas.microsoft.com/office/powerpoint/2010/main" val="2731335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15686" y="343212"/>
            <a:ext cx="4430486" cy="701731"/>
          </a:xfrm>
          <a:prstGeom prst="rect">
            <a:avLst/>
          </a:prstGeom>
        </p:spPr>
        <p:txBody>
          <a:bodyPr wrap="square">
            <a:spAutoFit/>
          </a:bodyPr>
          <a:lstStyle/>
          <a:p>
            <a:r>
              <a:rPr lang="az-Latn-AZ" b="1" dirty="0">
                <a:solidFill>
                  <a:schemeClr val="bg1"/>
                </a:solidFill>
                <a:latin typeface="+mn-lt"/>
              </a:rPr>
              <a:t>KOD NUMUNƏSİ</a:t>
            </a:r>
            <a:endParaRPr lang="ru-RU" dirty="0">
              <a:latin typeface="+mn-lt"/>
            </a:endParaRPr>
          </a:p>
        </p:txBody>
      </p:sp>
      <p:pic>
        <p:nvPicPr>
          <p:cNvPr id="4" name="Picture 3"/>
          <p:cNvPicPr>
            <a:picLocks noChangeAspect="1"/>
          </p:cNvPicPr>
          <p:nvPr/>
        </p:nvPicPr>
        <p:blipFill>
          <a:blip r:embed="rId2"/>
          <a:stretch>
            <a:fillRect/>
          </a:stretch>
        </p:blipFill>
        <p:spPr>
          <a:xfrm>
            <a:off x="4849636" y="1179353"/>
            <a:ext cx="5772956" cy="5544324"/>
          </a:xfrm>
          <a:prstGeom prst="rect">
            <a:avLst/>
          </a:prstGeom>
        </p:spPr>
      </p:pic>
    </p:spTree>
    <p:extLst>
      <p:ext uri="{BB962C8B-B14F-4D97-AF65-F5344CB8AC3E}">
        <p14:creationId xmlns:p14="http://schemas.microsoft.com/office/powerpoint/2010/main" val="4276083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3314" y="2339067"/>
            <a:ext cx="7162800" cy="1325563"/>
          </a:xfrm>
        </p:spPr>
        <p:txBody>
          <a:bodyPr>
            <a:normAutofit/>
          </a:bodyPr>
          <a:lstStyle/>
          <a:p>
            <a:r>
              <a:rPr lang="az-Latn-AZ" sz="7200" b="1" dirty="0" smtClean="0">
                <a:solidFill>
                  <a:schemeClr val="bg1"/>
                </a:solidFill>
                <a:latin typeface="+mn-lt"/>
              </a:rPr>
              <a:t>TƏŞƏKKÜRLƏR</a:t>
            </a:r>
            <a:endParaRPr lang="ru-RU" sz="7200" b="1" dirty="0">
              <a:solidFill>
                <a:schemeClr val="bg1"/>
              </a:solidFill>
              <a:latin typeface="+mn-lt"/>
            </a:endParaRPr>
          </a:p>
        </p:txBody>
      </p:sp>
    </p:spTree>
    <p:extLst>
      <p:ext uri="{BB962C8B-B14F-4D97-AF65-F5344CB8AC3E}">
        <p14:creationId xmlns:p14="http://schemas.microsoft.com/office/powerpoint/2010/main" val="4195421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972</Words>
  <Application>Microsoft Office PowerPoint</Application>
  <PresentationFormat>Widescreen</PresentationFormat>
  <Paragraphs>61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 Math</vt:lpstr>
      <vt:lpstr>Office Theme</vt:lpstr>
      <vt:lpstr>PowerPoint Presentation</vt:lpstr>
      <vt:lpstr>QUICK SORT</vt:lpstr>
      <vt:lpstr>Alqoritmanın İzahı:</vt:lpstr>
      <vt:lpstr>Quick Sort'un üstünlükləri: </vt:lpstr>
      <vt:lpstr>KOD NUMUNƏSİ</vt:lpstr>
      <vt:lpstr>MERGE SORT</vt:lpstr>
      <vt:lpstr>Merge Sort-un üstünlükləri:</vt:lpstr>
      <vt:lpstr>KOD NUMUNƏSİ</vt:lpstr>
      <vt:lpstr>COUNTİNG SORT</vt:lpstr>
      <vt:lpstr>Counting Sort-un üstünlükləri:</vt:lpstr>
      <vt:lpstr>PowerPoint Presentation</vt:lpstr>
      <vt:lpstr>LİNEAR SİEVE</vt:lpstr>
      <vt:lpstr>Linear Sieve-in Üstünlükləri:</vt:lpstr>
      <vt:lpstr>PowerPoint Presentation</vt:lpstr>
      <vt:lpstr>House Robber</vt:lpstr>
      <vt:lpstr>KOD NUMUNƏSİ</vt:lpstr>
      <vt:lpstr>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13</cp:revision>
  <dcterms:created xsi:type="dcterms:W3CDTF">2024-12-22T15:57:17Z</dcterms:created>
  <dcterms:modified xsi:type="dcterms:W3CDTF">2024-12-23T20:56:28Z</dcterms:modified>
</cp:coreProperties>
</file>