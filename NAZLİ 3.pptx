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9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B63DAC-D25F-40AE-A506-54216C9CD271}" type="doc">
      <dgm:prSet loTypeId="urn:microsoft.com/office/officeart/2005/8/layout/chevron2" loCatId="list" qsTypeId="urn:microsoft.com/office/officeart/2005/8/quickstyle/simple1" qsCatId="simple" csTypeId="urn:microsoft.com/office/officeart/2005/8/colors/accent0_3" csCatId="mainScheme" phldr="1"/>
      <dgm:spPr/>
      <dgm:t>
        <a:bodyPr/>
        <a:lstStyle/>
        <a:p>
          <a:endParaRPr lang="en-US"/>
        </a:p>
      </dgm:t>
    </dgm:pt>
    <dgm:pt modelId="{7D362BE2-EC8C-40F6-AE0D-32D4DBD07FAB}">
      <dgm:prSet phldrT="[Text]"/>
      <dgm:spPr/>
      <dgm:t>
        <a:bodyPr/>
        <a:lstStyle/>
        <a:p>
          <a:r>
            <a:rPr lang="az-Latn-AZ" b="1" smtClean="0"/>
            <a:t>FİLE</a:t>
          </a:r>
          <a:endParaRPr lang="en-US" b="1" dirty="0"/>
        </a:p>
      </dgm:t>
    </dgm:pt>
    <dgm:pt modelId="{A68A4A13-D3A8-4504-92AD-CD808BB29F1C}" type="parTrans" cxnId="{4796CC21-A071-46FB-8B9A-AA10A6695802}">
      <dgm:prSet/>
      <dgm:spPr/>
      <dgm:t>
        <a:bodyPr/>
        <a:lstStyle/>
        <a:p>
          <a:endParaRPr lang="en-US"/>
        </a:p>
      </dgm:t>
    </dgm:pt>
    <dgm:pt modelId="{519371F9-93A0-49FD-B692-D13C5A7292D7}" type="sibTrans" cxnId="{4796CC21-A071-46FB-8B9A-AA10A6695802}">
      <dgm:prSet/>
      <dgm:spPr/>
      <dgm:t>
        <a:bodyPr/>
        <a:lstStyle/>
        <a:p>
          <a:endParaRPr lang="en-US"/>
        </a:p>
      </dgm:t>
    </dgm:pt>
    <dgm:pt modelId="{763F3347-D48F-4CED-B0C0-9EDC4160520F}">
      <dgm:prSet phldrT="[Text]"/>
      <dgm:spPr/>
      <dgm:t>
        <a:bodyPr/>
        <a:lstStyle/>
        <a:p>
          <a:r>
            <a:rPr lang="az-Latn-AZ" b="1" smtClean="0"/>
            <a:t>HOME</a:t>
          </a:r>
          <a:endParaRPr lang="en-US" b="1" dirty="0"/>
        </a:p>
      </dgm:t>
    </dgm:pt>
    <dgm:pt modelId="{F6A43F7E-2059-4E1D-BD88-FE58B0037FDF}" type="parTrans" cxnId="{5AC30572-F261-4104-B6E1-E8B456C99CAA}">
      <dgm:prSet/>
      <dgm:spPr/>
      <dgm:t>
        <a:bodyPr/>
        <a:lstStyle/>
        <a:p>
          <a:endParaRPr lang="en-US"/>
        </a:p>
      </dgm:t>
    </dgm:pt>
    <dgm:pt modelId="{1BA2DA63-3DA7-454F-8B19-782EF5A426DD}" type="sibTrans" cxnId="{5AC30572-F261-4104-B6E1-E8B456C99CAA}">
      <dgm:prSet/>
      <dgm:spPr/>
      <dgm:t>
        <a:bodyPr/>
        <a:lstStyle/>
        <a:p>
          <a:endParaRPr lang="en-US"/>
        </a:p>
      </dgm:t>
    </dgm:pt>
    <dgm:pt modelId="{4508F33C-3370-471A-A324-F9EEEEE28A77}">
      <dgm:prSet phldrT="[Text]"/>
      <dgm:spPr/>
      <dgm:t>
        <a:bodyPr/>
        <a:lstStyle/>
        <a:p>
          <a:r>
            <a:rPr lang="az-Latn-AZ" b="1" smtClean="0"/>
            <a:t>İNSERT</a:t>
          </a:r>
          <a:endParaRPr lang="en-US" b="1" dirty="0"/>
        </a:p>
      </dgm:t>
    </dgm:pt>
    <dgm:pt modelId="{9C6B0D82-2FBA-47EF-9A01-3F1AC702D562}" type="parTrans" cxnId="{FAE8E905-5D8E-4AF2-B9BB-B99780A4F036}">
      <dgm:prSet/>
      <dgm:spPr/>
      <dgm:t>
        <a:bodyPr/>
        <a:lstStyle/>
        <a:p>
          <a:endParaRPr lang="en-US"/>
        </a:p>
      </dgm:t>
    </dgm:pt>
    <dgm:pt modelId="{65442506-AC42-4E93-B78C-0199CA41C970}" type="sibTrans" cxnId="{FAE8E905-5D8E-4AF2-B9BB-B99780A4F036}">
      <dgm:prSet/>
      <dgm:spPr/>
      <dgm:t>
        <a:bodyPr/>
        <a:lstStyle/>
        <a:p>
          <a:endParaRPr lang="en-US"/>
        </a:p>
      </dgm:t>
    </dgm:pt>
    <dgm:pt modelId="{8FFF6A86-F21A-4892-86CE-27F58AE5D84C}">
      <dgm:prSet custT="1"/>
      <dgm:spPr/>
      <dgm:t>
        <a:bodyPr/>
        <a:lstStyle/>
        <a:p>
          <a:r>
            <a:rPr lang="az-Latn-AZ" sz="2400" dirty="0" smtClean="0"/>
            <a:t>Sənədi</a:t>
          </a:r>
          <a:r>
            <a:rPr lang="az-Latn-AZ" sz="2400" baseline="0" dirty="0" smtClean="0"/>
            <a:t> saxlamaq parollar qoymaq çap etmək üçün istifadə olunur</a:t>
          </a:r>
          <a:endParaRPr lang="en-US" sz="2400" dirty="0"/>
        </a:p>
      </dgm:t>
    </dgm:pt>
    <dgm:pt modelId="{16A77331-9500-430A-BEF5-DBF03410B498}" type="parTrans" cxnId="{984DFBD0-5FCD-4EE7-87D6-93E7BBE70660}">
      <dgm:prSet/>
      <dgm:spPr/>
      <dgm:t>
        <a:bodyPr/>
        <a:lstStyle/>
        <a:p>
          <a:endParaRPr lang="en-US"/>
        </a:p>
      </dgm:t>
    </dgm:pt>
    <dgm:pt modelId="{32B55FFA-F488-4418-A6D1-0BB9AD7F71D7}" type="sibTrans" cxnId="{984DFBD0-5FCD-4EE7-87D6-93E7BBE70660}">
      <dgm:prSet/>
      <dgm:spPr/>
      <dgm:t>
        <a:bodyPr/>
        <a:lstStyle/>
        <a:p>
          <a:endParaRPr lang="en-US"/>
        </a:p>
      </dgm:t>
    </dgm:pt>
    <dgm:pt modelId="{625DCC96-4E83-4BF6-95F1-C135EE1B4446}">
      <dgm:prSet custT="1"/>
      <dgm:spPr/>
      <dgm:t>
        <a:bodyPr/>
        <a:lstStyle/>
        <a:p>
          <a:r>
            <a:rPr lang="az-Latn-AZ" sz="2400" dirty="0" smtClean="0"/>
            <a:t>İnformasiyanın toplanılması ötürülməsi saxlanması üçün istifadə olunur</a:t>
          </a:r>
          <a:endParaRPr lang="en-US" sz="2400" dirty="0"/>
        </a:p>
      </dgm:t>
    </dgm:pt>
    <dgm:pt modelId="{CB0BCDFE-F257-4C53-9674-4A98FD72114F}" type="parTrans" cxnId="{2BCBFA68-EEB2-40C9-B4B9-9C9286968D40}">
      <dgm:prSet/>
      <dgm:spPr/>
      <dgm:t>
        <a:bodyPr/>
        <a:lstStyle/>
        <a:p>
          <a:endParaRPr lang="en-US"/>
        </a:p>
      </dgm:t>
    </dgm:pt>
    <dgm:pt modelId="{106CE418-89C2-4C24-AA10-F4B2B1CC5A09}" type="sibTrans" cxnId="{2BCBFA68-EEB2-40C9-B4B9-9C9286968D40}">
      <dgm:prSet/>
      <dgm:spPr/>
      <dgm:t>
        <a:bodyPr/>
        <a:lstStyle/>
        <a:p>
          <a:endParaRPr lang="en-US"/>
        </a:p>
      </dgm:t>
    </dgm:pt>
    <dgm:pt modelId="{24BB68CD-A615-4B7A-801E-0D4C5EA8B57A}">
      <dgm:prSet custT="1"/>
      <dgm:spPr/>
      <dgm:t>
        <a:bodyPr/>
        <a:lstStyle/>
        <a:p>
          <a:r>
            <a:rPr lang="az-Latn-AZ" sz="2400" dirty="0" smtClean="0"/>
            <a:t>Hər hansı məlumatı əlavə etmək üçün istifadə olunur</a:t>
          </a:r>
          <a:endParaRPr lang="en-US" sz="2400" dirty="0"/>
        </a:p>
      </dgm:t>
    </dgm:pt>
    <dgm:pt modelId="{0C96AAA6-E276-476D-BE87-EA3DDD311B4D}" type="parTrans" cxnId="{27FBE4E7-89D9-4CF9-AE9D-9C44C77DD7C9}">
      <dgm:prSet/>
      <dgm:spPr/>
      <dgm:t>
        <a:bodyPr/>
        <a:lstStyle/>
        <a:p>
          <a:endParaRPr lang="en-US"/>
        </a:p>
      </dgm:t>
    </dgm:pt>
    <dgm:pt modelId="{90F36877-DAC7-4A2D-9A13-BBA2994A3C70}" type="sibTrans" cxnId="{27FBE4E7-89D9-4CF9-AE9D-9C44C77DD7C9}">
      <dgm:prSet/>
      <dgm:spPr/>
      <dgm:t>
        <a:bodyPr/>
        <a:lstStyle/>
        <a:p>
          <a:endParaRPr lang="en-US"/>
        </a:p>
      </dgm:t>
    </dgm:pt>
    <dgm:pt modelId="{74A1C231-207B-429F-9AA8-9DE2AD00A438}" type="pres">
      <dgm:prSet presAssocID="{7CB63DAC-D25F-40AE-A506-54216C9CD271}" presName="linearFlow" presStyleCnt="0">
        <dgm:presLayoutVars>
          <dgm:dir/>
          <dgm:animLvl val="lvl"/>
          <dgm:resizeHandles val="exact"/>
        </dgm:presLayoutVars>
      </dgm:prSet>
      <dgm:spPr/>
    </dgm:pt>
    <dgm:pt modelId="{A46C65E8-07F6-4EE9-B16F-447F55F8D709}" type="pres">
      <dgm:prSet presAssocID="{7D362BE2-EC8C-40F6-AE0D-32D4DBD07FAB}" presName="composite" presStyleCnt="0"/>
      <dgm:spPr/>
    </dgm:pt>
    <dgm:pt modelId="{36CBACE7-A765-4D44-AF9C-9226B29B1D99}" type="pres">
      <dgm:prSet presAssocID="{7D362BE2-EC8C-40F6-AE0D-32D4DBD07FAB}" presName="parentText" presStyleLbl="alignNode1" presStyleIdx="0" presStyleCnt="3" custLinFactNeighborX="1074" custLinFactNeighborY="1503">
        <dgm:presLayoutVars>
          <dgm:chMax val="1"/>
          <dgm:bulletEnabled val="1"/>
        </dgm:presLayoutVars>
      </dgm:prSet>
      <dgm:spPr/>
    </dgm:pt>
    <dgm:pt modelId="{E8DE820D-2047-4AEE-9C9E-6B99B79D5605}" type="pres">
      <dgm:prSet presAssocID="{7D362BE2-EC8C-40F6-AE0D-32D4DBD07FAB}" presName="descendantText" presStyleLbl="alignAcc1" presStyleIdx="0" presStyleCnt="3" custLinFactNeighborX="428">
        <dgm:presLayoutVars>
          <dgm:bulletEnabled val="1"/>
        </dgm:presLayoutVars>
      </dgm:prSet>
      <dgm:spPr/>
      <dgm:t>
        <a:bodyPr/>
        <a:lstStyle/>
        <a:p>
          <a:endParaRPr lang="en-US"/>
        </a:p>
      </dgm:t>
    </dgm:pt>
    <dgm:pt modelId="{516C21F3-B145-4251-9ADD-EDCDAE4A1E0C}" type="pres">
      <dgm:prSet presAssocID="{519371F9-93A0-49FD-B692-D13C5A7292D7}" presName="sp" presStyleCnt="0"/>
      <dgm:spPr/>
    </dgm:pt>
    <dgm:pt modelId="{270D15EA-B32D-4185-915E-0BE4FD7E013D}" type="pres">
      <dgm:prSet presAssocID="{763F3347-D48F-4CED-B0C0-9EDC4160520F}" presName="composite" presStyleCnt="0"/>
      <dgm:spPr/>
    </dgm:pt>
    <dgm:pt modelId="{F70EEC8F-B2C9-418F-9D7F-187D1B571567}" type="pres">
      <dgm:prSet presAssocID="{763F3347-D48F-4CED-B0C0-9EDC4160520F}" presName="parentText" presStyleLbl="alignNode1" presStyleIdx="1" presStyleCnt="3">
        <dgm:presLayoutVars>
          <dgm:chMax val="1"/>
          <dgm:bulletEnabled val="1"/>
        </dgm:presLayoutVars>
      </dgm:prSet>
      <dgm:spPr/>
      <dgm:t>
        <a:bodyPr/>
        <a:lstStyle/>
        <a:p>
          <a:endParaRPr lang="en-US"/>
        </a:p>
      </dgm:t>
    </dgm:pt>
    <dgm:pt modelId="{5E3B028D-8E00-479F-A4A7-510C5FAC74A7}" type="pres">
      <dgm:prSet presAssocID="{763F3347-D48F-4CED-B0C0-9EDC4160520F}" presName="descendantText" presStyleLbl="alignAcc1" presStyleIdx="1" presStyleCnt="3">
        <dgm:presLayoutVars>
          <dgm:bulletEnabled val="1"/>
        </dgm:presLayoutVars>
      </dgm:prSet>
      <dgm:spPr/>
      <dgm:t>
        <a:bodyPr/>
        <a:lstStyle/>
        <a:p>
          <a:endParaRPr lang="en-US"/>
        </a:p>
      </dgm:t>
    </dgm:pt>
    <dgm:pt modelId="{B5DCAFB5-30A7-43B9-B010-6BD7BF3215A8}" type="pres">
      <dgm:prSet presAssocID="{1BA2DA63-3DA7-454F-8B19-782EF5A426DD}" presName="sp" presStyleCnt="0"/>
      <dgm:spPr/>
    </dgm:pt>
    <dgm:pt modelId="{946C8E50-1E4E-478C-BC7E-CAE1E7596323}" type="pres">
      <dgm:prSet presAssocID="{4508F33C-3370-471A-A324-F9EEEEE28A77}" presName="composite" presStyleCnt="0"/>
      <dgm:spPr/>
    </dgm:pt>
    <dgm:pt modelId="{1C7C976D-99D7-4156-BB5C-1E016B557988}" type="pres">
      <dgm:prSet presAssocID="{4508F33C-3370-471A-A324-F9EEEEE28A77}" presName="parentText" presStyleLbl="alignNode1" presStyleIdx="2" presStyleCnt="3">
        <dgm:presLayoutVars>
          <dgm:chMax val="1"/>
          <dgm:bulletEnabled val="1"/>
        </dgm:presLayoutVars>
      </dgm:prSet>
      <dgm:spPr/>
    </dgm:pt>
    <dgm:pt modelId="{9E940276-A87C-4804-9590-591A86966C64}" type="pres">
      <dgm:prSet presAssocID="{4508F33C-3370-471A-A324-F9EEEEE28A77}" presName="descendantText" presStyleLbl="alignAcc1" presStyleIdx="2" presStyleCnt="3" custLinFactNeighborX="1253" custLinFactNeighborY="13873">
        <dgm:presLayoutVars>
          <dgm:bulletEnabled val="1"/>
        </dgm:presLayoutVars>
      </dgm:prSet>
      <dgm:spPr/>
      <dgm:t>
        <a:bodyPr/>
        <a:lstStyle/>
        <a:p>
          <a:endParaRPr lang="en-US"/>
        </a:p>
      </dgm:t>
    </dgm:pt>
  </dgm:ptLst>
  <dgm:cxnLst>
    <dgm:cxn modelId="{AB9A7B8A-52B8-47F3-92A6-B2702A9696EC}" type="presOf" srcId="{24BB68CD-A615-4B7A-801E-0D4C5EA8B57A}" destId="{9E940276-A87C-4804-9590-591A86966C64}" srcOrd="0" destOrd="0" presId="urn:microsoft.com/office/officeart/2005/8/layout/chevron2"/>
    <dgm:cxn modelId="{4796CC21-A071-46FB-8B9A-AA10A6695802}" srcId="{7CB63DAC-D25F-40AE-A506-54216C9CD271}" destId="{7D362BE2-EC8C-40F6-AE0D-32D4DBD07FAB}" srcOrd="0" destOrd="0" parTransId="{A68A4A13-D3A8-4504-92AD-CD808BB29F1C}" sibTransId="{519371F9-93A0-49FD-B692-D13C5A7292D7}"/>
    <dgm:cxn modelId="{984DFBD0-5FCD-4EE7-87D6-93E7BBE70660}" srcId="{7D362BE2-EC8C-40F6-AE0D-32D4DBD07FAB}" destId="{8FFF6A86-F21A-4892-86CE-27F58AE5D84C}" srcOrd="0" destOrd="0" parTransId="{16A77331-9500-430A-BEF5-DBF03410B498}" sibTransId="{32B55FFA-F488-4418-A6D1-0BB9AD7F71D7}"/>
    <dgm:cxn modelId="{9513A7D9-10E4-47A4-8F9E-62BDCC8B8AA2}" type="presOf" srcId="{8FFF6A86-F21A-4892-86CE-27F58AE5D84C}" destId="{E8DE820D-2047-4AEE-9C9E-6B99B79D5605}" srcOrd="0" destOrd="0" presId="urn:microsoft.com/office/officeart/2005/8/layout/chevron2"/>
    <dgm:cxn modelId="{ADA4E5A8-E4E6-446C-8C95-E5A7886B1D3E}" type="presOf" srcId="{4508F33C-3370-471A-A324-F9EEEEE28A77}" destId="{1C7C976D-99D7-4156-BB5C-1E016B557988}" srcOrd="0" destOrd="0" presId="urn:microsoft.com/office/officeart/2005/8/layout/chevron2"/>
    <dgm:cxn modelId="{FAE8E905-5D8E-4AF2-B9BB-B99780A4F036}" srcId="{7CB63DAC-D25F-40AE-A506-54216C9CD271}" destId="{4508F33C-3370-471A-A324-F9EEEEE28A77}" srcOrd="2" destOrd="0" parTransId="{9C6B0D82-2FBA-47EF-9A01-3F1AC702D562}" sibTransId="{65442506-AC42-4E93-B78C-0199CA41C970}"/>
    <dgm:cxn modelId="{3BE27456-DC60-4CFC-8427-C45A7C01F4CE}" type="presOf" srcId="{625DCC96-4E83-4BF6-95F1-C135EE1B4446}" destId="{5E3B028D-8E00-479F-A4A7-510C5FAC74A7}" srcOrd="0" destOrd="0" presId="urn:microsoft.com/office/officeart/2005/8/layout/chevron2"/>
    <dgm:cxn modelId="{2BCBFA68-EEB2-40C9-B4B9-9C9286968D40}" srcId="{763F3347-D48F-4CED-B0C0-9EDC4160520F}" destId="{625DCC96-4E83-4BF6-95F1-C135EE1B4446}" srcOrd="0" destOrd="0" parTransId="{CB0BCDFE-F257-4C53-9674-4A98FD72114F}" sibTransId="{106CE418-89C2-4C24-AA10-F4B2B1CC5A09}"/>
    <dgm:cxn modelId="{351E3F78-5FBF-4E14-99C6-C393F54E9EE5}" type="presOf" srcId="{7D362BE2-EC8C-40F6-AE0D-32D4DBD07FAB}" destId="{36CBACE7-A765-4D44-AF9C-9226B29B1D99}" srcOrd="0" destOrd="0" presId="urn:microsoft.com/office/officeart/2005/8/layout/chevron2"/>
    <dgm:cxn modelId="{5AC30572-F261-4104-B6E1-E8B456C99CAA}" srcId="{7CB63DAC-D25F-40AE-A506-54216C9CD271}" destId="{763F3347-D48F-4CED-B0C0-9EDC4160520F}" srcOrd="1" destOrd="0" parTransId="{F6A43F7E-2059-4E1D-BD88-FE58B0037FDF}" sibTransId="{1BA2DA63-3DA7-454F-8B19-782EF5A426DD}"/>
    <dgm:cxn modelId="{B8490311-7DB2-4018-83F1-716FF218A989}" type="presOf" srcId="{7CB63DAC-D25F-40AE-A506-54216C9CD271}" destId="{74A1C231-207B-429F-9AA8-9DE2AD00A438}" srcOrd="0" destOrd="0" presId="urn:microsoft.com/office/officeart/2005/8/layout/chevron2"/>
    <dgm:cxn modelId="{9CC418CD-22B7-451D-AFDD-B747DF3D5B2D}" type="presOf" srcId="{763F3347-D48F-4CED-B0C0-9EDC4160520F}" destId="{F70EEC8F-B2C9-418F-9D7F-187D1B571567}" srcOrd="0" destOrd="0" presId="urn:microsoft.com/office/officeart/2005/8/layout/chevron2"/>
    <dgm:cxn modelId="{27FBE4E7-89D9-4CF9-AE9D-9C44C77DD7C9}" srcId="{4508F33C-3370-471A-A324-F9EEEEE28A77}" destId="{24BB68CD-A615-4B7A-801E-0D4C5EA8B57A}" srcOrd="0" destOrd="0" parTransId="{0C96AAA6-E276-476D-BE87-EA3DDD311B4D}" sibTransId="{90F36877-DAC7-4A2D-9A13-BBA2994A3C70}"/>
    <dgm:cxn modelId="{624673B5-8F19-4BC6-9072-9F5F0AD6C1E2}" type="presParOf" srcId="{74A1C231-207B-429F-9AA8-9DE2AD00A438}" destId="{A46C65E8-07F6-4EE9-B16F-447F55F8D709}" srcOrd="0" destOrd="0" presId="urn:microsoft.com/office/officeart/2005/8/layout/chevron2"/>
    <dgm:cxn modelId="{D2A17DA5-FAB5-49B0-9512-FD99C66496BD}" type="presParOf" srcId="{A46C65E8-07F6-4EE9-B16F-447F55F8D709}" destId="{36CBACE7-A765-4D44-AF9C-9226B29B1D99}" srcOrd="0" destOrd="0" presId="urn:microsoft.com/office/officeart/2005/8/layout/chevron2"/>
    <dgm:cxn modelId="{9FF6E933-022C-43B1-AAAA-5E19192EB81F}" type="presParOf" srcId="{A46C65E8-07F6-4EE9-B16F-447F55F8D709}" destId="{E8DE820D-2047-4AEE-9C9E-6B99B79D5605}" srcOrd="1" destOrd="0" presId="urn:microsoft.com/office/officeart/2005/8/layout/chevron2"/>
    <dgm:cxn modelId="{6A1FB6D2-4ED1-45C6-9B28-D5E3F4CD1C64}" type="presParOf" srcId="{74A1C231-207B-429F-9AA8-9DE2AD00A438}" destId="{516C21F3-B145-4251-9ADD-EDCDAE4A1E0C}" srcOrd="1" destOrd="0" presId="urn:microsoft.com/office/officeart/2005/8/layout/chevron2"/>
    <dgm:cxn modelId="{584E38F8-34AF-439D-8ECB-E69610170E61}" type="presParOf" srcId="{74A1C231-207B-429F-9AA8-9DE2AD00A438}" destId="{270D15EA-B32D-4185-915E-0BE4FD7E013D}" srcOrd="2" destOrd="0" presId="urn:microsoft.com/office/officeart/2005/8/layout/chevron2"/>
    <dgm:cxn modelId="{A3B4D3F6-AEC9-4E10-943B-58C12EDA6147}" type="presParOf" srcId="{270D15EA-B32D-4185-915E-0BE4FD7E013D}" destId="{F70EEC8F-B2C9-418F-9D7F-187D1B571567}" srcOrd="0" destOrd="0" presId="urn:microsoft.com/office/officeart/2005/8/layout/chevron2"/>
    <dgm:cxn modelId="{02407F96-C019-428E-B7AA-601D9117F206}" type="presParOf" srcId="{270D15EA-B32D-4185-915E-0BE4FD7E013D}" destId="{5E3B028D-8E00-479F-A4A7-510C5FAC74A7}" srcOrd="1" destOrd="0" presId="urn:microsoft.com/office/officeart/2005/8/layout/chevron2"/>
    <dgm:cxn modelId="{211177EB-1F3A-4B70-B0C6-97A94ED915A3}" type="presParOf" srcId="{74A1C231-207B-429F-9AA8-9DE2AD00A438}" destId="{B5DCAFB5-30A7-43B9-B010-6BD7BF3215A8}" srcOrd="3" destOrd="0" presId="urn:microsoft.com/office/officeart/2005/8/layout/chevron2"/>
    <dgm:cxn modelId="{2743DBE9-877F-4BA0-A333-A34DE7CCB6A1}" type="presParOf" srcId="{74A1C231-207B-429F-9AA8-9DE2AD00A438}" destId="{946C8E50-1E4E-478C-BC7E-CAE1E7596323}" srcOrd="4" destOrd="0" presId="urn:microsoft.com/office/officeart/2005/8/layout/chevron2"/>
    <dgm:cxn modelId="{489F51CD-E880-40CB-873B-ACE5C1888A64}" type="presParOf" srcId="{946C8E50-1E4E-478C-BC7E-CAE1E7596323}" destId="{1C7C976D-99D7-4156-BB5C-1E016B557988}" srcOrd="0" destOrd="0" presId="urn:microsoft.com/office/officeart/2005/8/layout/chevron2"/>
    <dgm:cxn modelId="{D10AA165-429B-4F2A-83CC-5BDD06D22FF8}" type="presParOf" srcId="{946C8E50-1E4E-478C-BC7E-CAE1E7596323}" destId="{9E940276-A87C-4804-9590-591A86966C6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CBACE7-A765-4D44-AF9C-9226B29B1D99}">
      <dsp:nvSpPr>
        <dsp:cNvPr id="0" name=""/>
        <dsp:cNvSpPr/>
      </dsp:nvSpPr>
      <dsp:spPr>
        <a:xfrm rot="5400000">
          <a:off x="-275198" y="321835"/>
          <a:ext cx="1931458" cy="1352020"/>
        </a:xfrm>
        <a:prstGeom prst="chevron">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az-Latn-AZ" sz="3500" b="1" kern="1200" smtClean="0"/>
            <a:t>FİLE</a:t>
          </a:r>
          <a:endParaRPr lang="en-US" sz="3500" b="1" kern="1200" dirty="0"/>
        </a:p>
      </dsp:txBody>
      <dsp:txXfrm rot="-5400000">
        <a:off x="14521" y="708126"/>
        <a:ext cx="1352020" cy="579438"/>
      </dsp:txXfrm>
    </dsp:sp>
    <dsp:sp modelId="{E8DE820D-2047-4AEE-9C9E-6B99B79D5605}">
      <dsp:nvSpPr>
        <dsp:cNvPr id="0" name=""/>
        <dsp:cNvSpPr/>
      </dsp:nvSpPr>
      <dsp:spPr>
        <a:xfrm rot="5400000">
          <a:off x="4112286" y="-2757179"/>
          <a:ext cx="1255447" cy="6775979"/>
        </a:xfrm>
        <a:prstGeom prst="round2Same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az-Latn-AZ" sz="2400" kern="1200" dirty="0" smtClean="0"/>
            <a:t>Sənədi</a:t>
          </a:r>
          <a:r>
            <a:rPr lang="az-Latn-AZ" sz="2400" kern="1200" baseline="0" dirty="0" smtClean="0"/>
            <a:t> saxlamaq parollar qoymaq çap etmək üçün istifadə olunur</a:t>
          </a:r>
          <a:endParaRPr lang="en-US" sz="2400" kern="1200" dirty="0"/>
        </a:p>
      </dsp:txBody>
      <dsp:txXfrm rot="-5400000">
        <a:off x="1352020" y="64373"/>
        <a:ext cx="6714693" cy="1132875"/>
      </dsp:txXfrm>
    </dsp:sp>
    <dsp:sp modelId="{F70EEC8F-B2C9-418F-9D7F-187D1B571567}">
      <dsp:nvSpPr>
        <dsp:cNvPr id="0" name=""/>
        <dsp:cNvSpPr/>
      </dsp:nvSpPr>
      <dsp:spPr>
        <a:xfrm rot="5400000">
          <a:off x="-289718" y="2033323"/>
          <a:ext cx="1931458" cy="1352020"/>
        </a:xfrm>
        <a:prstGeom prst="chevron">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az-Latn-AZ" sz="3500" b="1" kern="1200" smtClean="0"/>
            <a:t>HOME</a:t>
          </a:r>
          <a:endParaRPr lang="en-US" sz="3500" b="1" kern="1200" dirty="0"/>
        </a:p>
      </dsp:txBody>
      <dsp:txXfrm rot="-5400000">
        <a:off x="1" y="2419614"/>
        <a:ext cx="1352020" cy="579438"/>
      </dsp:txXfrm>
    </dsp:sp>
    <dsp:sp modelId="{5E3B028D-8E00-479F-A4A7-510C5FAC74A7}">
      <dsp:nvSpPr>
        <dsp:cNvPr id="0" name=""/>
        <dsp:cNvSpPr/>
      </dsp:nvSpPr>
      <dsp:spPr>
        <a:xfrm rot="5400000">
          <a:off x="4112286" y="-1016661"/>
          <a:ext cx="1255447" cy="6775979"/>
        </a:xfrm>
        <a:prstGeom prst="round2Same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az-Latn-AZ" sz="2400" kern="1200" dirty="0" smtClean="0"/>
            <a:t>İnformasiyanın toplanılması ötürülməsi saxlanması üçün istifadə olunur</a:t>
          </a:r>
          <a:endParaRPr lang="en-US" sz="2400" kern="1200" dirty="0"/>
        </a:p>
      </dsp:txBody>
      <dsp:txXfrm rot="-5400000">
        <a:off x="1352020" y="1804891"/>
        <a:ext cx="6714693" cy="1132875"/>
      </dsp:txXfrm>
    </dsp:sp>
    <dsp:sp modelId="{1C7C976D-99D7-4156-BB5C-1E016B557988}">
      <dsp:nvSpPr>
        <dsp:cNvPr id="0" name=""/>
        <dsp:cNvSpPr/>
      </dsp:nvSpPr>
      <dsp:spPr>
        <a:xfrm rot="5400000">
          <a:off x="-289718" y="3773840"/>
          <a:ext cx="1931458" cy="1352020"/>
        </a:xfrm>
        <a:prstGeom prst="chevron">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az-Latn-AZ" sz="3500" b="1" kern="1200" smtClean="0"/>
            <a:t>İNSERT</a:t>
          </a:r>
          <a:endParaRPr lang="en-US" sz="3500" b="1" kern="1200" dirty="0"/>
        </a:p>
      </dsp:txBody>
      <dsp:txXfrm rot="-5400000">
        <a:off x="1" y="4160131"/>
        <a:ext cx="1352020" cy="579438"/>
      </dsp:txXfrm>
    </dsp:sp>
    <dsp:sp modelId="{9E940276-A87C-4804-9590-591A86966C64}">
      <dsp:nvSpPr>
        <dsp:cNvPr id="0" name=""/>
        <dsp:cNvSpPr/>
      </dsp:nvSpPr>
      <dsp:spPr>
        <a:xfrm rot="5400000">
          <a:off x="4112286" y="898024"/>
          <a:ext cx="1255447" cy="6775979"/>
        </a:xfrm>
        <a:prstGeom prst="round2Same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az-Latn-AZ" sz="2400" kern="1200" dirty="0" smtClean="0"/>
            <a:t>Hər hansı məlumatı əlavə etmək üçün istifadə olunur</a:t>
          </a:r>
          <a:endParaRPr lang="en-US" sz="2400" kern="1200" dirty="0"/>
        </a:p>
      </dsp:txBody>
      <dsp:txXfrm rot="-5400000">
        <a:off x="1352020" y="3719576"/>
        <a:ext cx="6714693" cy="113287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ru-RU"/>
          </a:p>
        </p:txBody>
      </p:sp>
      <p:sp>
        <p:nvSpPr>
          <p:cNvPr id="4" name="Date Placeholder 3"/>
          <p:cNvSpPr>
            <a:spLocks noGrp="1"/>
          </p:cNvSpPr>
          <p:nvPr>
            <p:ph type="dt" sz="half" idx="10"/>
          </p:nvPr>
        </p:nvSpPr>
        <p:spPr/>
        <p:txBody>
          <a:bodyPr/>
          <a:lstStyle/>
          <a:p>
            <a:fld id="{2DB83934-0D2B-4DEF-BB96-17BDF7B2D4F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1680097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2DB83934-0D2B-4DEF-BB96-17BDF7B2D4F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171445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DB83934-0D2B-4DEF-BB96-17BDF7B2D4F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1415151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Date Placeholder 4"/>
          <p:cNvSpPr>
            <a:spLocks noGrp="1"/>
          </p:cNvSpPr>
          <p:nvPr>
            <p:ph type="dt" sz="half" idx="10"/>
          </p:nvPr>
        </p:nvSpPr>
        <p:spPr/>
        <p:txBody>
          <a:bodyPr/>
          <a:lstStyle/>
          <a:p>
            <a:fld id="{2DB83934-0D2B-4DEF-BB96-17BDF7B2D4F5}" type="datetimeFigureOut">
              <a:rPr lang="ru-RU" smtClean="0"/>
              <a:t>05.11.2024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1471922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Date Placeholder 6"/>
          <p:cNvSpPr>
            <a:spLocks noGrp="1"/>
          </p:cNvSpPr>
          <p:nvPr>
            <p:ph type="dt" sz="half" idx="10"/>
          </p:nvPr>
        </p:nvSpPr>
        <p:spPr/>
        <p:txBody>
          <a:bodyPr/>
          <a:lstStyle/>
          <a:p>
            <a:fld id="{2DB83934-0D2B-4DEF-BB96-17BDF7B2D4F5}" type="datetimeFigureOut">
              <a:rPr lang="ru-RU" smtClean="0"/>
              <a:t>05.11.2024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1992818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Date Placeholder 2"/>
          <p:cNvSpPr>
            <a:spLocks noGrp="1"/>
          </p:cNvSpPr>
          <p:nvPr>
            <p:ph type="dt" sz="half" idx="10"/>
          </p:nvPr>
        </p:nvSpPr>
        <p:spPr/>
        <p:txBody>
          <a:bodyPr/>
          <a:lstStyle/>
          <a:p>
            <a:fld id="{2DB83934-0D2B-4DEF-BB96-17BDF7B2D4F5}" type="datetimeFigureOut">
              <a:rPr lang="ru-RU" smtClean="0"/>
              <a:t>05.11.2024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3370763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B83934-0D2B-4DEF-BB96-17BDF7B2D4F5}" type="datetimeFigureOut">
              <a:rPr lang="ru-RU" smtClean="0"/>
              <a:t>05.11.2024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3272131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DB83934-0D2B-4DEF-BB96-17BDF7B2D4F5}" type="datetimeFigureOut">
              <a:rPr lang="ru-RU" smtClean="0"/>
              <a:t>05.11.2024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2910761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DB83934-0D2B-4DEF-BB96-17BDF7B2D4F5}" type="datetimeFigureOut">
              <a:rPr lang="ru-RU" smtClean="0"/>
              <a:t>05.11.2024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2147390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2DB83934-0D2B-4DEF-BB96-17BDF7B2D4F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4082635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2DB83934-0D2B-4DEF-BB96-17BDF7B2D4F5}" type="datetimeFigureOut">
              <a:rPr lang="ru-RU" smtClean="0"/>
              <a:t>05.11.2024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12B98B5-62D1-4AA6-A85A-50D69163C4CF}" type="slidenum">
              <a:rPr lang="ru-RU" smtClean="0"/>
              <a:t>‹#›</a:t>
            </a:fld>
            <a:endParaRPr lang="ru-RU"/>
          </a:p>
        </p:txBody>
      </p:sp>
    </p:spTree>
    <p:extLst>
      <p:ext uri="{BB962C8B-B14F-4D97-AF65-F5344CB8AC3E}">
        <p14:creationId xmlns:p14="http://schemas.microsoft.com/office/powerpoint/2010/main" val="2997879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83934-0D2B-4DEF-BB96-17BDF7B2D4F5}" type="datetimeFigureOut">
              <a:rPr lang="ru-RU" smtClean="0"/>
              <a:t>05.11.2024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2B98B5-62D1-4AA6-A85A-50D69163C4CF}" type="slidenum">
              <a:rPr lang="ru-RU" smtClean="0"/>
              <a:t>‹#›</a:t>
            </a:fld>
            <a:endParaRPr lang="ru-RU"/>
          </a:p>
        </p:txBody>
      </p:sp>
    </p:spTree>
    <p:extLst>
      <p:ext uri="{BB962C8B-B14F-4D97-AF65-F5344CB8AC3E}">
        <p14:creationId xmlns:p14="http://schemas.microsoft.com/office/powerpoint/2010/main" val="610632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999" y="-169553"/>
            <a:ext cx="7998836" cy="482138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76055" y="242891"/>
            <a:ext cx="7550727" cy="969817"/>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rPr>
              <a:t>AZƏRBAYCAN RESPUBLİKASI ELM VƏ TƏHSİL NAZİRLİYİ</a:t>
            </a:r>
            <a:endParaRPr lang="en-US" sz="2800" dirty="0">
              <a:ln w="0"/>
              <a:effectLst>
                <a:outerShdw blurRad="38100" dist="19050" dir="2700000" algn="tl" rotWithShape="0">
                  <a:schemeClr val="dk1">
                    <a:alpha val="40000"/>
                  </a:schemeClr>
                </a:outerShdw>
              </a:effectLst>
            </a:endParaRPr>
          </a:p>
        </p:txBody>
      </p:sp>
      <p:sp>
        <p:nvSpPr>
          <p:cNvPr id="6" name="Rectangle 5"/>
          <p:cNvSpPr/>
          <p:nvPr/>
        </p:nvSpPr>
        <p:spPr>
          <a:xfrm>
            <a:off x="2216726" y="3396343"/>
            <a:ext cx="7869383" cy="32293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r>
              <a:rPr lang="az-Latn-AZ" sz="2000" dirty="0" smtClean="0"/>
              <a:t>Fakultə</a:t>
            </a:r>
            <a:r>
              <a:rPr lang="en-US" sz="2000" dirty="0" smtClean="0"/>
              <a:t>: </a:t>
            </a:r>
            <a:r>
              <a:rPr lang="az-Latn-AZ" sz="2000" dirty="0" smtClean="0"/>
              <a:t>İnformasiya və telekommunikasiya texnologiyaları</a:t>
            </a:r>
          </a:p>
          <a:p>
            <a:pPr marL="285750" indent="-285750">
              <a:buFont typeface="Arial" panose="020B0604020202020204" pitchFamily="34" charset="0"/>
              <a:buChar char="•"/>
            </a:pPr>
            <a:r>
              <a:rPr lang="az-Latn-AZ" sz="2000" dirty="0" smtClean="0"/>
              <a:t>Kafedra</a:t>
            </a:r>
            <a:r>
              <a:rPr lang="en-US" sz="2000" dirty="0" smtClean="0"/>
              <a:t>: </a:t>
            </a:r>
            <a:r>
              <a:rPr lang="az-Latn-AZ" sz="2000" dirty="0" smtClean="0"/>
              <a:t>Kompüter </a:t>
            </a:r>
            <a:r>
              <a:rPr lang="az-Latn-AZ" sz="2000" dirty="0" smtClean="0"/>
              <a:t>texnologiyaları</a:t>
            </a:r>
            <a:endParaRPr lang="az-Latn-AZ" sz="2000" dirty="0" smtClean="0"/>
          </a:p>
          <a:p>
            <a:pPr marL="285750" indent="-285750">
              <a:buFont typeface="Arial" panose="020B0604020202020204" pitchFamily="34" charset="0"/>
              <a:buChar char="•"/>
            </a:pPr>
            <a:r>
              <a:rPr lang="az-Latn-AZ" sz="2000" dirty="0" smtClean="0"/>
              <a:t>Fənn adı</a:t>
            </a:r>
            <a:r>
              <a:rPr lang="en-US" sz="2000" dirty="0" smtClean="0"/>
              <a:t>:</a:t>
            </a:r>
            <a:r>
              <a:rPr lang="az-Latn-AZ" sz="2000" dirty="0" smtClean="0"/>
              <a:t> İnformasiya </a:t>
            </a:r>
            <a:r>
              <a:rPr lang="az-Latn-AZ" sz="2000" dirty="0" smtClean="0"/>
              <a:t>texnologiyaları</a:t>
            </a:r>
            <a:r>
              <a:rPr lang="en-US" sz="2000" dirty="0" smtClean="0"/>
              <a:t>n</a:t>
            </a:r>
            <a:r>
              <a:rPr lang="az-Latn-AZ" sz="2000" dirty="0" smtClean="0"/>
              <a:t>ın</a:t>
            </a:r>
            <a:r>
              <a:rPr lang="en-US" sz="2000" dirty="0" smtClean="0"/>
              <a:t> </a:t>
            </a:r>
            <a:r>
              <a:rPr lang="az-Latn-AZ" sz="2000" dirty="0" smtClean="0"/>
              <a:t>əsasları</a:t>
            </a:r>
            <a:endParaRPr lang="az-Latn-AZ" sz="2000" dirty="0" smtClean="0"/>
          </a:p>
          <a:p>
            <a:pPr algn="ctr"/>
            <a:endParaRPr lang="az-Latn-AZ" dirty="0" smtClean="0"/>
          </a:p>
          <a:p>
            <a:pPr algn="ctr"/>
            <a:r>
              <a:rPr lang="az-Latn-AZ" dirty="0" smtClean="0"/>
              <a:t>LABORATORİYA İŞİ </a:t>
            </a:r>
            <a:r>
              <a:rPr lang="ru-RU" dirty="0" smtClean="0"/>
              <a:t>№</a:t>
            </a:r>
            <a:r>
              <a:rPr lang="en-US" dirty="0"/>
              <a:t>3</a:t>
            </a:r>
            <a:endParaRPr lang="az-Latn-AZ" dirty="0" smtClean="0"/>
          </a:p>
          <a:p>
            <a:pPr marL="285750" indent="-285750">
              <a:buFont typeface="Arial" panose="020B0604020202020204" pitchFamily="34" charset="0"/>
              <a:buChar char="•"/>
            </a:pPr>
            <a:r>
              <a:rPr lang="az-Latn-AZ" sz="2000" dirty="0" smtClean="0"/>
              <a:t>Mövzu</a:t>
            </a:r>
            <a:r>
              <a:rPr lang="en-US" sz="2000" dirty="0" smtClean="0"/>
              <a:t>:</a:t>
            </a:r>
            <a:r>
              <a:rPr lang="az-Latn-AZ" sz="2000" dirty="0" smtClean="0"/>
              <a:t>Microsoft Office </a:t>
            </a:r>
            <a:r>
              <a:rPr lang="en-US" sz="2000" dirty="0" smtClean="0"/>
              <a:t>Word</a:t>
            </a:r>
            <a:endParaRPr lang="az-Latn-AZ" sz="2000" dirty="0" smtClean="0"/>
          </a:p>
          <a:p>
            <a:pPr marL="285750" indent="-285750">
              <a:buFont typeface="Arial" panose="020B0604020202020204" pitchFamily="34" charset="0"/>
              <a:buChar char="•"/>
            </a:pPr>
            <a:r>
              <a:rPr lang="az-Latn-AZ" sz="2000" dirty="0" smtClean="0"/>
              <a:t>Kurs</a:t>
            </a:r>
            <a:r>
              <a:rPr lang="en-US" sz="2000" dirty="0" smtClean="0"/>
              <a:t>: </a:t>
            </a:r>
            <a:r>
              <a:rPr lang="az-Latn-AZ" sz="2000" dirty="0" smtClean="0"/>
              <a:t>1</a:t>
            </a:r>
            <a:r>
              <a:rPr lang="en-US" sz="2000" dirty="0" smtClean="0"/>
              <a:t>-</a:t>
            </a:r>
            <a:r>
              <a:rPr lang="az-Latn-AZ" sz="2000" dirty="0" smtClean="0"/>
              <a:t>ci</a:t>
            </a:r>
            <a:endParaRPr lang="en-US" sz="2000" dirty="0" smtClean="0"/>
          </a:p>
          <a:p>
            <a:pPr marL="285750" indent="-285750">
              <a:buFont typeface="Arial" panose="020B0604020202020204" pitchFamily="34" charset="0"/>
              <a:buChar char="•"/>
            </a:pPr>
            <a:r>
              <a:rPr lang="en-US" sz="2000" dirty="0" smtClean="0"/>
              <a:t>Qrup:6224a1</a:t>
            </a:r>
            <a:endParaRPr lang="az-Latn-AZ" sz="2000" dirty="0" smtClean="0"/>
          </a:p>
          <a:p>
            <a:pPr marL="285750" indent="-285750">
              <a:buFont typeface="Arial" panose="020B0604020202020204" pitchFamily="34" charset="0"/>
              <a:buChar char="•"/>
            </a:pPr>
            <a:r>
              <a:rPr lang="az-Latn-AZ" sz="2000" dirty="0" smtClean="0"/>
              <a:t>Tələbə</a:t>
            </a:r>
            <a:r>
              <a:rPr lang="en-US" sz="2000" dirty="0" smtClean="0"/>
              <a:t>: </a:t>
            </a:r>
            <a:r>
              <a:rPr lang="az-Latn-AZ" sz="2000" dirty="0" smtClean="0"/>
              <a:t>Cəfərova Nazlı</a:t>
            </a:r>
          </a:p>
          <a:p>
            <a:pPr marL="285750" indent="-285750">
              <a:buFont typeface="Arial" panose="020B0604020202020204" pitchFamily="34" charset="0"/>
              <a:buChar char="•"/>
            </a:pPr>
            <a:r>
              <a:rPr lang="az-Latn-AZ" sz="2000" dirty="0" smtClean="0"/>
              <a:t>Müəllim</a:t>
            </a:r>
            <a:r>
              <a:rPr lang="en-US" sz="2000" dirty="0" smtClean="0"/>
              <a:t>:</a:t>
            </a:r>
            <a:r>
              <a:rPr lang="az-Latn-AZ" sz="2000" dirty="0" smtClean="0"/>
              <a:t> Quliyeva Tükəzban</a:t>
            </a:r>
          </a:p>
          <a:p>
            <a:endParaRPr lang="az-Latn-AZ" dirty="0" smtClean="0"/>
          </a:p>
          <a:p>
            <a:endParaRPr lang="az-Latn-AZ" dirty="0" smtClean="0"/>
          </a:p>
          <a:p>
            <a:endParaRPr lang="az-Latn-AZ" dirty="0"/>
          </a:p>
          <a:p>
            <a:endParaRPr lang="az-Latn-AZ" dirty="0" smtClean="0"/>
          </a:p>
          <a:p>
            <a:endParaRPr lang="az-Latn-AZ" dirty="0"/>
          </a:p>
        </p:txBody>
      </p:sp>
    </p:spTree>
    <p:extLst>
      <p:ext uri="{BB962C8B-B14F-4D97-AF65-F5344CB8AC3E}">
        <p14:creationId xmlns:p14="http://schemas.microsoft.com/office/powerpoint/2010/main" val="889850861"/>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32" name="Picture 8" descr="Microsoft Word | The Learning Pla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1714"/>
            <a:ext cx="8572500" cy="421393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572501" y="0"/>
            <a:ext cx="3401786" cy="3139321"/>
          </a:xfrm>
          <a:prstGeom prst="rect">
            <a:avLst/>
          </a:prstGeom>
        </p:spPr>
        <p:txBody>
          <a:bodyPr wrap="square">
            <a:spAutoFit/>
          </a:bodyPr>
          <a:lstStyle/>
          <a:p>
            <a:r>
              <a:rPr lang="az-Latn-AZ" b="1" dirty="0" smtClean="0"/>
              <a:t>Microsoft Word</a:t>
            </a:r>
            <a:r>
              <a:rPr lang="az-Latn-AZ" dirty="0" smtClean="0"/>
              <a:t> (bəzən sadəcə </a:t>
            </a:r>
            <a:r>
              <a:rPr lang="az-Latn-AZ" b="1" dirty="0" smtClean="0"/>
              <a:t>Word</a:t>
            </a:r>
            <a:r>
              <a:rPr lang="az-Latn-AZ" dirty="0" smtClean="0"/>
              <a:t> kimi tanınır) — </a:t>
            </a:r>
            <a:r>
              <a:rPr lang="az-Latn-AZ" b="1" dirty="0" smtClean="0"/>
              <a:t>Microsoft</a:t>
            </a:r>
            <a:r>
              <a:rPr lang="az-Latn-AZ" dirty="0" smtClean="0"/>
              <a:t> tərəfindən inkişaf etdirilən və dünyanın ən geniş yayılmış mətn emal proqramlarından biridir. Əsasən mətn yazmaq, redaktə etmək, formatlaşdırmaq və çap etmək üçün istifadə olunur. </a:t>
            </a:r>
            <a:r>
              <a:rPr lang="az-Latn-AZ" b="1" dirty="0" smtClean="0"/>
              <a:t>Microsoft Office</a:t>
            </a:r>
            <a:r>
              <a:rPr lang="az-Latn-AZ" dirty="0" smtClean="0"/>
              <a:t> paketinin bir hissəsidir və həmçinin müstəqil proqram kimi də mövcuddur.</a:t>
            </a:r>
            <a:endParaRPr lang="ru-RU" dirty="0"/>
          </a:p>
        </p:txBody>
      </p:sp>
      <p:sp>
        <p:nvSpPr>
          <p:cNvPr id="4" name="Rectangle 9"/>
          <p:cNvSpPr>
            <a:spLocks noChangeArrowheads="1"/>
          </p:cNvSpPr>
          <p:nvPr/>
        </p:nvSpPr>
        <p:spPr bwMode="auto">
          <a:xfrm>
            <a:off x="0" y="4403424"/>
            <a:ext cx="109399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0" i="0" u="none" strike="noStrike" cap="none" normalizeH="0" baseline="0" dirty="0" smtClean="0">
                <a:ln>
                  <a:noFill/>
                </a:ln>
                <a:solidFill>
                  <a:schemeClr val="tx1"/>
                </a:solidFill>
                <a:effectLst/>
                <a:latin typeface="Arial" panose="020B0604020202020204" pitchFamily="34" charset="0"/>
              </a:rPr>
              <a:t>versiya (Word Online) təklif edir, burada sənədlər birbaşa internet üzərindən yaradılıb, redaktə oluna bilər.</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0" i="0" u="none" strike="noStrike" cap="none" normalizeH="0" baseline="0" dirty="0" smtClean="0">
                <a:ln>
                  <a:noFill/>
                </a:ln>
                <a:solidFill>
                  <a:schemeClr val="tx1"/>
                </a:solidFill>
                <a:effectLst/>
                <a:latin typeface="Arial" panose="020B0604020202020204" pitchFamily="34" charset="0"/>
              </a:rPr>
              <a:t>Ehtiyacınıza uyğun xüsusi bir xüsusiyyət və ya kömək istəyirsinizsə, onu da bildirə bilərsiniz</a:t>
            </a:r>
            <a:r>
              <a:rPr kumimoji="0" lang="ru-RU" altLang="ru-RU" sz="1800" b="0" i="0" u="none" strike="noStrike" cap="none" normalizeH="0" baseline="0" dirty="0" smtClean="0">
                <a:ln>
                  <a:noFill/>
                </a:ln>
                <a:solidFill>
                  <a:schemeClr val="tx1"/>
                </a:solidFill>
                <a:effectLst/>
                <a:latin typeface="Arial" panose="020B0604020202020204" pitchFamily="34" charset="0"/>
              </a:rPr>
              <a:t>!</a:t>
            </a:r>
          </a:p>
        </p:txBody>
      </p:sp>
      <p:sp>
        <p:nvSpPr>
          <p:cNvPr id="6" name="Rectangle 5"/>
          <p:cNvSpPr/>
          <p:nvPr/>
        </p:nvSpPr>
        <p:spPr>
          <a:xfrm>
            <a:off x="0" y="5049755"/>
            <a:ext cx="11161485" cy="1200329"/>
          </a:xfrm>
          <a:prstGeom prst="rect">
            <a:avLst/>
          </a:prstGeom>
        </p:spPr>
        <p:txBody>
          <a:bodyPr wrap="square">
            <a:spAutoFit/>
          </a:bodyPr>
          <a:lstStyle/>
          <a:p>
            <a:r>
              <a:rPr lang="az-Latn-AZ" b="1" dirty="0" smtClean="0"/>
              <a:t>Microsoft Word istifadə sahələri:</a:t>
            </a:r>
          </a:p>
          <a:p>
            <a:pPr>
              <a:buFont typeface="Arial" panose="020B0604020202020204" pitchFamily="34" charset="0"/>
              <a:buChar char="•"/>
            </a:pPr>
            <a:r>
              <a:rPr lang="az-Latn-AZ" b="1" dirty="0" smtClean="0"/>
              <a:t>Təhsil</a:t>
            </a:r>
            <a:r>
              <a:rPr lang="az-Latn-AZ" dirty="0" smtClean="0"/>
              <a:t>: Məruzələr, esse yazıları, tədqiqat layihələri və digər təhsil materiallarının yaradılması.</a:t>
            </a:r>
          </a:p>
          <a:p>
            <a:pPr>
              <a:buFont typeface="Arial" panose="020B0604020202020204" pitchFamily="34" charset="0"/>
              <a:buChar char="•"/>
            </a:pPr>
            <a:r>
              <a:rPr lang="az-Latn-AZ" b="1" dirty="0" smtClean="0"/>
              <a:t>Biznes</a:t>
            </a:r>
            <a:r>
              <a:rPr lang="az-Latn-AZ" dirty="0" smtClean="0"/>
              <a:t>: Təqdimatlar, hesabatlar, məktublar, müqavilələr və digər biznes sənədlərinin hazırlanması.</a:t>
            </a:r>
          </a:p>
          <a:p>
            <a:pPr>
              <a:buFont typeface="Arial" panose="020B0604020202020204" pitchFamily="34" charset="0"/>
              <a:buChar char="•"/>
            </a:pPr>
            <a:r>
              <a:rPr lang="az-Latn-AZ" b="1" dirty="0" smtClean="0"/>
              <a:t>Ədəbiyyat və Jurnalistika</a:t>
            </a:r>
            <a:r>
              <a:rPr lang="az-Latn-AZ" dirty="0" smtClean="0"/>
              <a:t>: Məqalələr, kitablar və digər nəşriyyat məhsulları üçün mətnin hazırlanması.</a:t>
            </a:r>
            <a:endParaRPr lang="az-Latn-AZ" dirty="0"/>
          </a:p>
        </p:txBody>
      </p:sp>
      <p:sp>
        <p:nvSpPr>
          <p:cNvPr id="8" name="Rectangle 7"/>
          <p:cNvSpPr/>
          <p:nvPr/>
        </p:nvSpPr>
        <p:spPr>
          <a:xfrm>
            <a:off x="8502652" y="3018430"/>
            <a:ext cx="3541485" cy="1200329"/>
          </a:xfrm>
          <a:prstGeom prst="rect">
            <a:avLst/>
          </a:prstGeom>
        </p:spPr>
        <p:txBody>
          <a:bodyPr wrap="square">
            <a:spAutoFit/>
          </a:bodyPr>
          <a:lstStyle/>
          <a:p>
            <a:r>
              <a:rPr lang="az-Latn-AZ" dirty="0" smtClean="0"/>
              <a:t>Microsoft Word həmçinin </a:t>
            </a:r>
            <a:r>
              <a:rPr lang="az-Latn-AZ" b="1" dirty="0" smtClean="0"/>
              <a:t>Microsoft 365</a:t>
            </a:r>
            <a:r>
              <a:rPr lang="az-Latn-AZ" dirty="0" smtClean="0"/>
              <a:t> (əvvəllər Office 365 kimi tanınır) paketinin bir hissəsi olaraq bulud əsaslı versiya (Word Online) </a:t>
            </a:r>
            <a:endParaRPr lang="ru-RU" dirty="0"/>
          </a:p>
        </p:txBody>
      </p:sp>
    </p:spTree>
    <p:extLst>
      <p:ext uri="{BB962C8B-B14F-4D97-AF65-F5344CB8AC3E}">
        <p14:creationId xmlns:p14="http://schemas.microsoft.com/office/powerpoint/2010/main" val="29151393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16832" y="44316"/>
            <a:ext cx="6433911" cy="1325563"/>
          </a:xfrm>
        </p:spPr>
        <p:txBody>
          <a:bodyPr>
            <a:normAutofit fontScale="90000"/>
          </a:bodyPr>
          <a:lstStyle/>
          <a:p>
            <a:r>
              <a:rPr lang="en-US" sz="4800" b="1" dirty="0" smtClean="0"/>
              <a:t>“MICROSOFT </a:t>
            </a:r>
            <a:r>
              <a:rPr lang="az-Latn-AZ" sz="4800" b="1" dirty="0" smtClean="0"/>
              <a:t>WORD”tarixi</a:t>
            </a:r>
            <a:endParaRPr lang="az-Latn-AZ" sz="4800" b="1" dirty="0"/>
          </a:p>
        </p:txBody>
      </p:sp>
      <p:pic>
        <p:nvPicPr>
          <p:cNvPr id="2050" name="Picture 2" descr="Microsoft Word — Vikipediy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832" y="1359126"/>
            <a:ext cx="2733118" cy="254521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53150" y="1293783"/>
            <a:ext cx="8853714" cy="2862322"/>
          </a:xfrm>
          <a:prstGeom prst="rect">
            <a:avLst/>
          </a:prstGeom>
        </p:spPr>
        <p:txBody>
          <a:bodyPr wrap="square">
            <a:spAutoFit/>
          </a:bodyPr>
          <a:lstStyle/>
          <a:p>
            <a:r>
              <a:rPr lang="az-Latn-AZ" b="1" dirty="0" smtClean="0"/>
              <a:t>1. Başlanğıc və ilk versiyalar (1983-1989):</a:t>
            </a:r>
          </a:p>
          <a:p>
            <a:pPr>
              <a:buFont typeface="Arial" panose="020B0604020202020204" pitchFamily="34" charset="0"/>
              <a:buChar char="•"/>
            </a:pPr>
            <a:r>
              <a:rPr lang="az-Latn-AZ" b="1" dirty="0" smtClean="0"/>
              <a:t>1983</a:t>
            </a:r>
            <a:r>
              <a:rPr lang="az-Latn-AZ" dirty="0" smtClean="0"/>
              <a:t>: Microsoft Word ilk dəfə olaraq </a:t>
            </a:r>
            <a:r>
              <a:rPr lang="az-Latn-AZ" b="1" dirty="0" smtClean="0"/>
              <a:t>"Multi-Tool Word"</a:t>
            </a:r>
            <a:r>
              <a:rPr lang="az-Latn-AZ" dirty="0" smtClean="0"/>
              <a:t> adı ilə </a:t>
            </a:r>
            <a:r>
              <a:rPr lang="az-Latn-AZ" b="1" dirty="0" smtClean="0"/>
              <a:t>IBM PC</a:t>
            </a:r>
            <a:r>
              <a:rPr lang="az-Latn-AZ" dirty="0" smtClean="0"/>
              <a:t> üçün təqdim edildi. Bu versiya </a:t>
            </a:r>
            <a:r>
              <a:rPr lang="az-Latn-AZ" b="1" dirty="0" smtClean="0"/>
              <a:t>Xenix</a:t>
            </a:r>
            <a:r>
              <a:rPr lang="az-Latn-AZ" dirty="0" smtClean="0"/>
              <a:t> və </a:t>
            </a:r>
            <a:r>
              <a:rPr lang="az-Latn-AZ" b="1" dirty="0" smtClean="0"/>
              <a:t>MS-DOS</a:t>
            </a:r>
            <a:r>
              <a:rPr lang="az-Latn-AZ" dirty="0" smtClean="0"/>
              <a:t> əməliyyat sistemləri üçün işləyirdi. Bu, </a:t>
            </a:r>
            <a:r>
              <a:rPr lang="az-Latn-AZ" b="1" dirty="0" smtClean="0"/>
              <a:t>Microsoft</a:t>
            </a:r>
            <a:r>
              <a:rPr lang="az-Latn-AZ" dirty="0" smtClean="0"/>
              <a:t>-un mətn emalında ilk ciddi addımı idi və əvvəlki dövrlərdə mövcud olan mətn emal proqramlarından çox fərqli idi.</a:t>
            </a:r>
          </a:p>
          <a:p>
            <a:pPr>
              <a:buFont typeface="Arial" panose="020B0604020202020204" pitchFamily="34" charset="0"/>
              <a:buChar char="•"/>
            </a:pPr>
            <a:r>
              <a:rPr lang="az-Latn-AZ" b="1" dirty="0" smtClean="0"/>
              <a:t>1985</a:t>
            </a:r>
            <a:r>
              <a:rPr lang="az-Latn-AZ" dirty="0" smtClean="0"/>
              <a:t>: Word-un </a:t>
            </a:r>
            <a:r>
              <a:rPr lang="az-Latn-AZ" b="1" dirty="0" smtClean="0"/>
              <a:t>Macintosh</a:t>
            </a:r>
            <a:r>
              <a:rPr lang="az-Latn-AZ" dirty="0" smtClean="0"/>
              <a:t> versiyası təqdim edildi. Bu versiya daha müasir və istifadəçi dostu bir interfeysə malik idi.</a:t>
            </a:r>
          </a:p>
          <a:p>
            <a:pPr>
              <a:buFont typeface="Arial" panose="020B0604020202020204" pitchFamily="34" charset="0"/>
              <a:buChar char="•"/>
            </a:pPr>
            <a:r>
              <a:rPr lang="az-Latn-AZ" b="1" dirty="0" smtClean="0"/>
              <a:t>1987</a:t>
            </a:r>
            <a:r>
              <a:rPr lang="az-Latn-AZ" dirty="0" smtClean="0"/>
              <a:t>: </a:t>
            </a:r>
            <a:r>
              <a:rPr lang="az-Latn-AZ" b="1" dirty="0" smtClean="0"/>
              <a:t>Microsoft Word 2.0</a:t>
            </a:r>
            <a:r>
              <a:rPr lang="az-Latn-AZ" dirty="0" smtClean="0"/>
              <a:t> buraxıldı. Bu versiya </a:t>
            </a:r>
            <a:r>
              <a:rPr lang="az-Latn-AZ" b="1" dirty="0" smtClean="0"/>
              <a:t>Windows</a:t>
            </a:r>
            <a:r>
              <a:rPr lang="az-Latn-AZ" dirty="0" smtClean="0"/>
              <a:t> əməliyyat sistemində işləyən ilk versiya oldu. O dövrdə Word artıq WordPerfect və digər populyar mətn emal proqramlarına ciddi rəqib olmuşdu.</a:t>
            </a:r>
            <a:endParaRPr lang="az-Latn-AZ" dirty="0"/>
          </a:p>
        </p:txBody>
      </p:sp>
      <p:sp>
        <p:nvSpPr>
          <p:cNvPr id="4" name="Rectangle 3"/>
          <p:cNvSpPr/>
          <p:nvPr/>
        </p:nvSpPr>
        <p:spPr>
          <a:xfrm>
            <a:off x="416832" y="4206430"/>
            <a:ext cx="11321143" cy="2308324"/>
          </a:xfrm>
          <a:prstGeom prst="rect">
            <a:avLst/>
          </a:prstGeom>
        </p:spPr>
        <p:txBody>
          <a:bodyPr wrap="square">
            <a:spAutoFit/>
          </a:bodyPr>
          <a:lstStyle/>
          <a:p>
            <a:r>
              <a:rPr lang="az-Latn-AZ" b="1" dirty="0" smtClean="0"/>
              <a:t>2. İnkişaf və yeni xüsusiyyətlər (1990-1999):</a:t>
            </a:r>
          </a:p>
          <a:p>
            <a:pPr>
              <a:buFont typeface="Arial" panose="020B0604020202020204" pitchFamily="34" charset="0"/>
              <a:buChar char="•"/>
            </a:pPr>
            <a:r>
              <a:rPr lang="az-Latn-AZ" b="1" dirty="0" smtClean="0"/>
              <a:t>1990</a:t>
            </a:r>
            <a:r>
              <a:rPr lang="az-Latn-AZ" dirty="0" smtClean="0"/>
              <a:t>: </a:t>
            </a:r>
            <a:r>
              <a:rPr lang="az-Latn-AZ" b="1" dirty="0" smtClean="0"/>
              <a:t>Microsoft Word 3.0</a:t>
            </a:r>
            <a:r>
              <a:rPr lang="az-Latn-AZ" dirty="0" smtClean="0"/>
              <a:t> buraxıldı və </a:t>
            </a:r>
            <a:r>
              <a:rPr lang="az-Latn-AZ" b="1" dirty="0" smtClean="0"/>
              <a:t>Windows 3.x</a:t>
            </a:r>
            <a:r>
              <a:rPr lang="az-Latn-AZ" dirty="0" smtClean="0"/>
              <a:t> ilə tam uyumlu oldu. Bu versiyada çox sayda yeni xüsusiyyətlər əlavə edildi, o cümlədən şrift seçimi, cədvəllər, və əvvəlki versiyalardan daha yaxşı səhifə formatlaşdırma imkanı.</a:t>
            </a:r>
          </a:p>
          <a:p>
            <a:pPr>
              <a:buFont typeface="Arial" panose="020B0604020202020204" pitchFamily="34" charset="0"/>
              <a:buChar char="•"/>
            </a:pPr>
            <a:r>
              <a:rPr lang="az-Latn-AZ" b="1" dirty="0" smtClean="0"/>
              <a:t>1995</a:t>
            </a:r>
            <a:r>
              <a:rPr lang="az-Latn-AZ" dirty="0" smtClean="0"/>
              <a:t>: </a:t>
            </a:r>
            <a:r>
              <a:rPr lang="az-Latn-AZ" b="1" dirty="0" smtClean="0"/>
              <a:t>Microsoft Word 95</a:t>
            </a:r>
            <a:r>
              <a:rPr lang="az-Latn-AZ" dirty="0" smtClean="0"/>
              <a:t> (və ya </a:t>
            </a:r>
            <a:r>
              <a:rPr lang="az-Latn-AZ" b="1" dirty="0" smtClean="0"/>
              <a:t>Word 7.0</a:t>
            </a:r>
            <a:r>
              <a:rPr lang="az-Latn-AZ" dirty="0" smtClean="0"/>
              <a:t>) buraxıldı. Bu versiya, </a:t>
            </a:r>
            <a:r>
              <a:rPr lang="az-Latn-AZ" b="1" dirty="0" smtClean="0"/>
              <a:t>Microsoft Windows 95</a:t>
            </a:r>
            <a:r>
              <a:rPr lang="az-Latn-AZ" dirty="0" smtClean="0"/>
              <a:t> əməliyyat sisteminə uyğunlaşdırıldı və </a:t>
            </a:r>
            <a:r>
              <a:rPr lang="az-Latn-AZ" b="1" dirty="0" smtClean="0"/>
              <a:t>32-bit</a:t>
            </a:r>
            <a:r>
              <a:rPr lang="az-Latn-AZ" dirty="0" smtClean="0"/>
              <a:t> proqramlaşdırma dilindən istifadə etdi.</a:t>
            </a:r>
          </a:p>
          <a:p>
            <a:pPr>
              <a:buFont typeface="Arial" panose="020B0604020202020204" pitchFamily="34" charset="0"/>
              <a:buChar char="•"/>
            </a:pPr>
            <a:r>
              <a:rPr lang="az-Latn-AZ" b="1" dirty="0" smtClean="0"/>
              <a:t>1997</a:t>
            </a:r>
            <a:r>
              <a:rPr lang="az-Latn-AZ" dirty="0" smtClean="0"/>
              <a:t>: </a:t>
            </a:r>
            <a:r>
              <a:rPr lang="az-Latn-AZ" b="1" dirty="0" smtClean="0"/>
              <a:t>Microsoft Word 97</a:t>
            </a:r>
            <a:r>
              <a:rPr lang="az-Latn-AZ" dirty="0" smtClean="0"/>
              <a:t> təqdim edildi. Bu versiyada </a:t>
            </a:r>
            <a:r>
              <a:rPr lang="az-Latn-AZ" b="1" dirty="0" smtClean="0"/>
              <a:t>WYSIWYG</a:t>
            </a:r>
            <a:r>
              <a:rPr lang="az-Latn-AZ" dirty="0" smtClean="0"/>
              <a:t> (What You See Is What You Get - "Nə görürsünüzsə, o da çap olunacaq") redaktə üsulu tətbiq olundu və bu, istifadəçilərin sənədləri daha asan formatlaşdırmasına imkan verdi. Həmçinin, </a:t>
            </a:r>
            <a:r>
              <a:rPr lang="az-Latn-AZ" b="1" dirty="0" smtClean="0"/>
              <a:t>Office Assistant</a:t>
            </a:r>
            <a:r>
              <a:rPr lang="az-Latn-AZ" dirty="0" smtClean="0"/>
              <a:t> (Clippy) adlı məşhur köməkçi əlavə edildi.</a:t>
            </a:r>
            <a:endParaRPr lang="az-Latn-AZ" dirty="0"/>
          </a:p>
        </p:txBody>
      </p:sp>
    </p:spTree>
    <p:extLst>
      <p:ext uri="{BB962C8B-B14F-4D97-AF65-F5344CB8AC3E}">
        <p14:creationId xmlns:p14="http://schemas.microsoft.com/office/powerpoint/2010/main" val="3104521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94658" y="132897"/>
            <a:ext cx="10515600" cy="1325563"/>
          </a:xfrm>
        </p:spPr>
        <p:txBody>
          <a:bodyPr>
            <a:normAutofit/>
          </a:bodyPr>
          <a:lstStyle/>
          <a:p>
            <a:r>
              <a:rPr lang="en-US" sz="4800" b="1" dirty="0" smtClean="0"/>
              <a:t>MICROSOFT WORD </a:t>
            </a:r>
            <a:r>
              <a:rPr lang="az-Latn-AZ" sz="4800" b="1" dirty="0" smtClean="0"/>
              <a:t>ƏSAS FUNKSİYALARI</a:t>
            </a:r>
            <a:endParaRPr lang="ru-RU" sz="4800" b="1" dirty="0"/>
          </a:p>
        </p:txBody>
      </p:sp>
      <p:sp>
        <p:nvSpPr>
          <p:cNvPr id="3" name="Rectangle 2"/>
          <p:cNvSpPr/>
          <p:nvPr/>
        </p:nvSpPr>
        <p:spPr>
          <a:xfrm>
            <a:off x="0" y="1198878"/>
            <a:ext cx="11684000" cy="2862322"/>
          </a:xfrm>
          <a:prstGeom prst="rect">
            <a:avLst/>
          </a:prstGeom>
        </p:spPr>
        <p:txBody>
          <a:bodyPr wrap="square">
            <a:spAutoFit/>
          </a:bodyPr>
          <a:lstStyle/>
          <a:p>
            <a:r>
              <a:rPr lang="az-Latn-AZ" b="1" dirty="0" smtClean="0"/>
              <a:t>Microsoft Word-un əsas funksiyaları və xüsusiyyətləri çox genişdir və istifadəçilərə mətn sənədlərini rahatlıqla yaratmaq, redaktə etmək, formatlaşdırmaq və paylaşmaq imkanı verir. Aşağıda Microsoft Word-un ən vacib və faydalı funksiyalarını təqdim edirəm:</a:t>
            </a:r>
          </a:p>
          <a:p>
            <a:r>
              <a:rPr lang="az-Latn-AZ" b="1" dirty="0" smtClean="0"/>
              <a:t>1. Mətn Formatlaşdırma</a:t>
            </a:r>
          </a:p>
          <a:p>
            <a:pPr>
              <a:buFont typeface="Arial" panose="020B0604020202020204" pitchFamily="34" charset="0"/>
              <a:buChar char="•"/>
            </a:pPr>
            <a:r>
              <a:rPr lang="az-Latn-AZ" b="1" dirty="0" smtClean="0"/>
              <a:t>Şrift Seçimi: Müxtəlif şriftlər (fontlar), ölçülər və rənglər seçə bilərsiniz.</a:t>
            </a:r>
          </a:p>
          <a:p>
            <a:pPr>
              <a:buFont typeface="Arial" panose="020B0604020202020204" pitchFamily="34" charset="0"/>
              <a:buChar char="•"/>
            </a:pPr>
            <a:r>
              <a:rPr lang="az-Latn-AZ" b="1" dirty="0" smtClean="0"/>
              <a:t>Yazı Tipi Stili: Bold, Italic, Underline (qalın, əyri, alt xəttli) funksiyaları.</a:t>
            </a:r>
          </a:p>
          <a:p>
            <a:pPr>
              <a:buFont typeface="Arial" panose="020B0604020202020204" pitchFamily="34" charset="0"/>
              <a:buChar char="•"/>
            </a:pPr>
            <a:r>
              <a:rPr lang="az-Latn-AZ" b="1" dirty="0" smtClean="0"/>
              <a:t>Yazı Şriftinin Rəngi: Mətnin rəngini dəyişdirmək.</a:t>
            </a:r>
          </a:p>
          <a:p>
            <a:pPr>
              <a:buFont typeface="Arial" panose="020B0604020202020204" pitchFamily="34" charset="0"/>
              <a:buChar char="•"/>
            </a:pPr>
            <a:r>
              <a:rPr lang="az-Latn-AZ" b="1" dirty="0" smtClean="0"/>
              <a:t>Align (Yerləşdirmə): Mətnin sola, sağa, mərkəzə və ya hər iki tərəfə düzgün yerləşdirilməsi.</a:t>
            </a:r>
          </a:p>
          <a:p>
            <a:pPr>
              <a:buFont typeface="Arial" panose="020B0604020202020204" pitchFamily="34" charset="0"/>
              <a:buChar char="•"/>
            </a:pPr>
            <a:r>
              <a:rPr lang="az-Latn-AZ" b="1" dirty="0" smtClean="0"/>
              <a:t>Sətir Aralığı və Paraqraf İdarəetməsi: Sətir aralığını və paraqrafın arasını tənzimləmək. Mətnin düzgün formatda görünməsini təmin etmək.</a:t>
            </a:r>
            <a:endParaRPr lang="az-Latn-AZ" b="1" dirty="0"/>
          </a:p>
        </p:txBody>
      </p:sp>
      <p:sp>
        <p:nvSpPr>
          <p:cNvPr id="5" name="Rectangle 4"/>
          <p:cNvSpPr/>
          <p:nvPr/>
        </p:nvSpPr>
        <p:spPr>
          <a:xfrm>
            <a:off x="0" y="3940298"/>
            <a:ext cx="12192000" cy="2308324"/>
          </a:xfrm>
          <a:prstGeom prst="rect">
            <a:avLst/>
          </a:prstGeom>
        </p:spPr>
        <p:txBody>
          <a:bodyPr wrap="square">
            <a:spAutoFit/>
          </a:bodyPr>
          <a:lstStyle/>
          <a:p>
            <a:r>
              <a:rPr lang="az-Latn-AZ" b="1" dirty="0" smtClean="0"/>
              <a:t>2. Başlıqlar və Stiller</a:t>
            </a:r>
          </a:p>
          <a:p>
            <a:pPr>
              <a:buFont typeface="Arial" panose="020B0604020202020204" pitchFamily="34" charset="0"/>
              <a:buChar char="•"/>
            </a:pPr>
            <a:r>
              <a:rPr lang="az-Latn-AZ" b="1" dirty="0" smtClean="0"/>
              <a:t>Başlıq və Alt Başlıq: Mətnin müxtəlif hissələri üçün başlıq və alt başlıq stilləri istifadə etmək (məsələn, H1, H2, H3 başlıqları).</a:t>
            </a:r>
          </a:p>
          <a:p>
            <a:pPr>
              <a:buFont typeface="Arial" panose="020B0604020202020204" pitchFamily="34" charset="0"/>
              <a:buChar char="•"/>
            </a:pPr>
            <a:r>
              <a:rPr lang="az-Latn-AZ" b="1" dirty="0" smtClean="0"/>
              <a:t>Stil və Formatlar: Əvvəlcədən təyin edilmiş şablonlardan (temalar) istifadə edərək sənədlərin ümumi dizaynını sürətlə qurmaq.</a:t>
            </a:r>
          </a:p>
          <a:p>
            <a:r>
              <a:rPr lang="az-Latn-AZ" b="1" dirty="0" smtClean="0"/>
              <a:t>3. Cədvəllər və Qrafiklər</a:t>
            </a:r>
          </a:p>
          <a:p>
            <a:pPr>
              <a:buFont typeface="Arial" panose="020B0604020202020204" pitchFamily="34" charset="0"/>
              <a:buChar char="•"/>
            </a:pPr>
            <a:r>
              <a:rPr lang="az-Latn-AZ" b="1" dirty="0" smtClean="0"/>
              <a:t>Cədvəl əlavə etmək: Müxtəlif ölçülərdə cədvəllər yaradıb, mətnləri sıralamaq, hüceyrələrə məlumat daxil etmək.</a:t>
            </a:r>
          </a:p>
          <a:p>
            <a:pPr>
              <a:buFont typeface="Arial" panose="020B0604020202020204" pitchFamily="34" charset="0"/>
              <a:buChar char="•"/>
            </a:pPr>
            <a:r>
              <a:rPr lang="az-Latn-AZ" b="1" dirty="0" smtClean="0"/>
              <a:t>Qrafiklər və Diagramlar: Mətnlə yanaşı, məlumatları daha vizual şəkildə təqdim etmək üçün şəkil və diaqramlar əlavə etmək.</a:t>
            </a:r>
          </a:p>
          <a:p>
            <a:pPr>
              <a:buFont typeface="Arial" panose="020B0604020202020204" pitchFamily="34" charset="0"/>
              <a:buChar char="•"/>
            </a:pPr>
            <a:r>
              <a:rPr lang="az-Latn-AZ" b="1" dirty="0" smtClean="0"/>
              <a:t>Rəng və Dizayn Təsvirləri: Cədvəlin rəngini dəyişdirmək, hüceyrə sərhədləri qoymaq.</a:t>
            </a:r>
            <a:endParaRPr lang="az-Latn-AZ" b="1" dirty="0"/>
          </a:p>
        </p:txBody>
      </p:sp>
    </p:spTree>
    <p:extLst>
      <p:ext uri="{BB962C8B-B14F-4D97-AF65-F5344CB8AC3E}">
        <p14:creationId xmlns:p14="http://schemas.microsoft.com/office/powerpoint/2010/main" val="447468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b="1" dirty="0" smtClean="0"/>
              <a:t>FORMALA</a:t>
            </a:r>
            <a:r>
              <a:rPr lang="az-Latn-AZ" b="1" dirty="0" smtClean="0"/>
              <a:t>ŞDIRMA VƏ DİZAYN</a:t>
            </a:r>
            <a:endParaRPr lang="ru-RU" b="1" dirty="0"/>
          </a:p>
        </p:txBody>
      </p:sp>
      <p:pic>
        <p:nvPicPr>
          <p:cNvPr id="3074" name="Picture 2" descr="Pəncərə elementləri və Bəzi qisa əmirlər - www.YUSIF.a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5575" y="995457"/>
            <a:ext cx="6956425" cy="381725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0" y="1090083"/>
            <a:ext cx="5235575" cy="3416320"/>
          </a:xfrm>
          <a:prstGeom prst="rect">
            <a:avLst/>
          </a:prstGeom>
        </p:spPr>
        <p:txBody>
          <a:bodyPr wrap="square">
            <a:spAutoFit/>
          </a:bodyPr>
          <a:lstStyle/>
          <a:p>
            <a:r>
              <a:rPr lang="az-Latn-AZ" b="1" dirty="0" smtClean="0"/>
              <a:t>Microsoft Word-da formatlaşdırma və dizayn funksiyaları sənədin peşəkar görünməsini təmin etmək və mətnin oxunmasını asanlaşdırmaq üçün vacibdir. Bu alətlər sənədin vizual quruluşunu təşkil etmək və məzmunu daha təmiz və ardıcıl etmək üçün istifadə olunur. Aşağıda Microsoft Word-da formatlaşdırma və dizayn alətləri haqqında ətraflı məlumat və istifadə qaydalarını təqdim edirəm.</a:t>
            </a:r>
          </a:p>
          <a:p>
            <a:r>
              <a:rPr lang="az-Latn-AZ" b="1" dirty="0" smtClean="0"/>
              <a:t>1. Mətnin Formatlaşdırılması</a:t>
            </a:r>
          </a:p>
          <a:p>
            <a:r>
              <a:rPr lang="az-Latn-AZ" b="1" dirty="0" smtClean="0"/>
              <a:t>Mətn formatlaşdırma, mətni oxunaqlı və təşkil olunmuş şəkildə təqdim etmək üçün çox vacibdir. Bu alətlər sənədin ümumi görünüşünü təkmilləşdirir</a:t>
            </a:r>
            <a:r>
              <a:rPr lang="az-Latn-AZ" dirty="0" smtClean="0"/>
              <a:t>.</a:t>
            </a:r>
            <a:endParaRPr lang="az-Latn-AZ" dirty="0"/>
          </a:p>
        </p:txBody>
      </p:sp>
      <p:sp>
        <p:nvSpPr>
          <p:cNvPr id="4" name="Rectangle 3"/>
          <p:cNvSpPr/>
          <p:nvPr/>
        </p:nvSpPr>
        <p:spPr>
          <a:xfrm>
            <a:off x="0" y="4361881"/>
            <a:ext cx="4586514" cy="1754326"/>
          </a:xfrm>
          <a:prstGeom prst="rect">
            <a:avLst/>
          </a:prstGeom>
        </p:spPr>
        <p:txBody>
          <a:bodyPr wrap="square">
            <a:spAutoFit/>
          </a:bodyPr>
          <a:lstStyle/>
          <a:p>
            <a:r>
              <a:rPr lang="az-Latn-AZ" b="1" dirty="0" smtClean="0"/>
              <a:t>Şrift Formatlaşdırma:</a:t>
            </a:r>
          </a:p>
          <a:p>
            <a:pPr>
              <a:buFont typeface="Arial" panose="020B0604020202020204" pitchFamily="34" charset="0"/>
              <a:buChar char="•"/>
            </a:pPr>
            <a:r>
              <a:rPr lang="az-Latn-AZ" b="1" dirty="0" smtClean="0"/>
              <a:t>Şrift seçimi: Sənədin görünüşünü yaxşılaşdırmaq üçün müxtəlif şriftlərdən istifadə edə bilərsiniz. Şrift seçimi üçün "Home" (Baş səhifə) tabında şriftin adını dəyişə bilərsiniz.</a:t>
            </a:r>
          </a:p>
        </p:txBody>
      </p:sp>
    </p:spTree>
    <p:extLst>
      <p:ext uri="{BB962C8B-B14F-4D97-AF65-F5344CB8AC3E}">
        <p14:creationId xmlns:p14="http://schemas.microsoft.com/office/powerpoint/2010/main" val="1907561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AutoShape 2" descr="Microsoft Word Belgesi PDF Formatına Nasıl Dönüştürülür - wikiHow"/>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AutoShape 6" descr="Microsoft Word Belgesi PDF Formatına Nasıl Dönüştürülür - wikiHow"/>
          <p:cNvSpPr>
            <a:spLocks noChangeAspect="1" noChangeArrowheads="1"/>
          </p:cNvSpPr>
          <p:nvPr/>
        </p:nvSpPr>
        <p:spPr bwMode="auto">
          <a:xfrm>
            <a:off x="3370489" y="460896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4106" name="Picture 10" descr="Word 2019 -PRINTER məsələləri (çap məsələlər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74852"/>
            <a:ext cx="5432425" cy="305673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5834743" y="287608"/>
            <a:ext cx="6096000" cy="1754326"/>
          </a:xfrm>
          <a:prstGeom prst="rect">
            <a:avLst/>
          </a:prstGeom>
        </p:spPr>
        <p:txBody>
          <a:bodyPr>
            <a:spAutoFit/>
          </a:bodyPr>
          <a:lstStyle/>
          <a:p>
            <a:r>
              <a:rPr lang="az-Latn-AZ" b="1" dirty="0" smtClean="0"/>
              <a:t>Microsoft Word ilə sənədinizi PDF formatında çap etmək olduqca sadə və asandır. Bu, sənədinizi daha geniş yayılmaq üçün daha uyğun, təhlükəsiz və çap üçün hazır vəziyyətə gətirir. PDF formatı sənədin orijinal formatını qoruyur, beləliklə sənədin təqdimatı və dizaynı heç bir dəyişiklik olmadan digər istifadəçilər tərəfindən açılabilir.</a:t>
            </a:r>
            <a:endParaRPr lang="ru-RU" b="1" dirty="0"/>
          </a:p>
        </p:txBody>
      </p:sp>
      <p:pic>
        <p:nvPicPr>
          <p:cNvPr id="4108" name="Picture 12" descr="Microsoft Word Belgesi PDF Formatına Nasıl Dönüştürülür - wikiHo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743" y="2216105"/>
            <a:ext cx="6212113" cy="330517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0" y="3405752"/>
            <a:ext cx="5834743" cy="1775847"/>
          </a:xfrm>
          <a:prstGeom prst="rect">
            <a:avLst/>
          </a:prstGeom>
        </p:spPr>
        <p:txBody>
          <a:bodyPr wrap="square">
            <a:spAutoFit/>
          </a:bodyPr>
          <a:lstStyle/>
          <a:p>
            <a:r>
              <a:rPr lang="az-Latn-AZ" b="1" dirty="0" smtClean="0"/>
              <a:t>. Microsoft Word sənədini açın:</a:t>
            </a:r>
          </a:p>
          <a:p>
            <a:r>
              <a:rPr lang="az-Latn-AZ" b="1" dirty="0" smtClean="0"/>
              <a:t>İlk olaraq, PDF-ə çevirmək istədiyiniz Microsoft Word sənədini açın.</a:t>
            </a:r>
          </a:p>
          <a:p>
            <a:r>
              <a:rPr lang="az-Latn-AZ" b="1" dirty="0" smtClean="0"/>
              <a:t>2. "Fayl" menyusuna keçin:</a:t>
            </a:r>
          </a:p>
          <a:p>
            <a:r>
              <a:rPr lang="az-Latn-AZ" b="1" dirty="0" smtClean="0"/>
              <a:t>Ekranın yuxarı sol hissəsində yerləşən "File" (Fayl) sekmesine klikləyin.</a:t>
            </a:r>
            <a:endParaRPr lang="az-Latn-AZ" b="1" dirty="0"/>
          </a:p>
        </p:txBody>
      </p:sp>
      <p:sp>
        <p:nvSpPr>
          <p:cNvPr id="10" name="Rectangle 9"/>
          <p:cNvSpPr/>
          <p:nvPr/>
        </p:nvSpPr>
        <p:spPr>
          <a:xfrm>
            <a:off x="0" y="5206729"/>
            <a:ext cx="7866743" cy="1477328"/>
          </a:xfrm>
          <a:prstGeom prst="rect">
            <a:avLst/>
          </a:prstGeom>
        </p:spPr>
        <p:txBody>
          <a:bodyPr wrap="square">
            <a:spAutoFit/>
          </a:bodyPr>
          <a:lstStyle/>
          <a:p>
            <a:r>
              <a:rPr lang="az-Latn-AZ" b="1" dirty="0" smtClean="0"/>
              <a:t>3. "Export" və ya "Save As" seçin:</a:t>
            </a:r>
          </a:p>
          <a:p>
            <a:r>
              <a:rPr lang="az-Latn-AZ" b="1" dirty="0" smtClean="0"/>
              <a:t>Word versiyasına görə iki fərqli seçim ola bilər:</a:t>
            </a:r>
          </a:p>
          <a:p>
            <a:pPr>
              <a:buFont typeface="Arial" panose="020B0604020202020204" pitchFamily="34" charset="0"/>
              <a:buChar char="•"/>
            </a:pPr>
            <a:r>
              <a:rPr lang="az-Latn-AZ" b="1" dirty="0" smtClean="0"/>
              <a:t>Word 2013 və sonrakı versiyalarında:</a:t>
            </a:r>
          </a:p>
          <a:p>
            <a:pPr marL="742950" lvl="1" indent="-285750">
              <a:buFont typeface="Arial" panose="020B0604020202020204" pitchFamily="34" charset="0"/>
              <a:buChar char="•"/>
            </a:pPr>
            <a:r>
              <a:rPr lang="az-Latn-AZ" b="1" dirty="0" smtClean="0"/>
              <a:t>"Export" (İxrac et) seçimini seçin.</a:t>
            </a:r>
          </a:p>
          <a:p>
            <a:pPr marL="742950" lvl="1" indent="-285750">
              <a:buFont typeface="Arial" panose="020B0604020202020204" pitchFamily="34" charset="0"/>
              <a:buChar char="•"/>
            </a:pPr>
            <a:r>
              <a:rPr lang="az-Latn-AZ" b="1" dirty="0" smtClean="0"/>
              <a:t>Sonra "Create PDF/XPS Document" (PDF/XPS sənədi yarat) seç</a:t>
            </a:r>
            <a:r>
              <a:rPr lang="az-Latn-AZ" dirty="0" smtClean="0"/>
              <a:t>i</a:t>
            </a:r>
            <a:r>
              <a:rPr lang="en-US" dirty="0" smtClean="0"/>
              <a:t>n</a:t>
            </a:r>
            <a:endParaRPr lang="az-Latn-AZ" dirty="0" smtClean="0"/>
          </a:p>
        </p:txBody>
      </p:sp>
      <p:sp>
        <p:nvSpPr>
          <p:cNvPr id="11" name="Rectangle 10"/>
          <p:cNvSpPr/>
          <p:nvPr/>
        </p:nvSpPr>
        <p:spPr>
          <a:xfrm>
            <a:off x="6299200" y="5554302"/>
            <a:ext cx="6096000" cy="923330"/>
          </a:xfrm>
          <a:prstGeom prst="rect">
            <a:avLst/>
          </a:prstGeom>
        </p:spPr>
        <p:txBody>
          <a:bodyPr>
            <a:spAutoFit/>
          </a:bodyPr>
          <a:lstStyle/>
          <a:p>
            <a:r>
              <a:rPr lang="az-Latn-AZ" b="1" dirty="0" smtClean="0"/>
              <a:t>Optimize for Standard Publishing (Optimal çap üçün): Bu seçim PDF sənədini yüksək keyfiyyətli edir, amma fayl ölçüsünü böyüdür.</a:t>
            </a:r>
            <a:endParaRPr lang="ru-RU" b="1" dirty="0"/>
          </a:p>
        </p:txBody>
      </p:sp>
    </p:spTree>
    <p:extLst>
      <p:ext uri="{BB962C8B-B14F-4D97-AF65-F5344CB8AC3E}">
        <p14:creationId xmlns:p14="http://schemas.microsoft.com/office/powerpoint/2010/main" val="3343947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2" name="Picture 2" descr="Fayl və qovluqların paylaşılması — videodərs"/>
          <p:cNvPicPr>
            <a:picLocks noChangeAspect="1" noChangeArrowheads="1"/>
          </p:cNvPicPr>
          <p:nvPr/>
        </p:nvPicPr>
        <p:blipFill rotWithShape="1">
          <a:blip r:embed="rId2">
            <a:extLst>
              <a:ext uri="{28A0092B-C50C-407E-A947-70E740481C1C}">
                <a14:useLocalDpi xmlns:a14="http://schemas.microsoft.com/office/drawing/2010/main" val="0"/>
              </a:ext>
            </a:extLst>
          </a:blip>
          <a:srcRect b="9154"/>
          <a:stretch/>
        </p:blipFill>
        <p:spPr bwMode="auto">
          <a:xfrm>
            <a:off x="2177143" y="127951"/>
            <a:ext cx="6782254" cy="387799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0" y="127951"/>
            <a:ext cx="2177143" cy="5632311"/>
          </a:xfrm>
          <a:prstGeom prst="rect">
            <a:avLst/>
          </a:prstGeom>
        </p:spPr>
        <p:txBody>
          <a:bodyPr wrap="square">
            <a:spAutoFit/>
          </a:bodyPr>
          <a:lstStyle/>
          <a:p>
            <a:r>
              <a:rPr lang="az-Latn-AZ" b="1" dirty="0" smtClean="0"/>
              <a:t>Microsoft Word 365 və onun gələcək inkişafları haqqında məlumat vermək, həm proqramın hal-hazırda necə işlədiyini, həm də yaxın gələcəkdə hansı yeni xüsusiyyətlər və imkanlar gətirə biləcəyini başa düşməyə kömək edər. Aşağıda Microsoft Word 365 haqqında əsas məlumatlar və gələcək inkişaflarla bağlı gözlənilən yeniliklər verilmişdir</a:t>
            </a:r>
            <a:r>
              <a:rPr lang="az-Latn-AZ" dirty="0" smtClean="0"/>
              <a:t>.</a:t>
            </a:r>
            <a:endParaRPr lang="ru-RU" dirty="0"/>
          </a:p>
        </p:txBody>
      </p:sp>
      <p:sp>
        <p:nvSpPr>
          <p:cNvPr id="3" name="Rectangle 2"/>
          <p:cNvSpPr/>
          <p:nvPr/>
        </p:nvSpPr>
        <p:spPr>
          <a:xfrm>
            <a:off x="9144000" y="127951"/>
            <a:ext cx="2888343" cy="6740307"/>
          </a:xfrm>
          <a:prstGeom prst="rect">
            <a:avLst/>
          </a:prstGeom>
        </p:spPr>
        <p:txBody>
          <a:bodyPr wrap="square">
            <a:spAutoFit/>
          </a:bodyPr>
          <a:lstStyle/>
          <a:p>
            <a:r>
              <a:rPr lang="az-Latn-AZ" b="1" dirty="0" smtClean="0"/>
              <a:t>Microsoft Word 365 aşağıdakı əsas xüsusiyyətləri ilə seçilir:</a:t>
            </a:r>
          </a:p>
          <a:p>
            <a:pPr>
              <a:buFont typeface="Arial" panose="020B0604020202020204" pitchFamily="34" charset="0"/>
              <a:buChar char="•"/>
            </a:pPr>
            <a:r>
              <a:rPr lang="az-Latn-AZ" b="1" dirty="0" smtClean="0"/>
              <a:t>Bulud əsaslı xidmətlər: Sənədlər OneDrive ilə sinxronizasiya olunur və müxtəlif cihazlardan rahatlıqla əldə edilə bilər.</a:t>
            </a:r>
          </a:p>
          <a:p>
            <a:pPr>
              <a:buFont typeface="Arial" panose="020B0604020202020204" pitchFamily="34" charset="0"/>
              <a:buChar char="•"/>
            </a:pPr>
            <a:r>
              <a:rPr lang="az-Latn-AZ" b="1" dirty="0" smtClean="0"/>
              <a:t>Əməkdaşlıq alətləri: Bir sənəd üzərində real vaxtda bir neçə istifadəçinin paralel olaraq işləməsi mümkündür.</a:t>
            </a:r>
          </a:p>
          <a:p>
            <a:pPr>
              <a:buFont typeface="Arial" panose="020B0604020202020204" pitchFamily="34" charset="0"/>
              <a:buChar char="•"/>
            </a:pPr>
            <a:r>
              <a:rPr lang="az-Latn-AZ" b="1" dirty="0" smtClean="0"/>
              <a:t>Avtomatik yeniləmələr: Microsoft 365 abunəçiləri, proqramın yeni xüsusiyyətlərindən və təhlükəsizlik yeniləmələrindən dərhal faydalana bilirlər.</a:t>
            </a:r>
          </a:p>
          <a:p>
            <a:pPr>
              <a:buFont typeface="Arial" panose="020B0604020202020204" pitchFamily="34" charset="0"/>
              <a:buChar char="•"/>
            </a:pPr>
            <a:r>
              <a:rPr lang="az-Latn-AZ" b="1" dirty="0" smtClean="0"/>
              <a:t>Yeni alətlər və xüsusiyyətlər: AI (süni intellekt) texnologiyaları ilə dəstəklənən yeni yazı və redaktə alətləri.</a:t>
            </a:r>
            <a:endParaRPr lang="az-Latn-AZ" b="1" dirty="0"/>
          </a:p>
        </p:txBody>
      </p:sp>
      <p:sp>
        <p:nvSpPr>
          <p:cNvPr id="4" name="Rectangle 3"/>
          <p:cNvSpPr/>
          <p:nvPr/>
        </p:nvSpPr>
        <p:spPr>
          <a:xfrm>
            <a:off x="2361746" y="4151086"/>
            <a:ext cx="6346825" cy="2031325"/>
          </a:xfrm>
          <a:prstGeom prst="rect">
            <a:avLst/>
          </a:prstGeom>
        </p:spPr>
        <p:txBody>
          <a:bodyPr wrap="square">
            <a:spAutoFit/>
          </a:bodyPr>
          <a:lstStyle/>
          <a:p>
            <a:r>
              <a:rPr lang="az-Latn-AZ" b="1" dirty="0" smtClean="0"/>
              <a:t>Microsoft Word 365 Nədir?</a:t>
            </a:r>
          </a:p>
          <a:p>
            <a:r>
              <a:rPr lang="az-Latn-AZ" b="1" dirty="0" smtClean="0"/>
              <a:t>Microsoft Word 365, Microsoft 365 abunə xidməti daxilində mövcud olan bir versiyadır və Microsoft Word-un ən son versiyalarını ehtiva edir. Microsoft 365, bir neçə proqramı (Word, Excel, PowerPoint, OneNote və s.) bir araya gətirərək istifadəçilərə onlayn əməkdaşlıq, bulud saxlanması və yeni xüsusiyyətlər təklif edir.</a:t>
            </a:r>
            <a:endParaRPr lang="az-Latn-AZ" b="1" dirty="0"/>
          </a:p>
        </p:txBody>
      </p:sp>
    </p:spTree>
    <p:extLst>
      <p:ext uri="{BB962C8B-B14F-4D97-AF65-F5344CB8AC3E}">
        <p14:creationId xmlns:p14="http://schemas.microsoft.com/office/powerpoint/2010/main" val="542482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17000" cy="1325563"/>
          </a:xfrm>
        </p:spPr>
        <p:txBody>
          <a:bodyPr>
            <a:normAutofit/>
          </a:bodyPr>
          <a:lstStyle/>
          <a:p>
            <a:r>
              <a:rPr lang="en-US" sz="4000" b="1" dirty="0" smtClean="0"/>
              <a:t>“</a:t>
            </a:r>
            <a:r>
              <a:rPr lang="az-Latn-AZ" sz="4000" b="1" dirty="0" smtClean="0"/>
              <a:t>MİCROSOFT </a:t>
            </a:r>
            <a:r>
              <a:rPr lang="en-US" sz="4000" b="1" dirty="0" smtClean="0"/>
              <a:t>WORD” </a:t>
            </a:r>
            <a:r>
              <a:rPr lang="az-Latn-AZ" sz="4000" b="1" dirty="0" smtClean="0"/>
              <a:t>İSTİFADƏ SAHƏLƏRİ</a:t>
            </a:r>
            <a:endParaRPr lang="ru-RU" sz="4000" b="1" dirty="0"/>
          </a:p>
        </p:txBody>
      </p:sp>
      <p:pic>
        <p:nvPicPr>
          <p:cNvPr id="7170" name="Picture 2" descr="Word kursları"/>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4867" y="1013142"/>
            <a:ext cx="8207133" cy="46101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8667" y="1013142"/>
            <a:ext cx="3886200" cy="5632311"/>
          </a:xfrm>
          <a:prstGeom prst="rect">
            <a:avLst/>
          </a:prstGeom>
        </p:spPr>
        <p:txBody>
          <a:bodyPr wrap="square">
            <a:spAutoFit/>
          </a:bodyPr>
          <a:lstStyle/>
          <a:p>
            <a:r>
              <a:rPr lang="az-Latn-AZ" b="1" dirty="0" smtClean="0"/>
              <a:t>Microsoft Word, dünya üzrə ən geniş istifadə olunan mətn emalı proqramlarından biridir. Bu proqramın müxtəlif xüsusiyyətləri və funksiyaları onu hər sahədə geniş istifadə etməyə imkan verir. Microsoft Word-un istifadə sahələri çox genişdir və peşəkar həyat, təhsil, biznes, yazıçılıq, jurnalistika və şəxsi istifadə kimi bir çox sahələrdə mühüm rol oynayır. Aşağıda Microsoft Word-un müxtəlif istifadə sahələrini detallı şəkildə təqdim edirəm.</a:t>
            </a:r>
          </a:p>
          <a:p>
            <a:r>
              <a:rPr lang="az-Latn-AZ" b="1" dirty="0" smtClean="0"/>
              <a:t>1. Təhsil</a:t>
            </a:r>
          </a:p>
          <a:p>
            <a:r>
              <a:rPr lang="az-Latn-AZ" b="1" dirty="0" smtClean="0"/>
              <a:t>Microsoft Word, təhsil sahəsində çoxsaylı məqsədlər üçün istifadə olunur. Məktəblərdən universitetlərə qədər təhsil müəssisələrində müəllimlər və tələbələr tərəfindən aşağıdakı işlər üçün istifadə edilir:</a:t>
            </a:r>
            <a:endParaRPr lang="az-Latn-AZ" b="1" dirty="0"/>
          </a:p>
        </p:txBody>
      </p:sp>
    </p:spTree>
    <p:extLst>
      <p:ext uri="{BB962C8B-B14F-4D97-AF65-F5344CB8AC3E}">
        <p14:creationId xmlns:p14="http://schemas.microsoft.com/office/powerpoint/2010/main" val="4116188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194" name="Picture 2" descr="11 Ən Yaxşı Word Hesabatı Şablon Saytları (2024) [PULSU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657" y="145145"/>
            <a:ext cx="5587998" cy="319314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11 Ən Yaxşı Word Broşür Şablon Saytları (2024) [PULSU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8513" y="1449158"/>
            <a:ext cx="5268686" cy="3282497"/>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11 Ən Yaxşı Word Biznes Plan Şablon Saytları (2024) [PULSUZ]"/>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285" y="3556001"/>
            <a:ext cx="5410199" cy="309154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350000" y="145145"/>
            <a:ext cx="6096000" cy="1200329"/>
          </a:xfrm>
          <a:prstGeom prst="rect">
            <a:avLst/>
          </a:prstGeom>
        </p:spPr>
        <p:txBody>
          <a:bodyPr>
            <a:spAutoFit/>
          </a:bodyPr>
          <a:lstStyle/>
          <a:p>
            <a:r>
              <a:rPr lang="az-Latn-AZ" b="1" dirty="0" smtClean="0"/>
              <a:t>Word-də şablon düzəltmək" (yəni, Microsoft Word proqramında şablon düzəltmək) ifadəsi, bir şablonun (template) üzərində dəyişikliklər etmək və ya onu öz tələblərinizə uyğunlaşdırmaq</a:t>
            </a:r>
            <a:endParaRPr lang="ru-RU" b="1" dirty="0"/>
          </a:p>
        </p:txBody>
      </p:sp>
      <p:sp>
        <p:nvSpPr>
          <p:cNvPr id="3" name="Rectangle 2"/>
          <p:cNvSpPr/>
          <p:nvPr/>
        </p:nvSpPr>
        <p:spPr>
          <a:xfrm>
            <a:off x="6208484" y="4949369"/>
            <a:ext cx="6096000" cy="1200329"/>
          </a:xfrm>
          <a:prstGeom prst="rect">
            <a:avLst/>
          </a:prstGeom>
        </p:spPr>
        <p:txBody>
          <a:bodyPr>
            <a:spAutoFit/>
          </a:bodyPr>
          <a:lstStyle/>
          <a:p>
            <a:r>
              <a:rPr lang="az-Latn-AZ" b="1" dirty="0" smtClean="0"/>
              <a:t>Word-də şablon, müəyyən bir sənədin strukturunu, formatını və dizaynını müəyyən edən bir öncül (predefined) sənəddir. Bu şablonları istifadə edərək müxtəlif növ sənədlər (məsələn, məktublar, hesabatlar, cv-lər, təqdimatlar) yarada bilərsiniz</a:t>
            </a:r>
            <a:r>
              <a:rPr lang="az-Latn-AZ" dirty="0" smtClean="0"/>
              <a:t>.</a:t>
            </a:r>
            <a:endParaRPr lang="ru-RU" dirty="0"/>
          </a:p>
        </p:txBody>
      </p:sp>
    </p:spTree>
    <p:extLst>
      <p:ext uri="{BB962C8B-B14F-4D97-AF65-F5344CB8AC3E}">
        <p14:creationId xmlns:p14="http://schemas.microsoft.com/office/powerpoint/2010/main" val="1447151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294408570"/>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27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16114" y="320827"/>
            <a:ext cx="11698514" cy="1754326"/>
          </a:xfrm>
          <a:prstGeom prst="rect">
            <a:avLst/>
          </a:prstGeom>
        </p:spPr>
        <p:txBody>
          <a:bodyPr wrap="square">
            <a:spAutoFit/>
          </a:bodyPr>
          <a:lstStyle/>
          <a:p>
            <a:r>
              <a:rPr lang="az-Latn-AZ" b="1" dirty="0" smtClean="0"/>
              <a:t>blar) istifadəçilərə sənədin müxtəlif hissələrini təşkil etməyə kömək edən bir xüsusiyyətdir. Bu xüsusiyyət, əsasən, "tab" açmağı və hər bir tabın i</a:t>
            </a:r>
            <a:r>
              <a:rPr lang="az-Latn-AZ" b="1" dirty="0" smtClean="0"/>
              <a:t>Word tabları (yəni, "Microsoft Word" proqramında ta</a:t>
            </a:r>
            <a:r>
              <a:rPr lang="az-Latn-AZ" b="1" dirty="0" smtClean="0"/>
              <a:t>çində fərqli sənəd və ya işləmə sahəsini göstərməyi asanlaşdırır. Beləliklə, istifadəçi bir neçə sənədi eyni vaxtda işləyə bilər və onlara sürətli şəkildə keçid edə bilər.</a:t>
            </a:r>
          </a:p>
          <a:p>
            <a:r>
              <a:rPr lang="az-Latn-AZ" b="1" dirty="0" smtClean="0"/>
              <a:t>Microsoft Word 2016, 2019, və Office 365 kimi versiyalarda "tab" funksiyası var, lakin əvvəllər, məsələn Word 2007 və 2010-da bu cür naviqasiya xüsusiyyətləri olmamışdı. Ancaq modern versiyalarında bu, xüsusilə böyük sənədlərlə işləyərkən və bir neçə sənəd üzərində paralel işləyərkən çox faydalıdır.</a:t>
            </a:r>
            <a:endParaRPr lang="az-Latn-AZ" b="1" dirty="0"/>
          </a:p>
        </p:txBody>
      </p:sp>
      <p:sp>
        <p:nvSpPr>
          <p:cNvPr id="3" name="Rectangle 2"/>
          <p:cNvSpPr/>
          <p:nvPr/>
        </p:nvSpPr>
        <p:spPr>
          <a:xfrm>
            <a:off x="116114" y="2075153"/>
            <a:ext cx="8432800" cy="3416320"/>
          </a:xfrm>
          <a:prstGeom prst="rect">
            <a:avLst/>
          </a:prstGeom>
        </p:spPr>
        <p:txBody>
          <a:bodyPr wrap="square">
            <a:spAutoFit/>
          </a:bodyPr>
          <a:lstStyle/>
          <a:p>
            <a:r>
              <a:rPr lang="az-Latn-AZ" b="1" dirty="0" smtClean="0"/>
              <a:t>Tabları necə istifadə etmək olar?</a:t>
            </a:r>
          </a:p>
          <a:p>
            <a:pPr>
              <a:buFont typeface="Arial" panose="020B0604020202020204" pitchFamily="34" charset="0"/>
              <a:buChar char="•"/>
            </a:pPr>
            <a:r>
              <a:rPr lang="az-Latn-AZ" b="1" dirty="0" smtClean="0"/>
              <a:t>Bir neçə sənəd açmaq: Hər bir sənəd ayrı bir tabda açılır. Tablar ekranın üst hissəsində yerləşir və istifadəçi istədiyi sənədə keçid edə bilər.</a:t>
            </a:r>
          </a:p>
          <a:p>
            <a:pPr>
              <a:buFont typeface="Arial" panose="020B0604020202020204" pitchFamily="34" charset="0"/>
              <a:buChar char="•"/>
            </a:pPr>
            <a:r>
              <a:rPr lang="az-Latn-AZ" b="1" dirty="0" smtClean="0"/>
              <a:t>Tablar arasında keçid etmək: Bir sənədi seçmək üçün tabın üzərinə klikləyin. Bu, həmin sənədi aktivləşdirir.</a:t>
            </a:r>
          </a:p>
          <a:p>
            <a:pPr>
              <a:buFont typeface="Arial" panose="020B0604020202020204" pitchFamily="34" charset="0"/>
              <a:buChar char="•"/>
            </a:pPr>
            <a:r>
              <a:rPr lang="az-Latn-AZ" b="1" dirty="0" smtClean="0"/>
              <a:t>Yeni tab açmaq: Yeni sənəd yaratmaq üçün "File" menyusundan "New" seçiminə gedə bilərsiniz və ya "Ctrl+N" qısa yolunu istifadə edərək yeni tab açmaq mümkündür.</a:t>
            </a:r>
          </a:p>
          <a:p>
            <a:r>
              <a:rPr lang="az-Latn-AZ" b="1" dirty="0" smtClean="0"/>
              <a:t>Tablar haqqında əlavə məlumat:</a:t>
            </a:r>
          </a:p>
          <a:p>
            <a:pPr>
              <a:buFont typeface="Arial" panose="020B0604020202020204" pitchFamily="34" charset="0"/>
              <a:buChar char="•"/>
            </a:pPr>
            <a:r>
              <a:rPr lang="az-Latn-AZ" b="1" dirty="0" smtClean="0"/>
              <a:t>Tab key: Bu "Tab" düyməsi, yazı yazarkən mətnin növbəti sütuna keçməsini təmin edir. Məsələn, yazı sahəsində mətni daha rahat düzəltmək üçün istifadə edilə bilər.</a:t>
            </a:r>
          </a:p>
          <a:p>
            <a:pPr>
              <a:buFont typeface="Arial" panose="020B0604020202020204" pitchFamily="34" charset="0"/>
              <a:buChar char="•"/>
            </a:pPr>
            <a:r>
              <a:rPr lang="az-Latn-AZ" b="1" dirty="0" smtClean="0"/>
              <a:t>Tab Stili: Tablar vasitəsilə yazılı mətnin quruluşunu dəyişdirmək və ya sətir aralığını müəyyənləşdirmək mümkündür.</a:t>
            </a:r>
            <a:endParaRPr lang="az-Latn-AZ" b="1" dirty="0"/>
          </a:p>
        </p:txBody>
      </p:sp>
      <p:sp>
        <p:nvSpPr>
          <p:cNvPr id="4" name="Rectangle 3"/>
          <p:cNvSpPr/>
          <p:nvPr/>
        </p:nvSpPr>
        <p:spPr>
          <a:xfrm>
            <a:off x="116114" y="5559129"/>
            <a:ext cx="11161486" cy="369332"/>
          </a:xfrm>
          <a:prstGeom prst="rect">
            <a:avLst/>
          </a:prstGeom>
        </p:spPr>
        <p:txBody>
          <a:bodyPr wrap="square">
            <a:spAutoFit/>
          </a:bodyPr>
          <a:lstStyle/>
          <a:p>
            <a:r>
              <a:rPr lang="az-Latn-AZ" b="1" dirty="0" smtClean="0"/>
              <a:t>Əgər xüsusi bir məsələyə və ya funksiyaya dair sualınız varsa, daha ətraflı izah edə bilərəm.</a:t>
            </a:r>
            <a:endParaRPr lang="ru-RU" b="1" dirty="0"/>
          </a:p>
        </p:txBody>
      </p:sp>
      <p:pic>
        <p:nvPicPr>
          <p:cNvPr id="9218" name="Picture 2" descr="How To Set Tabs In Microsoft Wo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8914" y="2142808"/>
            <a:ext cx="3643086" cy="3532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318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116114" y="4053453"/>
            <a:ext cx="6096000" cy="2031325"/>
          </a:xfrm>
          <a:prstGeom prst="rect">
            <a:avLst/>
          </a:prstGeom>
        </p:spPr>
        <p:txBody>
          <a:bodyPr>
            <a:spAutoFit/>
          </a:bodyPr>
          <a:lstStyle/>
          <a:p>
            <a:pPr>
              <a:buFont typeface="Arial" panose="020B0604020202020204" pitchFamily="34" charset="0"/>
              <a:buChar char="•"/>
            </a:pPr>
            <a:r>
              <a:rPr lang="az-Latn-AZ" b="1" dirty="0" smtClean="0"/>
              <a:t>Sənəd paylaşmaq: Word sənədini birbaşa e-poçt vasitəsilə və ya bulud xidmətlərində (OneDrive, Google Drive və s.) paylaşmaq mümkündür.</a:t>
            </a:r>
          </a:p>
          <a:p>
            <a:pPr>
              <a:buFont typeface="Arial" panose="020B0604020202020204" pitchFamily="34" charset="0"/>
              <a:buChar char="•"/>
            </a:pPr>
            <a:r>
              <a:rPr lang="az-Latn-AZ" b="1" dirty="0" smtClean="0"/>
              <a:t>Tablo və Qrafiklər: Daha kompleks sənədlər yaratmaq üçün cədvəllər və qrafiklər əlavə edə bilərsiniz. "Insert" tabında Chart seçərək qrafiklər əlavə edə bilərsiniz.</a:t>
            </a:r>
          </a:p>
          <a:p>
            <a:r>
              <a:rPr lang="az-Latn-AZ" b="1" dirty="0" smtClean="0"/>
              <a:t>9. Qısa Yollar</a:t>
            </a:r>
            <a:endParaRPr lang="az-Latn-AZ" b="1" dirty="0"/>
          </a:p>
        </p:txBody>
      </p:sp>
      <p:pic>
        <p:nvPicPr>
          <p:cNvPr id="10243" name="Picture 3" descr="When a tab is not just a tab, part 1: decimal tabs - Legal Office Guru"/>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7600" y="1030454"/>
            <a:ext cx="3875742" cy="218010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6"/>
          <p:cNvSpPr>
            <a:spLocks noChangeArrowheads="1"/>
          </p:cNvSpPr>
          <p:nvPr/>
        </p:nvSpPr>
        <p:spPr bwMode="auto">
          <a:xfrm>
            <a:off x="116114" y="81488"/>
            <a:ext cx="7351486" cy="4078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1. Word-də İşə Başlamaq</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Əgər Word-də yeni bir sənəd yaratmaq istəyirsinizsə, bunu bir neçə şəkildə edə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Yeni sənəd yaratmaq: </a:t>
            </a:r>
            <a:r>
              <a:rPr kumimoji="0" lang="az-Latn-AZ" altLang="ru-RU" sz="1000" b="1" i="0" u="none" strike="noStrike" cap="none" normalizeH="0" baseline="0" dirty="0" smtClean="0">
                <a:ln>
                  <a:noFill/>
                </a:ln>
                <a:solidFill>
                  <a:schemeClr val="tx1"/>
                </a:solidFill>
                <a:effectLst/>
                <a:latin typeface="Arial Unicode MS"/>
              </a:rPr>
              <a:t>Ctrl + N</a:t>
            </a:r>
            <a:r>
              <a:rPr kumimoji="0" lang="az-Latn-AZ" altLang="ru-RU" sz="1100" b="1" i="0" u="none" strike="noStrike" cap="none" normalizeH="0" baseline="0" dirty="0" smtClean="0">
                <a:ln>
                  <a:noFill/>
                </a:ln>
                <a:solidFill>
                  <a:schemeClr val="tx1"/>
                </a:solidFill>
                <a:effectLst/>
              </a:rPr>
              <a:t> düyməsini basaraq və ya proqramı açaraq yeni bir sənəd başlada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Mövcud sənəd açmaq: </a:t>
            </a:r>
            <a:r>
              <a:rPr kumimoji="0" lang="az-Latn-AZ" altLang="ru-RU" sz="1000" b="1" i="0" u="none" strike="noStrike" cap="none" normalizeH="0" baseline="0" dirty="0" smtClean="0">
                <a:ln>
                  <a:noFill/>
                </a:ln>
                <a:solidFill>
                  <a:schemeClr val="tx1"/>
                </a:solidFill>
                <a:effectLst/>
                <a:latin typeface="Arial Unicode MS"/>
              </a:rPr>
              <a:t>Ctrl + O</a:t>
            </a:r>
            <a:r>
              <a:rPr kumimoji="0" lang="az-Latn-AZ" altLang="ru-RU" sz="1100" b="1" i="0" u="none" strike="noStrike" cap="none" normalizeH="0" baseline="0" dirty="0" smtClean="0">
                <a:ln>
                  <a:noFill/>
                </a:ln>
                <a:solidFill>
                  <a:schemeClr val="tx1"/>
                </a:solidFill>
                <a:effectLst/>
              </a:rPr>
              <a:t> istifadə edərək əvvəlcədən saxlanmış sənədi açın.</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2. Mətnin Formatlanması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Yazı Tipi və Ölçüsü</a:t>
            </a:r>
            <a:r>
              <a:rPr kumimoji="0" lang="az-Latn-AZ" altLang="ru-RU" sz="1800" b="1" i="0" u="none" strike="noStrike" cap="none" normalizeH="0" baseline="0" dirty="0" smtClean="0">
                <a:ln>
                  <a:noFill/>
                </a:ln>
                <a:solidFill>
                  <a:schemeClr val="tx1"/>
                </a:solidFill>
                <a:effectLst/>
                <a:latin typeface="Arial" panose="020B0604020202020204" pitchFamily="34" charset="0"/>
              </a:rPr>
              <a:t>: Yazının görünüşünü dəyişdirmək üçün yuxarıdakı "Home" (Ana səhifə) sekmesindəki Font hissəsini istifadə edin. Buradan yazı tipini, ölçüsünü və stilini (qalın, italik, altı xəttli və s.) dəyişə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Sətir Aralığı: Mətnin sətir aralığını tənzimləmək üçün "Paragraph" (Abzas) bölməsindən istifadə edin. Burada, həmçinin, abzasın hizalanmasını da seçə bilərsiniz (sola, sağa, mərkəzə və ya iki tərəfə).</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1" i="0" u="none" strike="noStrike" cap="none" normalizeH="0" baseline="0" dirty="0" smtClean="0">
              <a:ln>
                <a:noFill/>
              </a:ln>
              <a:solidFill>
                <a:schemeClr val="tx1"/>
              </a:solidFill>
              <a:effectLst/>
              <a:latin typeface="Arial" panose="020B0604020202020204" pitchFamily="34" charset="0"/>
            </a:endParaRPr>
          </a:p>
        </p:txBody>
      </p:sp>
      <p:pic>
        <p:nvPicPr>
          <p:cNvPr id="10248" name="Picture 8" descr="Microsoft Word - Replace Multiple Spaces with a Tab Charac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2114" y="3845395"/>
            <a:ext cx="5693253" cy="2802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150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266" name="Picture 2" descr="CTRL və digər düymələrin Word, Excel-də istifadəsi - CTRL.a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89" y="232229"/>
            <a:ext cx="4572000" cy="25527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Konuşmak · kelime · ikon · mavi · klavye · düğme - stok fotoğraf ©  fotoscool (#2280899) | Stockfres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318" y="2612571"/>
            <a:ext cx="3672114" cy="367211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5"/>
          <p:cNvSpPr>
            <a:spLocks noChangeArrowheads="1"/>
          </p:cNvSpPr>
          <p:nvPr/>
        </p:nvSpPr>
        <p:spPr bwMode="auto">
          <a:xfrm>
            <a:off x="4974318" y="543185"/>
            <a:ext cx="6891383"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300" b="1" i="0" u="none" strike="noStrike" cap="none" normalizeH="0" baseline="0" dirty="0" smtClean="0">
                <a:ln>
                  <a:noFill/>
                </a:ln>
                <a:solidFill>
                  <a:schemeClr val="tx1"/>
                </a:solidFill>
                <a:effectLst/>
                <a:latin typeface="Arial" panose="020B0604020202020204" pitchFamily="34" charset="0"/>
              </a:rPr>
              <a:t>1</a:t>
            </a:r>
            <a:r>
              <a:rPr kumimoji="0" lang="az-Latn-AZ" altLang="ru-RU" sz="1300" b="1" i="0" u="none" strike="noStrike" cap="none" normalizeH="0" baseline="0" dirty="0" smtClean="0">
                <a:ln>
                  <a:noFill/>
                </a:ln>
                <a:solidFill>
                  <a:schemeClr val="tx1"/>
                </a:solidFill>
                <a:effectLst/>
                <a:latin typeface="Arial" panose="020B0604020202020204" pitchFamily="34" charset="0"/>
              </a:rPr>
              <a:t>. Home Tab (Ana səhifə tabı)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Bold (B)</a:t>
            </a:r>
            <a:r>
              <a:rPr kumimoji="0" lang="az-Latn-AZ" altLang="ru-RU" sz="1800" b="1" i="0" u="none" strike="noStrike" cap="none" normalizeH="0" baseline="0" dirty="0" smtClean="0">
                <a:ln>
                  <a:noFill/>
                </a:ln>
                <a:solidFill>
                  <a:schemeClr val="tx1"/>
                </a:solidFill>
                <a:effectLst/>
                <a:latin typeface="Arial" panose="020B0604020202020204" pitchFamily="34" charset="0"/>
              </a:rPr>
              <a:t>: Qalın mətn yazmaq üçün istifadə edilir. </a:t>
            </a:r>
            <a:r>
              <a:rPr kumimoji="0" lang="az-Latn-AZ" altLang="ru-RU" sz="1000" b="1" i="0" u="none" strike="noStrike" cap="none" normalizeH="0" baseline="0" dirty="0" smtClean="0">
                <a:ln>
                  <a:noFill/>
                </a:ln>
                <a:solidFill>
                  <a:schemeClr val="tx1"/>
                </a:solidFill>
                <a:effectLst/>
                <a:latin typeface="Arial Unicode MS"/>
              </a:rPr>
              <a:t>Ctrl + B</a:t>
            </a:r>
            <a:r>
              <a:rPr kumimoji="0" lang="az-Latn-AZ" altLang="ru-RU" sz="1100" b="1" i="0" u="none" strike="noStrike" cap="none" normalizeH="0" baseline="0" dirty="0" smtClean="0">
                <a:ln>
                  <a:noFill/>
                </a:ln>
                <a:solidFill>
                  <a:schemeClr val="tx1"/>
                </a:solidFill>
                <a:effectLst/>
              </a:rPr>
              <a:t> ilə qısa yolla aktivləşdirə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Italic (I): İtalik mətn yazmaq üçün istifadə edilir. </a:t>
            </a:r>
            <a:r>
              <a:rPr kumimoji="0" lang="az-Latn-AZ" altLang="ru-RU" sz="1000" b="1" i="0" u="none" strike="noStrike" cap="none" normalizeH="0" baseline="0" dirty="0" smtClean="0">
                <a:ln>
                  <a:noFill/>
                </a:ln>
                <a:solidFill>
                  <a:schemeClr val="tx1"/>
                </a:solidFill>
                <a:effectLst/>
                <a:latin typeface="Arial Unicode MS"/>
              </a:rPr>
              <a:t>Ctrl + I</a:t>
            </a:r>
            <a:r>
              <a:rPr kumimoji="0" lang="az-Latn-AZ" altLang="ru-RU" sz="1100" b="1" i="0" u="none" strike="noStrike" cap="none" normalizeH="0" baseline="0" dirty="0" smtClean="0">
                <a:ln>
                  <a:noFill/>
                </a:ln>
                <a:solidFill>
                  <a:schemeClr val="tx1"/>
                </a:solidFill>
                <a:effectLst/>
              </a:rPr>
              <a:t> ilə qısa yolla aktivləşdirə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Underline (U): Altı xəttli mətn yazmaq üçün istifadə edilir. </a:t>
            </a:r>
            <a:r>
              <a:rPr kumimoji="0" lang="az-Latn-AZ" altLang="ru-RU" sz="1000" b="1" i="0" u="none" strike="noStrike" cap="none" normalizeH="0" baseline="0" dirty="0" smtClean="0">
                <a:ln>
                  <a:noFill/>
                </a:ln>
                <a:solidFill>
                  <a:schemeClr val="tx1"/>
                </a:solidFill>
                <a:effectLst/>
                <a:latin typeface="Arial Unicode MS"/>
              </a:rPr>
              <a:t>Ctrl + U</a:t>
            </a:r>
            <a:r>
              <a:rPr kumimoji="0" lang="az-Latn-AZ" altLang="ru-RU" sz="1100" b="1" i="0" u="none" strike="noStrike" cap="none" normalizeH="0" baseline="0" dirty="0" smtClean="0">
                <a:ln>
                  <a:noFill/>
                </a:ln>
                <a:solidFill>
                  <a:schemeClr val="tx1"/>
                </a:solidFill>
                <a:effectLst/>
              </a:rPr>
              <a:t> ilə qısa yolla aktivləşdirə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Font Size: Mətnin ölçüsünü dəyişmək üçün istifadə edilir.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Font Color: Mətnin rəngini dəyişmək üçün istifadə edilir.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Text Highlight Color: Mətnin üzərinə rənglə vurğu etmək üçün istifadə edilir.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Align Text Left: Mətnin sola hizalanması üçün düymədir.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Center Text: Mətnin orta hizalanması üçün düymədir.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Align Text Right: Mətnin sağa hizalanması üçün düymədir.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Justify: Mətnin iki tərəfli hizalanması üçün istifadə edilir.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Bullets: Mətnə nöqtəli siyahı əlavə etmək üçün istifadə edilir.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Numbering: Mətnə nömrəli siyahı əlavə etmək üçün istifadə edilir.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4974318" y="5084356"/>
            <a:ext cx="6096000" cy="1200329"/>
          </a:xfrm>
          <a:prstGeom prst="rect">
            <a:avLst/>
          </a:prstGeom>
        </p:spPr>
        <p:txBody>
          <a:bodyPr>
            <a:spAutoFit/>
          </a:bodyPr>
          <a:lstStyle/>
          <a:p>
            <a:r>
              <a:rPr lang="az-Latn-AZ" b="1" dirty="0" smtClean="0"/>
              <a:t>Word-də Cədvəllər ilə işləyərkən formulalar əlavə etmək və hesablama aparmaq mümkündür:</a:t>
            </a:r>
          </a:p>
          <a:p>
            <a:pPr>
              <a:buFont typeface="Arial" panose="020B0604020202020204" pitchFamily="34" charset="0"/>
              <a:buChar char="•"/>
            </a:pPr>
            <a:r>
              <a:rPr lang="az-Latn-AZ" b="1" dirty="0" smtClean="0"/>
              <a:t>Insert Formula: Cədvəl hüceyrələrində sadə hesablama və ya statistik əməliyyatlar aparmaq üçün istifadə edilir.</a:t>
            </a:r>
            <a:endParaRPr lang="az-Latn-AZ" b="1" dirty="0"/>
          </a:p>
        </p:txBody>
      </p:sp>
    </p:spTree>
    <p:extLst>
      <p:ext uri="{BB962C8B-B14F-4D97-AF65-F5344CB8AC3E}">
        <p14:creationId xmlns:p14="http://schemas.microsoft.com/office/powerpoint/2010/main" val="1154200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16115" y="120588"/>
            <a:ext cx="11625942" cy="3139321"/>
          </a:xfrm>
          <a:prstGeom prst="rect">
            <a:avLst/>
          </a:prstGeom>
        </p:spPr>
        <p:txBody>
          <a:bodyPr wrap="square">
            <a:spAutoFit/>
          </a:bodyPr>
          <a:lstStyle/>
          <a:p>
            <a:r>
              <a:rPr lang="az-Latn-AZ" b="1" dirty="0" smtClean="0"/>
              <a:t>3. Page Layout Tab (Səhifə dizaynı tabı)</a:t>
            </a:r>
          </a:p>
          <a:p>
            <a:pPr>
              <a:buFont typeface="Arial" panose="020B0604020202020204" pitchFamily="34" charset="0"/>
              <a:buChar char="•"/>
            </a:pPr>
            <a:r>
              <a:rPr lang="az-Latn-AZ" b="1" dirty="0" smtClean="0"/>
              <a:t>Margins: Səhifə kənarları (marginalar) təyin etmək üçün istifadə olunur.</a:t>
            </a:r>
          </a:p>
          <a:p>
            <a:pPr>
              <a:buFont typeface="Arial" panose="020B0604020202020204" pitchFamily="34" charset="0"/>
              <a:buChar char="•"/>
            </a:pPr>
            <a:r>
              <a:rPr lang="az-Latn-AZ" b="1" dirty="0" smtClean="0"/>
              <a:t>Orientation: Səhifənin istiqamətini dəyişdirmək üçün (Şaquli və ya Üfüqi).</a:t>
            </a:r>
          </a:p>
          <a:p>
            <a:pPr>
              <a:buFont typeface="Arial" panose="020B0604020202020204" pitchFamily="34" charset="0"/>
              <a:buChar char="•"/>
            </a:pPr>
            <a:r>
              <a:rPr lang="az-Latn-AZ" b="1" dirty="0" smtClean="0"/>
              <a:t>Size: Səhifə ölçüsünü dəyişdirmək üçün istifadə olunur.</a:t>
            </a:r>
          </a:p>
          <a:p>
            <a:pPr>
              <a:buFont typeface="Arial" panose="020B0604020202020204" pitchFamily="34" charset="0"/>
              <a:buChar char="•"/>
            </a:pPr>
            <a:r>
              <a:rPr lang="az-Latn-AZ" b="1" dirty="0" smtClean="0"/>
              <a:t>Columns: Mətnin sütunlara bölünməsi üçün istifadə olunur.</a:t>
            </a:r>
          </a:p>
          <a:p>
            <a:pPr>
              <a:buFont typeface="Arial" panose="020B0604020202020204" pitchFamily="34" charset="0"/>
              <a:buChar char="•"/>
            </a:pPr>
            <a:r>
              <a:rPr lang="az-Latn-AZ" b="1" dirty="0" smtClean="0"/>
              <a:t>Breaks: Səhifə qırılması (page break) və ya abzas qırılması (section break) əlavə etmək üçün istifadə olunur.</a:t>
            </a:r>
          </a:p>
          <a:p>
            <a:r>
              <a:rPr lang="az-Latn-AZ" b="1" dirty="0" smtClean="0"/>
              <a:t>4. Review Tab (Gözdən keçirmə tabı)</a:t>
            </a:r>
          </a:p>
          <a:p>
            <a:pPr>
              <a:buFont typeface="Arial" panose="020B0604020202020204" pitchFamily="34" charset="0"/>
              <a:buChar char="•"/>
            </a:pPr>
            <a:r>
              <a:rPr lang="az-Latn-AZ" b="1" dirty="0" smtClean="0"/>
              <a:t>Spelling &amp; Grammar: Yazım səhvləri və qrammatik səhvləri yoxlamaq üçün istifadə olunur.</a:t>
            </a:r>
          </a:p>
          <a:p>
            <a:pPr>
              <a:buFont typeface="Arial" panose="020B0604020202020204" pitchFamily="34" charset="0"/>
              <a:buChar char="•"/>
            </a:pPr>
            <a:r>
              <a:rPr lang="az-Latn-AZ" b="1" dirty="0" smtClean="0"/>
              <a:t>Thesaurus: Sinonimlər və antonomimlər axtarmaq üçün istifadə olunur.</a:t>
            </a:r>
          </a:p>
          <a:p>
            <a:pPr>
              <a:buFont typeface="Arial" panose="020B0604020202020204" pitchFamily="34" charset="0"/>
              <a:buChar char="•"/>
            </a:pPr>
            <a:r>
              <a:rPr lang="az-Latn-AZ" b="1" dirty="0" smtClean="0"/>
              <a:t>Track Changes: Dəyişiklikləri izləmək funksiyasını aktivləşdirmək üçün istifadə olunur.</a:t>
            </a:r>
          </a:p>
          <a:p>
            <a:pPr>
              <a:buFont typeface="Arial" panose="020B0604020202020204" pitchFamily="34" charset="0"/>
              <a:buChar char="•"/>
            </a:pPr>
            <a:r>
              <a:rPr lang="az-Latn-AZ" b="1" dirty="0" smtClean="0"/>
              <a:t>Comments: Şərh əlavə etmək və ya mövcud şərhləri oxumaq üçün istifadə olunur.</a:t>
            </a:r>
            <a:endParaRPr lang="az-Latn-AZ" b="1" dirty="0"/>
          </a:p>
        </p:txBody>
      </p:sp>
      <p:sp>
        <p:nvSpPr>
          <p:cNvPr id="3" name="Rectangle 1"/>
          <p:cNvSpPr>
            <a:spLocks noChangeArrowheads="1"/>
          </p:cNvSpPr>
          <p:nvPr/>
        </p:nvSpPr>
        <p:spPr bwMode="auto">
          <a:xfrm>
            <a:off x="116115" y="3322743"/>
            <a:ext cx="10370211"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5. View Tab (Görünüş tabı)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Print Layout</a:t>
            </a:r>
            <a:r>
              <a:rPr kumimoji="0" lang="az-Latn-AZ" altLang="ru-RU" sz="1800" b="1" i="0" u="none" strike="noStrike" cap="none" normalizeH="0" baseline="0" dirty="0" smtClean="0">
                <a:ln>
                  <a:noFill/>
                </a:ln>
                <a:solidFill>
                  <a:schemeClr val="tx1"/>
                </a:solidFill>
                <a:effectLst/>
                <a:latin typeface="Arial" panose="020B0604020202020204" pitchFamily="34" charset="0"/>
              </a:rPr>
              <a:t>: Çap üçün görünüş rejimini aktivləşdirmək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Web Layout: Veb səhifəsi görünüşünü aktivləşdirmək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Outline: Abzasları və başlıqları görmək və tənzimləmək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Zoom: Sənədin zoom səviyyəsini (böyütmə və ya kiçiltmə) dəyişdirmək üçün istifadə olunur.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6. File Tab (Fayl tabı)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New</a:t>
            </a:r>
            <a:r>
              <a:rPr kumimoji="0" lang="az-Latn-AZ" altLang="ru-RU" sz="1800" b="1" i="0" u="none" strike="noStrike" cap="none" normalizeH="0" baseline="0" dirty="0" smtClean="0">
                <a:ln>
                  <a:noFill/>
                </a:ln>
                <a:solidFill>
                  <a:schemeClr val="tx1"/>
                </a:solidFill>
                <a:effectLst/>
                <a:latin typeface="Arial" panose="020B0604020202020204" pitchFamily="34" charset="0"/>
              </a:rPr>
              <a:t>: Yeni sənəd yaratmaq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Open: Mövcud bir sənədi açmaq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Save: Mövcud sənədi yadda saxlamaq üçün istifadə olunur. </a:t>
            </a:r>
            <a:r>
              <a:rPr kumimoji="0" lang="az-Latn-AZ" altLang="ru-RU" sz="1000" b="1" i="0" u="none" strike="noStrike" cap="none" normalizeH="0" baseline="0" dirty="0" smtClean="0">
                <a:ln>
                  <a:noFill/>
                </a:ln>
                <a:solidFill>
                  <a:schemeClr val="tx1"/>
                </a:solidFill>
                <a:effectLst/>
                <a:latin typeface="Arial Unicode MS"/>
              </a:rPr>
              <a:t>Ctrl + S</a:t>
            </a:r>
            <a:r>
              <a:rPr kumimoji="0" lang="az-Latn-AZ" altLang="ru-RU" sz="1100" b="1" i="0" u="none" strike="noStrike" cap="none" normalizeH="0" baseline="0" dirty="0" smtClean="0">
                <a:ln>
                  <a:noFill/>
                </a:ln>
                <a:solidFill>
                  <a:schemeClr val="tx1"/>
                </a:solidFill>
                <a:effectLst/>
              </a:rPr>
              <a:t> ilə qısa yolla saxlaya bilərsiniz.</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Save As: Sənədi fərqli adla və ya formatda yadda saxlamaq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Print: Sənədi çap etmək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Share: Sənədi başqaları ilə paylaşmaq üçün istifadə olunur.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9494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891211" y="2066199"/>
            <a:ext cx="7816669" cy="1325563"/>
          </a:xfrm>
        </p:spPr>
        <p:txBody>
          <a:bodyPr>
            <a:normAutofit/>
          </a:bodyPr>
          <a:lstStyle/>
          <a:p>
            <a:r>
              <a:rPr lang="az-Latn-AZ" b="1" dirty="0" smtClean="0"/>
              <a:t>İZLƏDİYİNİZ ÜÇÜN TƏŞƏKKÜRLƏR!</a:t>
            </a:r>
            <a:endParaRPr lang="ru-RU" b="1" dirty="0"/>
          </a:p>
        </p:txBody>
      </p:sp>
    </p:spTree>
    <p:extLst>
      <p:ext uri="{BB962C8B-B14F-4D97-AF65-F5344CB8AC3E}">
        <p14:creationId xmlns:p14="http://schemas.microsoft.com/office/powerpoint/2010/main" val="803756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TotalTime>
  <Words>2270</Words>
  <Application>Microsoft Office PowerPoint</Application>
  <PresentationFormat>Widescreen</PresentationFormat>
  <Paragraphs>149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Unicode MS</vt:lpstr>
      <vt:lpstr>Calibri</vt:lpstr>
      <vt:lpstr>Calibri Light</vt:lpstr>
      <vt:lpstr>Office Theme</vt:lpstr>
      <vt:lpstr>PowerPoint Presentation</vt:lpstr>
      <vt:lpstr>PowerPoint Presentation</vt:lpstr>
      <vt:lpstr>“MICROSOFT WORD”tarixi</vt:lpstr>
      <vt:lpstr>MICROSOFT WORD ƏSAS FUNKSİYALARI</vt:lpstr>
      <vt:lpstr>FORMALAŞDIRMA VƏ DİZAYN</vt:lpstr>
      <vt:lpstr>PowerPoint Presentation</vt:lpstr>
      <vt:lpstr>PowerPoint Presentation</vt:lpstr>
      <vt:lpstr>“MİCROSOFT WORD” İSTİFADƏ SAHƏLƏRİ</vt:lpstr>
      <vt:lpstr>PowerPoint Presentation</vt:lpstr>
      <vt:lpstr>PowerPoint Presentation</vt:lpstr>
      <vt:lpstr>PowerPoint Presentation</vt:lpstr>
      <vt:lpstr>PowerPoint Presentation</vt:lpstr>
      <vt:lpstr>PowerPoint Presentation</vt:lpstr>
      <vt:lpstr>PowerPoint Presentation</vt:lpstr>
      <vt:lpstr>İZLƏDİYİNİZ ÜÇÜN TƏŞƏKKÜRLƏR!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15</cp:revision>
  <dcterms:created xsi:type="dcterms:W3CDTF">2024-11-05T15:41:50Z</dcterms:created>
  <dcterms:modified xsi:type="dcterms:W3CDTF">2024-11-05T18:42:58Z</dcterms:modified>
</cp:coreProperties>
</file>