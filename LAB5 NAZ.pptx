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7" r:id="rId2"/>
    <p:sldId id="258" r:id="rId3"/>
    <p:sldId id="259" r:id="rId4"/>
    <p:sldId id="265" r:id="rId5"/>
    <p:sldId id="264" r:id="rId6"/>
    <p:sldId id="263" r:id="rId7"/>
    <p:sldId id="261" r:id="rId8"/>
    <p:sldId id="267" r:id="rId9"/>
    <p:sldId id="260"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6" d="100"/>
          <a:sy n="66" d="100"/>
        </p:scale>
        <p:origin x="81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7498930-BD99-4AFA-8B58-F993CD4089F6}" type="datetimeFigureOut">
              <a:rPr lang="ru-RU" smtClean="0"/>
              <a:t>18.12.2024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D785F916-BAA4-49BF-8154-3AD8600D0393}" type="slidenum">
              <a:rPr lang="ru-RU" smtClean="0"/>
              <a:t>‹#›</a:t>
            </a:fld>
            <a:endParaRPr lang="ru-RU"/>
          </a:p>
        </p:txBody>
      </p:sp>
    </p:spTree>
    <p:extLst>
      <p:ext uri="{BB962C8B-B14F-4D97-AF65-F5344CB8AC3E}">
        <p14:creationId xmlns:p14="http://schemas.microsoft.com/office/powerpoint/2010/main" val="1034708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7498930-BD99-4AFA-8B58-F993CD4089F6}" type="datetimeFigureOut">
              <a:rPr lang="ru-RU" smtClean="0"/>
              <a:t>18.12.2024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D785F916-BAA4-49BF-8154-3AD8600D0393}" type="slidenum">
              <a:rPr lang="ru-RU" smtClean="0"/>
              <a:t>‹#›</a:t>
            </a:fld>
            <a:endParaRPr lang="ru-RU"/>
          </a:p>
        </p:txBody>
      </p:sp>
    </p:spTree>
    <p:extLst>
      <p:ext uri="{BB962C8B-B14F-4D97-AF65-F5344CB8AC3E}">
        <p14:creationId xmlns:p14="http://schemas.microsoft.com/office/powerpoint/2010/main" val="4285122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smtClean="0"/>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7498930-BD99-4AFA-8B58-F993CD4089F6}" type="datetimeFigureOut">
              <a:rPr lang="ru-RU" smtClean="0"/>
              <a:t>18.12.2024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D785F916-BAA4-49BF-8154-3AD8600D0393}" type="slidenum">
              <a:rPr lang="ru-RU" smtClean="0"/>
              <a:t>‹#›</a:t>
            </a:fld>
            <a:endParaRPr lang="ru-RU"/>
          </a:p>
        </p:txBody>
      </p:sp>
    </p:spTree>
    <p:extLst>
      <p:ext uri="{BB962C8B-B14F-4D97-AF65-F5344CB8AC3E}">
        <p14:creationId xmlns:p14="http://schemas.microsoft.com/office/powerpoint/2010/main" val="11705976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7498930-BD99-4AFA-8B58-F993CD4089F6}" type="datetimeFigureOut">
              <a:rPr lang="ru-RU" smtClean="0"/>
              <a:t>18.12.2024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D785F916-BAA4-49BF-8154-3AD8600D0393}" type="slidenum">
              <a:rPr lang="ru-RU" smtClean="0"/>
              <a:t>‹#›</a:t>
            </a:fld>
            <a:endParaRPr lang="ru-RU"/>
          </a:p>
        </p:txBody>
      </p:sp>
    </p:spTree>
    <p:extLst>
      <p:ext uri="{BB962C8B-B14F-4D97-AF65-F5344CB8AC3E}">
        <p14:creationId xmlns:p14="http://schemas.microsoft.com/office/powerpoint/2010/main" val="35767098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7498930-BD99-4AFA-8B58-F993CD4089F6}" type="datetimeFigureOut">
              <a:rPr lang="ru-RU" smtClean="0"/>
              <a:t>18.12.2024</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D785F916-BAA4-49BF-8154-3AD8600D0393}" type="slidenum">
              <a:rPr lang="ru-RU" smtClean="0"/>
              <a:t>‹#›</a:t>
            </a:fld>
            <a:endParaRPr lang="ru-RU"/>
          </a:p>
        </p:txBody>
      </p:sp>
    </p:spTree>
    <p:extLst>
      <p:ext uri="{BB962C8B-B14F-4D97-AF65-F5344CB8AC3E}">
        <p14:creationId xmlns:p14="http://schemas.microsoft.com/office/powerpoint/2010/main" val="37876944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7498930-BD99-4AFA-8B58-F993CD4089F6}" type="datetimeFigureOut">
              <a:rPr lang="ru-RU" smtClean="0"/>
              <a:t>18.12.2024</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D785F916-BAA4-49BF-8154-3AD8600D0393}" type="slidenum">
              <a:rPr lang="ru-RU" smtClean="0"/>
              <a:t>‹#›</a:t>
            </a:fld>
            <a:endParaRPr lang="ru-RU"/>
          </a:p>
        </p:txBody>
      </p:sp>
    </p:spTree>
    <p:extLst>
      <p:ext uri="{BB962C8B-B14F-4D97-AF65-F5344CB8AC3E}">
        <p14:creationId xmlns:p14="http://schemas.microsoft.com/office/powerpoint/2010/main" val="760412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7498930-BD99-4AFA-8B58-F993CD4089F6}" type="datetimeFigureOut">
              <a:rPr lang="ru-RU" smtClean="0"/>
              <a:t>18.12.2024</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D785F916-BAA4-49BF-8154-3AD8600D0393}" type="slidenum">
              <a:rPr lang="ru-RU" smtClean="0"/>
              <a:t>‹#›</a:t>
            </a:fld>
            <a:endParaRPr lang="ru-RU"/>
          </a:p>
        </p:txBody>
      </p:sp>
    </p:spTree>
    <p:extLst>
      <p:ext uri="{BB962C8B-B14F-4D97-AF65-F5344CB8AC3E}">
        <p14:creationId xmlns:p14="http://schemas.microsoft.com/office/powerpoint/2010/main" val="1265118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smtClean="0"/>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7498930-BD99-4AFA-8B58-F993CD4089F6}" type="datetimeFigureOut">
              <a:rPr lang="ru-RU" smtClean="0"/>
              <a:t>18.12.2024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D785F916-BAA4-49BF-8154-3AD8600D0393}" type="slidenum">
              <a:rPr lang="ru-RU" smtClean="0"/>
              <a:t>‹#›</a:t>
            </a:fld>
            <a:endParaRPr lang="ru-RU"/>
          </a:p>
        </p:txBody>
      </p:sp>
    </p:spTree>
    <p:extLst>
      <p:ext uri="{BB962C8B-B14F-4D97-AF65-F5344CB8AC3E}">
        <p14:creationId xmlns:p14="http://schemas.microsoft.com/office/powerpoint/2010/main" val="2788907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7498930-BD99-4AFA-8B58-F993CD4089F6}" type="datetimeFigureOut">
              <a:rPr lang="ru-RU" smtClean="0"/>
              <a:t>18.12.2024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D785F916-BAA4-49BF-8154-3AD8600D0393}" type="slidenum">
              <a:rPr lang="ru-RU" smtClean="0"/>
              <a:t>‹#›</a:t>
            </a:fld>
            <a:endParaRPr lang="ru-RU"/>
          </a:p>
        </p:txBody>
      </p:sp>
    </p:spTree>
    <p:extLst>
      <p:ext uri="{BB962C8B-B14F-4D97-AF65-F5344CB8AC3E}">
        <p14:creationId xmlns:p14="http://schemas.microsoft.com/office/powerpoint/2010/main" val="3353845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7498930-BD99-4AFA-8B58-F993CD4089F6}" type="datetimeFigureOut">
              <a:rPr lang="ru-RU" smtClean="0"/>
              <a:t>18.12.2024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D785F916-BAA4-49BF-8154-3AD8600D0393}" type="slidenum">
              <a:rPr lang="ru-RU" smtClean="0"/>
              <a:t>‹#›</a:t>
            </a:fld>
            <a:endParaRPr lang="ru-RU"/>
          </a:p>
        </p:txBody>
      </p:sp>
    </p:spTree>
    <p:extLst>
      <p:ext uri="{BB962C8B-B14F-4D97-AF65-F5344CB8AC3E}">
        <p14:creationId xmlns:p14="http://schemas.microsoft.com/office/powerpoint/2010/main" val="18859460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7498930-BD99-4AFA-8B58-F993CD4089F6}" type="datetimeFigureOut">
              <a:rPr lang="ru-RU" smtClean="0"/>
              <a:t>18.12.2024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D785F916-BAA4-49BF-8154-3AD8600D0393}" type="slidenum">
              <a:rPr lang="ru-RU" smtClean="0"/>
              <a:t>‹#›</a:t>
            </a:fld>
            <a:endParaRPr lang="ru-RU"/>
          </a:p>
        </p:txBody>
      </p:sp>
    </p:spTree>
    <p:extLst>
      <p:ext uri="{BB962C8B-B14F-4D97-AF65-F5344CB8AC3E}">
        <p14:creationId xmlns:p14="http://schemas.microsoft.com/office/powerpoint/2010/main" val="1360080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7498930-BD99-4AFA-8B58-F993CD4089F6}" type="datetimeFigureOut">
              <a:rPr lang="ru-RU" smtClean="0"/>
              <a:t>18.12.2024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D785F916-BAA4-49BF-8154-3AD8600D0393}" type="slidenum">
              <a:rPr lang="ru-RU" smtClean="0"/>
              <a:t>‹#›</a:t>
            </a:fld>
            <a:endParaRPr lang="ru-RU"/>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356048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7498930-BD99-4AFA-8B58-F993CD4089F6}" type="datetimeFigureOut">
              <a:rPr lang="ru-RU" smtClean="0"/>
              <a:t>18.12.2024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D785F916-BAA4-49BF-8154-3AD8600D0393}" type="slidenum">
              <a:rPr lang="ru-RU" smtClean="0"/>
              <a:t>‹#›</a:t>
            </a:fld>
            <a:endParaRPr lang="ru-RU"/>
          </a:p>
        </p:txBody>
      </p:sp>
    </p:spTree>
    <p:extLst>
      <p:ext uri="{BB962C8B-B14F-4D97-AF65-F5344CB8AC3E}">
        <p14:creationId xmlns:p14="http://schemas.microsoft.com/office/powerpoint/2010/main" val="35891242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47498930-BD99-4AFA-8B58-F993CD4089F6}" type="datetimeFigureOut">
              <a:rPr lang="ru-RU" smtClean="0"/>
              <a:t>18.12.2024</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D785F916-BAA4-49BF-8154-3AD8600D0393}" type="slidenum">
              <a:rPr lang="ru-RU" smtClean="0"/>
              <a:t>‹#›</a:t>
            </a:fld>
            <a:endParaRPr lang="ru-RU"/>
          </a:p>
        </p:txBody>
      </p:sp>
    </p:spTree>
    <p:extLst>
      <p:ext uri="{BB962C8B-B14F-4D97-AF65-F5344CB8AC3E}">
        <p14:creationId xmlns:p14="http://schemas.microsoft.com/office/powerpoint/2010/main" val="7990841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47498930-BD99-4AFA-8B58-F993CD4089F6}" type="datetimeFigureOut">
              <a:rPr lang="ru-RU" smtClean="0"/>
              <a:t>18.12.2024</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D785F916-BAA4-49BF-8154-3AD8600D0393}" type="slidenum">
              <a:rPr lang="ru-RU" smtClean="0"/>
              <a:t>‹#›</a:t>
            </a:fld>
            <a:endParaRPr lang="ru-RU"/>
          </a:p>
        </p:txBody>
      </p:sp>
    </p:spTree>
    <p:extLst>
      <p:ext uri="{BB962C8B-B14F-4D97-AF65-F5344CB8AC3E}">
        <p14:creationId xmlns:p14="http://schemas.microsoft.com/office/powerpoint/2010/main" val="3749634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7498930-BD99-4AFA-8B58-F993CD4089F6}" type="datetimeFigureOut">
              <a:rPr lang="ru-RU" smtClean="0"/>
              <a:t>18.12.2024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D785F916-BAA4-49BF-8154-3AD8600D0393}" type="slidenum">
              <a:rPr lang="ru-RU" smtClean="0"/>
              <a:t>‹#›</a:t>
            </a:fld>
            <a:endParaRPr lang="ru-RU"/>
          </a:p>
        </p:txBody>
      </p:sp>
    </p:spTree>
    <p:extLst>
      <p:ext uri="{BB962C8B-B14F-4D97-AF65-F5344CB8AC3E}">
        <p14:creationId xmlns:p14="http://schemas.microsoft.com/office/powerpoint/2010/main" val="17420594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smtClean="0"/>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7498930-BD99-4AFA-8B58-F993CD4089F6}" type="datetimeFigureOut">
              <a:rPr lang="ru-RU" smtClean="0"/>
              <a:t>18.12.2024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D785F916-BAA4-49BF-8154-3AD8600D0393}" type="slidenum">
              <a:rPr lang="ru-RU" smtClean="0"/>
              <a:t>‹#›</a:t>
            </a:fld>
            <a:endParaRPr lang="ru-RU"/>
          </a:p>
        </p:txBody>
      </p:sp>
    </p:spTree>
    <p:extLst>
      <p:ext uri="{BB962C8B-B14F-4D97-AF65-F5344CB8AC3E}">
        <p14:creationId xmlns:p14="http://schemas.microsoft.com/office/powerpoint/2010/main" val="8628142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mt="7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7498930-BD99-4AFA-8B58-F993CD4089F6}" type="datetimeFigureOut">
              <a:rPr lang="ru-RU" smtClean="0"/>
              <a:t>18.12.2024</a:t>
            </a:fld>
            <a:endParaRPr lang="ru-RU"/>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ru-RU"/>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D785F916-BAA4-49BF-8154-3AD8600D0393}" type="slidenum">
              <a:rPr lang="ru-RU" smtClean="0"/>
              <a:t>‹#›</a:t>
            </a:fld>
            <a:endParaRPr lang="ru-RU"/>
          </a:p>
        </p:txBody>
      </p:sp>
    </p:spTree>
    <p:extLst>
      <p:ext uri="{BB962C8B-B14F-4D97-AF65-F5344CB8AC3E}">
        <p14:creationId xmlns:p14="http://schemas.microsoft.com/office/powerpoint/2010/main" val="3190570217"/>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65714" y="3257014"/>
            <a:ext cx="7315200" cy="3600986"/>
          </a:xfrm>
          <a:prstGeom prst="rect">
            <a:avLst/>
          </a:prstGeom>
        </p:spPr>
        <p:txBody>
          <a:bodyPr wrap="square">
            <a:spAutoFit/>
          </a:bodyPr>
          <a:lstStyle/>
          <a:p>
            <a:pPr marL="285750" indent="-285750">
              <a:buFont typeface="Arial" panose="020B0604020202020204" pitchFamily="34" charset="0"/>
              <a:buChar char="•"/>
            </a:pPr>
            <a:r>
              <a:rPr lang="az-Latn-AZ" sz="2000" b="1" dirty="0"/>
              <a:t>Fakultə</a:t>
            </a:r>
            <a:r>
              <a:rPr lang="en-US" sz="2000" b="1" dirty="0"/>
              <a:t>: </a:t>
            </a:r>
            <a:r>
              <a:rPr lang="az-Latn-AZ" sz="2000" b="1" dirty="0"/>
              <a:t>İnformasiya və telekommunikasiya texnologiyaları</a:t>
            </a:r>
          </a:p>
          <a:p>
            <a:pPr marL="285750" indent="-285750">
              <a:buFont typeface="Arial" panose="020B0604020202020204" pitchFamily="34" charset="0"/>
              <a:buChar char="•"/>
            </a:pPr>
            <a:r>
              <a:rPr lang="az-Latn-AZ" sz="2000" b="1" dirty="0"/>
              <a:t>Kafedra</a:t>
            </a:r>
            <a:r>
              <a:rPr lang="en-US" sz="2000" b="1" dirty="0"/>
              <a:t>:</a:t>
            </a:r>
            <a:r>
              <a:rPr lang="az-Latn-AZ" sz="2000" b="1" dirty="0"/>
              <a:t>Mühəndis Riyaziyyatı və süni intellekt</a:t>
            </a:r>
          </a:p>
          <a:p>
            <a:pPr marL="285750" indent="-285750">
              <a:buFont typeface="Arial" panose="020B0604020202020204" pitchFamily="34" charset="0"/>
              <a:buChar char="•"/>
            </a:pPr>
            <a:r>
              <a:rPr lang="az-Latn-AZ" sz="2000" b="1" dirty="0"/>
              <a:t>Fənn adı</a:t>
            </a:r>
            <a:r>
              <a:rPr lang="en-US" sz="2000" b="1" dirty="0"/>
              <a:t>:</a:t>
            </a:r>
            <a:r>
              <a:rPr lang="az-Latn-AZ" sz="2000" b="1" dirty="0"/>
              <a:t> Proqramlaşdırmanın əsasları</a:t>
            </a:r>
          </a:p>
          <a:p>
            <a:pPr algn="ctr"/>
            <a:endParaRPr lang="az-Latn-AZ" sz="2000" b="1" dirty="0"/>
          </a:p>
          <a:p>
            <a:pPr algn="ctr"/>
            <a:r>
              <a:rPr lang="az-Latn-AZ" sz="2000" b="1" dirty="0"/>
              <a:t>LABORATORİYA İŞİ </a:t>
            </a:r>
            <a:r>
              <a:rPr lang="ru-RU" sz="2000" b="1" dirty="0" smtClean="0"/>
              <a:t>№</a:t>
            </a:r>
            <a:r>
              <a:rPr lang="az-Latn-AZ" sz="2000" b="1" dirty="0" smtClean="0"/>
              <a:t>5</a:t>
            </a:r>
            <a:endParaRPr lang="az-Latn-AZ" sz="2000" b="1" dirty="0"/>
          </a:p>
          <a:p>
            <a:pPr marL="285750" indent="-285750">
              <a:buFont typeface="Arial" panose="020B0604020202020204" pitchFamily="34" charset="0"/>
              <a:buChar char="•"/>
            </a:pPr>
            <a:r>
              <a:rPr lang="az-Latn-AZ" sz="2000" b="1" dirty="0"/>
              <a:t>Mövzu</a:t>
            </a:r>
            <a:r>
              <a:rPr lang="en-US" sz="2000" b="1" dirty="0" smtClean="0"/>
              <a:t>:</a:t>
            </a:r>
            <a:r>
              <a:rPr lang="az-Latn-AZ" sz="2000" b="1" dirty="0" smtClean="0"/>
              <a:t>Sətir </a:t>
            </a:r>
            <a:r>
              <a:rPr lang="az-Latn-AZ" sz="2000" b="1" dirty="0"/>
              <a:t>tipləri</a:t>
            </a:r>
          </a:p>
          <a:p>
            <a:pPr marL="285750" indent="-285750">
              <a:buFont typeface="Arial" panose="020B0604020202020204" pitchFamily="34" charset="0"/>
              <a:buChar char="•"/>
            </a:pPr>
            <a:r>
              <a:rPr lang="en-US" sz="2000" b="1" dirty="0"/>
              <a:t>Kurs:1</a:t>
            </a:r>
          </a:p>
          <a:p>
            <a:pPr marL="285750" indent="-285750">
              <a:buFont typeface="Arial" panose="020B0604020202020204" pitchFamily="34" charset="0"/>
              <a:buChar char="•"/>
            </a:pPr>
            <a:r>
              <a:rPr lang="en-US" sz="2000" b="1" dirty="0"/>
              <a:t>Qrup:6224a1</a:t>
            </a:r>
          </a:p>
          <a:p>
            <a:pPr marL="285750" indent="-285750">
              <a:buFont typeface="Arial" panose="020B0604020202020204" pitchFamily="34" charset="0"/>
              <a:buChar char="•"/>
            </a:pPr>
            <a:r>
              <a:rPr lang="en-US" sz="2000" b="1" dirty="0"/>
              <a:t>T</a:t>
            </a:r>
            <a:r>
              <a:rPr lang="az-Latn-AZ" sz="2000" b="1" dirty="0"/>
              <a:t>ələbə</a:t>
            </a:r>
            <a:r>
              <a:rPr lang="en-US" sz="2000" b="1" dirty="0"/>
              <a:t>:C</a:t>
            </a:r>
            <a:r>
              <a:rPr lang="az-Latn-AZ" sz="2000" b="1" dirty="0"/>
              <a:t>əfərova Nazlı</a:t>
            </a:r>
          </a:p>
          <a:p>
            <a:pPr marL="285750" indent="-285750">
              <a:buFont typeface="Arial" panose="020B0604020202020204" pitchFamily="34" charset="0"/>
              <a:buChar char="•"/>
            </a:pPr>
            <a:r>
              <a:rPr lang="az-Latn-AZ" sz="2000" b="1" dirty="0"/>
              <a:t>Müəllim</a:t>
            </a:r>
            <a:r>
              <a:rPr lang="en-US" sz="2000" b="1" dirty="0"/>
              <a:t>:H</a:t>
            </a:r>
            <a:r>
              <a:rPr lang="az-Latn-AZ" sz="2000" b="1" dirty="0"/>
              <a:t>üseynli Vüqar</a:t>
            </a:r>
          </a:p>
        </p:txBody>
      </p:sp>
      <p:pic>
        <p:nvPicPr>
          <p:cNvPr id="3" name="Picture 2" descr="Azərbaycan Texniki Universiteti | Bak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121472" cy="308702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Azərbaycan Respublikası Elm və Təhsil Nazirliy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0817" y="0"/>
            <a:ext cx="2636520" cy="16002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4936013" y="1860284"/>
            <a:ext cx="7550727" cy="969817"/>
          </a:xfrm>
          <a:prstGeom prst="rect">
            <a:avLst/>
          </a:prstGeom>
        </p:spPr>
        <p:txBody>
          <a:bodyPr wrap="square">
            <a:spAutoFit/>
          </a:bodyPr>
          <a:lstStyle/>
          <a:p>
            <a:pPr algn="ctr"/>
            <a:r>
              <a:rPr lang="az-Latn-AZ" sz="2800" dirty="0" smtClean="0">
                <a:ln w="0"/>
                <a:effectLst>
                  <a:outerShdw blurRad="38100" dist="19050" dir="2700000" algn="tl" rotWithShape="0">
                    <a:schemeClr val="dk1">
                      <a:alpha val="40000"/>
                    </a:schemeClr>
                  </a:outerShdw>
                </a:effectLst>
              </a:rPr>
              <a:t>AZƏRBAYCAN RESPUBLİKASI ELM VƏ TƏHSİL NAZİRLİYİ</a:t>
            </a:r>
            <a:endParaRPr lang="en-US" sz="28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39526433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5030" y="174172"/>
            <a:ext cx="9332685" cy="1567543"/>
          </a:xfrm>
        </p:spPr>
        <p:txBody>
          <a:bodyPr/>
          <a:lstStyle/>
          <a:p>
            <a:r>
              <a:rPr lang="en-US" b="1" dirty="0" smtClean="0">
                <a:latin typeface="+mn-lt"/>
              </a:rPr>
              <a:t>S</a:t>
            </a:r>
            <a:r>
              <a:rPr lang="az-Latn-AZ" b="1" dirty="0" smtClean="0">
                <a:latin typeface="+mn-lt"/>
              </a:rPr>
              <a:t>ƏTİR Tipləri HAQQINDA</a:t>
            </a:r>
            <a:br>
              <a:rPr lang="az-Latn-AZ" b="1" dirty="0" smtClean="0">
                <a:latin typeface="+mn-lt"/>
              </a:rPr>
            </a:br>
            <a:r>
              <a:rPr lang="az-Latn-AZ" b="1" dirty="0" smtClean="0">
                <a:latin typeface="+mn-lt"/>
              </a:rPr>
              <a:t>ÜMUMİ MƏLUMAT</a:t>
            </a:r>
            <a:endParaRPr lang="ru-RU" b="1" dirty="0">
              <a:latin typeface="+mn-lt"/>
            </a:endParaRPr>
          </a:p>
        </p:txBody>
      </p:sp>
      <p:sp>
        <p:nvSpPr>
          <p:cNvPr id="3" name="Rectangle 2"/>
          <p:cNvSpPr/>
          <p:nvPr/>
        </p:nvSpPr>
        <p:spPr>
          <a:xfrm>
            <a:off x="2119087" y="2177144"/>
            <a:ext cx="8026400" cy="2677656"/>
          </a:xfrm>
          <a:prstGeom prst="rect">
            <a:avLst/>
          </a:prstGeom>
        </p:spPr>
        <p:txBody>
          <a:bodyPr wrap="square">
            <a:spAutoFit/>
          </a:bodyPr>
          <a:lstStyle/>
          <a:p>
            <a:r>
              <a:rPr lang="az-Latn-AZ" sz="2800" b="1" dirty="0"/>
              <a:t>Sətir tipləri (ingilis dilində "data types") proqramlaşdırma dillərində verilənlərin müəyyən bir struktura və qiymət növünə sahib olmasını göstərir. Hər bir sətir tipi verilənlərin necə saxlanıldığını və onlarla necə əməliyyatlar ediləcəyini təyin edir</a:t>
            </a:r>
            <a:r>
              <a:rPr lang="az-Latn-AZ" sz="2400" b="1" dirty="0"/>
              <a:t>.</a:t>
            </a:r>
            <a:endParaRPr lang="ru-RU" sz="2400" b="1" dirty="0"/>
          </a:p>
        </p:txBody>
      </p:sp>
    </p:spTree>
    <p:extLst>
      <p:ext uri="{BB962C8B-B14F-4D97-AF65-F5344CB8AC3E}">
        <p14:creationId xmlns:p14="http://schemas.microsoft.com/office/powerpoint/2010/main" val="26217480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5718" y="0"/>
            <a:ext cx="10364451" cy="1596177"/>
          </a:xfrm>
        </p:spPr>
        <p:txBody>
          <a:bodyPr>
            <a:normAutofit/>
          </a:bodyPr>
          <a:lstStyle/>
          <a:p>
            <a:r>
              <a:rPr lang="az-Latn-AZ" sz="4000" b="1" dirty="0" smtClean="0"/>
              <a:t>SƏTİR TİPLƏRİ</a:t>
            </a:r>
            <a:endParaRPr lang="ru-RU" sz="4000" b="1" dirty="0"/>
          </a:p>
        </p:txBody>
      </p:sp>
      <p:sp>
        <p:nvSpPr>
          <p:cNvPr id="3" name="Rectangle 1"/>
          <p:cNvSpPr>
            <a:spLocks noChangeArrowheads="1"/>
          </p:cNvSpPr>
          <p:nvPr/>
        </p:nvSpPr>
        <p:spPr bwMode="auto">
          <a:xfrm>
            <a:off x="595085" y="1963828"/>
            <a:ext cx="11234422"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2000" b="1" i="0" u="none" strike="noStrike" cap="none" normalizeH="0" baseline="0" dirty="0" smtClean="0">
                <a:ln>
                  <a:noFill/>
                </a:ln>
                <a:solidFill>
                  <a:schemeClr val="tx1"/>
                </a:solidFill>
                <a:effectLst/>
                <a:latin typeface="Arial" panose="020B0604020202020204" pitchFamily="34" charset="0"/>
              </a:rPr>
              <a:t>Sətir tipləri</a:t>
            </a:r>
            <a:r>
              <a:rPr kumimoji="0" lang="az-Latn-AZ" altLang="ru-RU" sz="2000" b="0" i="0" u="none" strike="noStrike" cap="none" normalizeH="0" baseline="0" dirty="0" smtClean="0">
                <a:ln>
                  <a:noFill/>
                </a:ln>
                <a:solidFill>
                  <a:schemeClr val="tx1"/>
                </a:solidFill>
                <a:effectLst/>
                <a:latin typeface="Arial" panose="020B0604020202020204" pitchFamily="34" charset="0"/>
              </a:rPr>
              <a:t> (string types) mətnləri və simvolları saxlamaq üçün istifadə olunan verilənlər növüdür.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2000" b="1" i="0" u="none" strike="noStrike" cap="none" normalizeH="0" baseline="0" dirty="0" smtClean="0">
                <a:ln>
                  <a:noFill/>
                </a:ln>
                <a:solidFill>
                  <a:schemeClr val="tx1"/>
                </a:solidFill>
                <a:effectLst/>
                <a:latin typeface="Arial" panose="020B0604020202020204" pitchFamily="34" charset="0"/>
              </a:rPr>
              <a:t>Yaradılması</a:t>
            </a:r>
            <a:r>
              <a:rPr kumimoji="0" lang="az-Latn-AZ" altLang="ru-RU" sz="2000" b="0" i="0" u="none" strike="noStrike" cap="none" normalizeH="0" baseline="0" dirty="0" smtClean="0">
                <a:ln>
                  <a:noFill/>
                </a:ln>
                <a:solidFill>
                  <a:schemeClr val="tx1"/>
                </a:solidFill>
                <a:effectLst/>
                <a:latin typeface="Arial" panose="020B0604020202020204" pitchFamily="34" charset="0"/>
              </a:rPr>
              <a:t>: Tırnaq işarələri </a:t>
            </a:r>
            <a:r>
              <a:rPr kumimoji="0" lang="az-Latn-AZ" altLang="ru-RU" sz="3200" b="1" i="0" u="none" strike="noStrike" cap="none" normalizeH="0" baseline="0" dirty="0" smtClean="0">
                <a:ln>
                  <a:noFill/>
                </a:ln>
                <a:solidFill>
                  <a:schemeClr val="tx1"/>
                </a:solidFill>
                <a:effectLst/>
                <a:latin typeface="Arial" panose="020B0604020202020204" pitchFamily="34" charset="0"/>
              </a:rPr>
              <a:t>(</a:t>
            </a:r>
            <a:r>
              <a:rPr kumimoji="0" lang="az-Latn-AZ" altLang="ru-RU" sz="1400" b="1" i="0" u="none" strike="noStrike" cap="none" normalizeH="0" baseline="0" dirty="0" smtClean="0">
                <a:ln>
                  <a:noFill/>
                </a:ln>
                <a:solidFill>
                  <a:schemeClr val="tx1"/>
                </a:solidFill>
                <a:effectLst/>
                <a:latin typeface="Arial Unicode MS"/>
              </a:rPr>
              <a:t>" "</a:t>
            </a:r>
            <a:r>
              <a:rPr kumimoji="0" lang="az-Latn-AZ" altLang="ru-RU" b="1" i="0" u="none" strike="noStrike" cap="none" normalizeH="0" baseline="0" dirty="0" smtClean="0">
                <a:ln>
                  <a:noFill/>
                </a:ln>
                <a:solidFill>
                  <a:schemeClr val="tx1"/>
                </a:solidFill>
                <a:effectLst/>
              </a:rPr>
              <a:t> və ya </a:t>
            </a:r>
            <a:r>
              <a:rPr kumimoji="0" lang="az-Latn-AZ" altLang="ru-RU" sz="1400" b="1" i="0" u="none" strike="noStrike" cap="none" normalizeH="0" baseline="0" dirty="0" smtClean="0">
                <a:ln>
                  <a:noFill/>
                </a:ln>
                <a:solidFill>
                  <a:schemeClr val="tx1"/>
                </a:solidFill>
                <a:effectLst/>
                <a:latin typeface="Arial Unicode MS"/>
              </a:rPr>
              <a:t>' '</a:t>
            </a:r>
            <a:r>
              <a:rPr kumimoji="0" lang="az-Latn-AZ" altLang="ru-RU" b="1" i="0" u="none" strike="noStrike" cap="none" normalizeH="0" baseline="0" dirty="0" smtClean="0">
                <a:ln>
                  <a:noFill/>
                </a:ln>
                <a:solidFill>
                  <a:schemeClr val="tx1"/>
                </a:solidFill>
                <a:effectLst/>
              </a:rPr>
              <a:t>) ilə əhatə edilir. Məsələn: </a:t>
            </a:r>
            <a:r>
              <a:rPr kumimoji="0" lang="az-Latn-AZ" altLang="ru-RU" sz="1400" b="1" i="0" u="none" strike="noStrike" cap="none" normalizeH="0" baseline="0" dirty="0" smtClean="0">
                <a:ln>
                  <a:noFill/>
                </a:ln>
                <a:solidFill>
                  <a:schemeClr val="tx1"/>
                </a:solidFill>
                <a:effectLst/>
                <a:latin typeface="Arial Unicode MS"/>
              </a:rPr>
              <a:t>"Hello"</a:t>
            </a:r>
            <a:r>
              <a:rPr kumimoji="0" lang="az-Latn-AZ" altLang="ru-RU" b="1" i="0" u="none" strike="noStrike" cap="none" normalizeH="0" baseline="0" dirty="0" smtClean="0">
                <a:ln>
                  <a:noFill/>
                </a:ln>
                <a:solidFill>
                  <a:schemeClr val="tx1"/>
                </a:solidFill>
                <a:effectLst/>
              </a:rPr>
              <a:t>, </a:t>
            </a:r>
            <a:r>
              <a:rPr kumimoji="0" lang="az-Latn-AZ" altLang="ru-RU" sz="1400" b="1" i="0" u="none" strike="noStrike" cap="none" normalizeH="0" baseline="0" dirty="0" smtClean="0">
                <a:ln>
                  <a:noFill/>
                </a:ln>
                <a:solidFill>
                  <a:schemeClr val="tx1"/>
                </a:solidFill>
                <a:effectLst/>
                <a:latin typeface="Arial Unicode MS"/>
              </a:rPr>
              <a:t>'World'</a:t>
            </a:r>
            <a:r>
              <a:rPr kumimoji="0" lang="az-Latn-AZ" altLang="ru-RU" b="1" i="0" u="none" strike="noStrike" cap="none" normalizeH="0" baseline="0" dirty="0" smtClean="0">
                <a:ln>
                  <a:noFill/>
                </a:ln>
                <a:solidFill>
                  <a:schemeClr val="tx1"/>
                </a:solidFill>
                <a:effectLst/>
              </a:rPr>
              <a:t>.</a:t>
            </a:r>
            <a:endParaRPr kumimoji="0" lang="az-Latn-AZ" altLang="ru-RU" sz="32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2000" b="1" i="0" u="none" strike="noStrike" cap="none" normalizeH="0" baseline="0" dirty="0" smtClean="0">
                <a:ln>
                  <a:noFill/>
                </a:ln>
                <a:solidFill>
                  <a:schemeClr val="tx1"/>
                </a:solidFill>
                <a:effectLst/>
                <a:latin typeface="Arial" panose="020B0604020202020204" pitchFamily="34" charset="0"/>
              </a:rPr>
              <a:t>Əməliyyatlar</a:t>
            </a:r>
            <a:r>
              <a:rPr kumimoji="0" lang="az-Latn-AZ" altLang="ru-RU" sz="2000" b="0" i="0" u="none" strike="noStrike" cap="none" normalizeH="0" baseline="0" dirty="0" smtClean="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az-Latn-AZ" altLang="ru-RU" sz="2000" b="1" i="0" u="none" strike="noStrike" cap="none" normalizeH="0" baseline="0" dirty="0" smtClean="0">
                <a:ln>
                  <a:noFill/>
                </a:ln>
                <a:solidFill>
                  <a:schemeClr val="tx1"/>
                </a:solidFill>
                <a:effectLst/>
                <a:latin typeface="Arial" panose="020B0604020202020204" pitchFamily="34" charset="0"/>
              </a:rPr>
              <a:t>Birləşdirmə</a:t>
            </a:r>
            <a:r>
              <a:rPr kumimoji="0" lang="az-Latn-AZ" altLang="ru-RU" sz="2000" b="0" i="0" u="none" strike="noStrike" cap="none" normalizeH="0" baseline="0" dirty="0" smtClean="0">
                <a:ln>
                  <a:noFill/>
                </a:ln>
                <a:solidFill>
                  <a:schemeClr val="tx1"/>
                </a:solidFill>
                <a:effectLst/>
                <a:latin typeface="Arial" panose="020B0604020202020204" pitchFamily="34" charset="0"/>
              </a:rPr>
              <a:t>: </a:t>
            </a:r>
            <a:r>
              <a:rPr kumimoji="0" lang="az-Latn-AZ" altLang="ru-RU" sz="1050" b="0" i="0" u="none" strike="noStrike" cap="none" normalizeH="0" baseline="0" dirty="0" smtClean="0">
                <a:ln>
                  <a:noFill/>
                </a:ln>
                <a:solidFill>
                  <a:schemeClr val="tx1"/>
                </a:solidFill>
                <a:effectLst/>
                <a:latin typeface="Arial Unicode MS"/>
              </a:rPr>
              <a:t>"</a:t>
            </a:r>
            <a:r>
              <a:rPr kumimoji="0" lang="az-Latn-AZ" altLang="ru-RU" sz="1600" b="1" i="0" u="none" strike="noStrike" cap="none" normalizeH="0" baseline="0" dirty="0" smtClean="0">
                <a:ln>
                  <a:noFill/>
                </a:ln>
                <a:solidFill>
                  <a:schemeClr val="tx1"/>
                </a:solidFill>
                <a:effectLst/>
                <a:latin typeface="Arial Unicode MS"/>
              </a:rPr>
              <a:t>Hello" + " " + "World"</a:t>
            </a:r>
            <a:r>
              <a:rPr kumimoji="0" lang="az-Latn-AZ" altLang="ru-RU" sz="2000" b="1" i="0" u="none" strike="noStrike" cap="none" normalizeH="0" baseline="0" dirty="0" smtClean="0">
                <a:ln>
                  <a:noFill/>
                </a:ln>
                <a:solidFill>
                  <a:schemeClr val="tx1"/>
                </a:solidFill>
                <a:effectLst/>
              </a:rPr>
              <a:t> → </a:t>
            </a:r>
            <a:r>
              <a:rPr kumimoji="0" lang="az-Latn-AZ" altLang="ru-RU" sz="1600" b="1" i="0" u="none" strike="noStrike" cap="none" normalizeH="0" baseline="0" dirty="0" smtClean="0">
                <a:ln>
                  <a:noFill/>
                </a:ln>
                <a:solidFill>
                  <a:schemeClr val="tx1"/>
                </a:solidFill>
                <a:effectLst/>
                <a:latin typeface="Arial Unicode MS"/>
              </a:rPr>
              <a:t>"Hello World</a:t>
            </a:r>
            <a:r>
              <a:rPr kumimoji="0" lang="az-Latn-AZ" altLang="ru-RU" sz="1400" b="1" i="0" u="none" strike="noStrike" cap="none" normalizeH="0" baseline="0" dirty="0" smtClean="0">
                <a:ln>
                  <a:noFill/>
                </a:ln>
                <a:solidFill>
                  <a:schemeClr val="tx1"/>
                </a:solidFill>
                <a:effectLst/>
                <a:latin typeface="Arial Unicode MS"/>
              </a:rPr>
              <a:t>"</a:t>
            </a:r>
            <a:endParaRPr kumimoji="0" lang="az-Latn-AZ" altLang="ru-RU" b="1" i="0" u="none" strike="noStrike" cap="none" normalizeH="0" baseline="0" dirty="0" smtClean="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az-Latn-AZ" altLang="ru-RU" sz="2000" b="1" i="0" u="none" strike="noStrike" cap="none" normalizeH="0" baseline="0" dirty="0" smtClean="0">
                <a:ln>
                  <a:noFill/>
                </a:ln>
                <a:solidFill>
                  <a:schemeClr val="tx1"/>
                </a:solidFill>
                <a:effectLst/>
                <a:latin typeface="Arial" panose="020B0604020202020204" pitchFamily="34" charset="0"/>
              </a:rPr>
              <a:t>Təkrarlama</a:t>
            </a:r>
            <a:r>
              <a:rPr kumimoji="0" lang="az-Latn-AZ" altLang="ru-RU" sz="2000" b="0" i="0" u="none" strike="noStrike" cap="none" normalizeH="0" baseline="0" dirty="0" smtClean="0">
                <a:ln>
                  <a:noFill/>
                </a:ln>
                <a:solidFill>
                  <a:schemeClr val="tx1"/>
                </a:solidFill>
                <a:effectLst/>
                <a:latin typeface="Arial" panose="020B0604020202020204" pitchFamily="34" charset="0"/>
              </a:rPr>
              <a:t>: </a:t>
            </a:r>
            <a:r>
              <a:rPr kumimoji="0" lang="az-Latn-AZ" altLang="ru-RU" sz="2000" b="0" i="0" u="none" strike="noStrike" cap="none" normalizeH="0" baseline="0" dirty="0" smtClean="0">
                <a:ln>
                  <a:noFill/>
                </a:ln>
                <a:solidFill>
                  <a:schemeClr val="tx1"/>
                </a:solidFill>
                <a:effectLst/>
                <a:latin typeface="Arial Unicode MS"/>
              </a:rPr>
              <a:t>"</a:t>
            </a:r>
            <a:r>
              <a:rPr kumimoji="0" lang="az-Latn-AZ" altLang="ru-RU" sz="2000" b="1" i="0" u="none" strike="noStrike" cap="none" normalizeH="0" baseline="0" dirty="0" smtClean="0">
                <a:ln>
                  <a:noFill/>
                </a:ln>
                <a:solidFill>
                  <a:schemeClr val="tx1"/>
                </a:solidFill>
                <a:effectLst/>
                <a:latin typeface="Arial Unicode MS"/>
              </a:rPr>
              <a:t>Hello" * 3</a:t>
            </a:r>
            <a:r>
              <a:rPr kumimoji="0" lang="az-Latn-AZ" altLang="ru-RU" sz="2800" b="1" i="0" u="none" strike="noStrike" cap="none" normalizeH="0" baseline="0" dirty="0" smtClean="0">
                <a:ln>
                  <a:noFill/>
                </a:ln>
                <a:solidFill>
                  <a:schemeClr val="tx1"/>
                </a:solidFill>
                <a:effectLst/>
              </a:rPr>
              <a:t> → </a:t>
            </a:r>
            <a:r>
              <a:rPr kumimoji="0" lang="az-Latn-AZ" altLang="ru-RU" sz="2000" b="1" i="0" u="none" strike="noStrike" cap="none" normalizeH="0" baseline="0" dirty="0" smtClean="0">
                <a:ln>
                  <a:noFill/>
                </a:ln>
                <a:solidFill>
                  <a:schemeClr val="tx1"/>
                </a:solidFill>
                <a:effectLst/>
                <a:latin typeface="Arial Unicode MS"/>
              </a:rPr>
              <a:t>"HelloHelloHello</a:t>
            </a:r>
            <a:r>
              <a:rPr kumimoji="0" lang="az-Latn-AZ" altLang="ru-RU" sz="1050" b="0" i="0" u="none" strike="noStrike" cap="none" normalizeH="0" baseline="0" dirty="0" smtClean="0">
                <a:ln>
                  <a:noFill/>
                </a:ln>
                <a:solidFill>
                  <a:schemeClr val="tx1"/>
                </a:solidFill>
                <a:effectLst/>
                <a:latin typeface="Arial Unicode MS"/>
              </a:rPr>
              <a:t>"</a:t>
            </a:r>
            <a:endParaRPr kumimoji="0" lang="az-Latn-AZ" altLang="ru-RU" sz="1200" b="0" i="0" u="none" strike="noStrike" cap="none" normalizeH="0" baseline="0" dirty="0" smtClean="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az-Latn-AZ" altLang="ru-RU" sz="2000" b="1" i="0" u="none" strike="noStrike" cap="none" normalizeH="0" baseline="0" dirty="0" smtClean="0">
                <a:ln>
                  <a:noFill/>
                </a:ln>
                <a:solidFill>
                  <a:schemeClr val="tx1"/>
                </a:solidFill>
                <a:effectLst/>
                <a:latin typeface="Arial" panose="020B0604020202020204" pitchFamily="34" charset="0"/>
              </a:rPr>
              <a:t>Uzunluq</a:t>
            </a:r>
            <a:r>
              <a:rPr kumimoji="0" lang="az-Latn-AZ" altLang="ru-RU" sz="2000" b="0" i="0" u="none" strike="noStrike" cap="none" normalizeH="0" baseline="0" dirty="0" smtClean="0">
                <a:ln>
                  <a:noFill/>
                </a:ln>
                <a:solidFill>
                  <a:schemeClr val="tx1"/>
                </a:solidFill>
                <a:effectLst/>
                <a:latin typeface="Arial" panose="020B0604020202020204" pitchFamily="34" charset="0"/>
              </a:rPr>
              <a:t>: </a:t>
            </a:r>
            <a:r>
              <a:rPr kumimoji="0" lang="az-Latn-AZ" altLang="ru-RU" b="1" i="0" u="none" strike="noStrike" cap="none" normalizeH="0" baseline="0" dirty="0" smtClean="0">
                <a:ln>
                  <a:noFill/>
                </a:ln>
                <a:solidFill>
                  <a:schemeClr val="tx1"/>
                </a:solidFill>
                <a:effectLst/>
                <a:latin typeface="Arial Unicode MS"/>
              </a:rPr>
              <a:t>len("Hello")</a:t>
            </a:r>
            <a:r>
              <a:rPr kumimoji="0" lang="az-Latn-AZ" altLang="ru-RU" sz="2400" b="1" i="0" u="none" strike="noStrike" cap="none" normalizeH="0" baseline="0" dirty="0" smtClean="0">
                <a:ln>
                  <a:noFill/>
                </a:ln>
                <a:solidFill>
                  <a:schemeClr val="tx1"/>
                </a:solidFill>
                <a:effectLst/>
              </a:rPr>
              <a:t> → </a:t>
            </a:r>
            <a:r>
              <a:rPr kumimoji="0" lang="az-Latn-AZ" altLang="ru-RU" b="1" i="0" u="none" strike="noStrike" cap="none" normalizeH="0" baseline="0" dirty="0" smtClean="0">
                <a:ln>
                  <a:noFill/>
                </a:ln>
                <a:solidFill>
                  <a:schemeClr val="tx1"/>
                </a:solidFill>
                <a:effectLst/>
                <a:latin typeface="Arial Unicode MS"/>
              </a:rPr>
              <a:t>5</a:t>
            </a:r>
            <a:endParaRPr kumimoji="0" lang="az-Latn-AZ" altLang="ru-RU" sz="2400" b="1" i="0" u="none" strike="noStrike" cap="none" normalizeH="0" baseline="0" dirty="0" smtClean="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az-Latn-AZ" altLang="ru-RU" sz="2000" b="1" i="0" u="none" strike="noStrike" cap="none" normalizeH="0" baseline="0" dirty="0" smtClean="0">
                <a:ln>
                  <a:noFill/>
                </a:ln>
                <a:solidFill>
                  <a:schemeClr val="tx1"/>
                </a:solidFill>
                <a:effectLst/>
                <a:latin typeface="Arial" panose="020B0604020202020204" pitchFamily="34" charset="0"/>
              </a:rPr>
              <a:t>Slicing</a:t>
            </a:r>
            <a:r>
              <a:rPr kumimoji="0" lang="az-Latn-AZ" altLang="ru-RU" sz="2000" b="0" i="0" u="none" strike="noStrike" cap="none" normalizeH="0" baseline="0" dirty="0" smtClean="0">
                <a:ln>
                  <a:noFill/>
                </a:ln>
                <a:solidFill>
                  <a:schemeClr val="tx1"/>
                </a:solidFill>
                <a:effectLst/>
                <a:latin typeface="Arial" panose="020B0604020202020204" pitchFamily="34" charset="0"/>
              </a:rPr>
              <a:t>: </a:t>
            </a:r>
            <a:r>
              <a:rPr kumimoji="0" lang="az-Latn-AZ" altLang="ru-RU" sz="1050" b="0" i="0" u="none" strike="noStrike" cap="none" normalizeH="0" baseline="0" dirty="0" smtClean="0">
                <a:ln>
                  <a:noFill/>
                </a:ln>
                <a:solidFill>
                  <a:schemeClr val="tx1"/>
                </a:solidFill>
                <a:effectLst/>
                <a:latin typeface="Arial Unicode MS"/>
              </a:rPr>
              <a:t>"</a:t>
            </a:r>
            <a:r>
              <a:rPr kumimoji="0" lang="az-Latn-AZ" altLang="ru-RU" b="1" i="0" u="none" strike="noStrike" cap="none" normalizeH="0" baseline="0" dirty="0" smtClean="0">
                <a:ln>
                  <a:noFill/>
                </a:ln>
                <a:solidFill>
                  <a:schemeClr val="tx1"/>
                </a:solidFill>
                <a:effectLst/>
                <a:latin typeface="Arial Unicode MS"/>
              </a:rPr>
              <a:t>Hello"[1:4]</a:t>
            </a:r>
            <a:r>
              <a:rPr kumimoji="0" lang="az-Latn-AZ" altLang="ru-RU" sz="2400" b="1" i="0" u="none" strike="noStrike" cap="none" normalizeH="0" baseline="0" dirty="0" smtClean="0">
                <a:ln>
                  <a:noFill/>
                </a:ln>
                <a:solidFill>
                  <a:schemeClr val="tx1"/>
                </a:solidFill>
                <a:effectLst/>
              </a:rPr>
              <a:t> → </a:t>
            </a:r>
            <a:r>
              <a:rPr kumimoji="0" lang="az-Latn-AZ" altLang="ru-RU" b="1" i="0" u="none" strike="noStrike" cap="none" normalizeH="0" baseline="0" dirty="0" smtClean="0">
                <a:ln>
                  <a:noFill/>
                </a:ln>
                <a:solidFill>
                  <a:schemeClr val="tx1"/>
                </a:solidFill>
                <a:effectLst/>
                <a:latin typeface="Arial Unicode MS"/>
              </a:rPr>
              <a:t>"ell"</a:t>
            </a:r>
            <a:endParaRPr kumimoji="0" lang="az-Latn-AZ" altLang="ru-RU" sz="2400"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2000" b="1" i="0" u="none" strike="noStrike" cap="none" normalizeH="0" baseline="0" dirty="0" smtClean="0">
                <a:ln>
                  <a:noFill/>
                </a:ln>
                <a:solidFill>
                  <a:schemeClr val="tx1"/>
                </a:solidFill>
                <a:effectLst/>
                <a:latin typeface="Arial" panose="020B0604020202020204" pitchFamily="34" charset="0"/>
              </a:rPr>
              <a:t>Formatlama</a:t>
            </a:r>
            <a:r>
              <a:rPr kumimoji="0" lang="az-Latn-AZ" altLang="ru-RU" sz="2000" b="0" i="0" u="none" strike="noStrike" cap="none" normalizeH="0" baseline="0" dirty="0" smtClean="0">
                <a:ln>
                  <a:noFill/>
                </a:ln>
                <a:solidFill>
                  <a:schemeClr val="tx1"/>
                </a:solidFill>
                <a:effectLst/>
                <a:latin typeface="Arial" panose="020B0604020202020204" pitchFamily="34" charset="0"/>
              </a:rPr>
              <a:t>: Python-da</a:t>
            </a:r>
            <a:r>
              <a:rPr kumimoji="0" lang="ru-RU" altLang="ru-RU" sz="2000" b="0" i="0" u="none" strike="noStrike" cap="none" normalizeH="0" baseline="0" dirty="0" smtClean="0">
                <a:ln>
                  <a:noFill/>
                </a:ln>
                <a:solidFill>
                  <a:schemeClr val="tx1"/>
                </a:solidFill>
                <a:effectLst/>
                <a:latin typeface="Arial" panose="020B0604020202020204" pitchFamily="34" charset="0"/>
              </a:rPr>
              <a:t> f</a:t>
            </a:r>
            <a:r>
              <a:rPr kumimoji="0" lang="az-Latn-AZ" altLang="ru-RU" sz="2000" b="0" i="0" u="none" strike="noStrike" cap="none" normalizeH="0" baseline="0" dirty="0" smtClean="0">
                <a:ln>
                  <a:noFill/>
                </a:ln>
                <a:solidFill>
                  <a:schemeClr val="tx1"/>
                </a:solidFill>
                <a:effectLst/>
                <a:latin typeface="Arial" panose="020B0604020202020204" pitchFamily="34" charset="0"/>
              </a:rPr>
              <a:t>-s</a:t>
            </a:r>
            <a:r>
              <a:rPr kumimoji="0" lang="ru-RU" altLang="ru-RU" sz="2000" b="0" i="0" u="none" strike="noStrike" cap="none" normalizeH="0" baseline="0" dirty="0" err="1" smtClean="0">
                <a:ln>
                  <a:noFill/>
                </a:ln>
                <a:solidFill>
                  <a:schemeClr val="tx1"/>
                </a:solidFill>
                <a:effectLst/>
                <a:latin typeface="Arial" panose="020B0604020202020204" pitchFamily="34" charset="0"/>
              </a:rPr>
              <a:t>tri</a:t>
            </a:r>
            <a:r>
              <a:rPr kumimoji="0" lang="az-Latn-AZ" altLang="ru-RU" sz="2000" b="0" i="0" u="none" strike="noStrike" cap="none" normalizeH="0" baseline="0" dirty="0" smtClean="0">
                <a:ln>
                  <a:noFill/>
                </a:ln>
                <a:solidFill>
                  <a:schemeClr val="tx1"/>
                </a:solidFill>
                <a:effectLst/>
                <a:latin typeface="Arial" panose="020B0604020202020204" pitchFamily="34" charset="0"/>
              </a:rPr>
              <a:t>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az-Latn-AZ" altLang="ru-RU" sz="2000" b="0" i="0" u="none" strike="noStrike" cap="none" normalizeH="0" baseline="0" dirty="0" smtClean="0">
                <a:ln>
                  <a:noFill/>
                </a:ln>
                <a:solidFill>
                  <a:schemeClr val="tx1"/>
                </a:solidFill>
                <a:effectLst/>
                <a:latin typeface="Arial" panose="020B0604020202020204" pitchFamily="34" charset="0"/>
              </a:rPr>
              <a:t>Sətir tipləri mətnlərlə işləyərkən müxtəlif əməliyyatları yerinə yetirməyə imkan verir.</a:t>
            </a:r>
          </a:p>
        </p:txBody>
      </p:sp>
    </p:spTree>
    <p:extLst>
      <p:ext uri="{BB962C8B-B14F-4D97-AF65-F5344CB8AC3E}">
        <p14:creationId xmlns:p14="http://schemas.microsoft.com/office/powerpoint/2010/main" val="17507396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4060" y="0"/>
            <a:ext cx="4674225" cy="1326397"/>
          </a:xfrm>
        </p:spPr>
        <p:txBody>
          <a:bodyPr>
            <a:normAutofit/>
          </a:bodyPr>
          <a:lstStyle/>
          <a:p>
            <a:r>
              <a:rPr lang="az-Latn-AZ" sz="4000" b="1" dirty="0" smtClean="0">
                <a:latin typeface="+mn-lt"/>
              </a:rPr>
              <a:t>EOLYMP-8320</a:t>
            </a:r>
            <a:endParaRPr lang="ru-RU" sz="4000" b="1" dirty="0">
              <a:latin typeface="+mn-lt"/>
            </a:endParaRPr>
          </a:p>
        </p:txBody>
      </p:sp>
      <p:pic>
        <p:nvPicPr>
          <p:cNvPr id="3" name="Picture 2"/>
          <p:cNvPicPr>
            <a:picLocks noChangeAspect="1"/>
          </p:cNvPicPr>
          <p:nvPr/>
        </p:nvPicPr>
        <p:blipFill>
          <a:blip r:embed="rId2"/>
          <a:stretch>
            <a:fillRect/>
          </a:stretch>
        </p:blipFill>
        <p:spPr>
          <a:xfrm>
            <a:off x="346452" y="1207693"/>
            <a:ext cx="6795216" cy="3248191"/>
          </a:xfrm>
          <a:prstGeom prst="rect">
            <a:avLst/>
          </a:prstGeom>
        </p:spPr>
      </p:pic>
      <p:pic>
        <p:nvPicPr>
          <p:cNvPr id="4" name="Picture 3"/>
          <p:cNvPicPr>
            <a:picLocks noChangeAspect="1"/>
          </p:cNvPicPr>
          <p:nvPr/>
        </p:nvPicPr>
        <p:blipFill>
          <a:blip r:embed="rId3"/>
          <a:stretch>
            <a:fillRect/>
          </a:stretch>
        </p:blipFill>
        <p:spPr>
          <a:xfrm>
            <a:off x="7493556" y="3915389"/>
            <a:ext cx="4156246" cy="2224154"/>
          </a:xfrm>
          <a:prstGeom prst="rect">
            <a:avLst/>
          </a:prstGeom>
        </p:spPr>
      </p:pic>
    </p:spTree>
    <p:extLst>
      <p:ext uri="{BB962C8B-B14F-4D97-AF65-F5344CB8AC3E}">
        <p14:creationId xmlns:p14="http://schemas.microsoft.com/office/powerpoint/2010/main" val="211543123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71489" y="0"/>
            <a:ext cx="5269311" cy="1239312"/>
          </a:xfrm>
        </p:spPr>
        <p:txBody>
          <a:bodyPr>
            <a:normAutofit/>
          </a:bodyPr>
          <a:lstStyle/>
          <a:p>
            <a:r>
              <a:rPr lang="az-Latn-AZ" sz="4000" b="1" dirty="0" smtClean="0">
                <a:latin typeface="+mn-lt"/>
              </a:rPr>
              <a:t>EOLYMP-8987</a:t>
            </a:r>
            <a:endParaRPr lang="ru-RU" sz="4000" b="1" dirty="0">
              <a:latin typeface="+mn-lt"/>
            </a:endParaRPr>
          </a:p>
        </p:txBody>
      </p:sp>
      <p:pic>
        <p:nvPicPr>
          <p:cNvPr id="3" name="Picture 2"/>
          <p:cNvPicPr>
            <a:picLocks noChangeAspect="1"/>
          </p:cNvPicPr>
          <p:nvPr/>
        </p:nvPicPr>
        <p:blipFill>
          <a:blip r:embed="rId2"/>
          <a:stretch>
            <a:fillRect/>
          </a:stretch>
        </p:blipFill>
        <p:spPr>
          <a:xfrm>
            <a:off x="147308" y="1474656"/>
            <a:ext cx="7048361" cy="2690944"/>
          </a:xfrm>
          <a:prstGeom prst="rect">
            <a:avLst/>
          </a:prstGeom>
        </p:spPr>
      </p:pic>
      <p:pic>
        <p:nvPicPr>
          <p:cNvPr id="4" name="Picture 3"/>
          <p:cNvPicPr>
            <a:picLocks noChangeAspect="1"/>
          </p:cNvPicPr>
          <p:nvPr/>
        </p:nvPicPr>
        <p:blipFill>
          <a:blip r:embed="rId3"/>
          <a:stretch>
            <a:fillRect/>
          </a:stretch>
        </p:blipFill>
        <p:spPr>
          <a:xfrm>
            <a:off x="3308831" y="4943570"/>
            <a:ext cx="8524433" cy="1078874"/>
          </a:xfrm>
          <a:prstGeom prst="rect">
            <a:avLst/>
          </a:prstGeom>
        </p:spPr>
      </p:pic>
    </p:spTree>
    <p:extLst>
      <p:ext uri="{BB962C8B-B14F-4D97-AF65-F5344CB8AC3E}">
        <p14:creationId xmlns:p14="http://schemas.microsoft.com/office/powerpoint/2010/main" val="11760376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48976" y="0"/>
            <a:ext cx="5951482" cy="1224797"/>
          </a:xfrm>
        </p:spPr>
        <p:txBody>
          <a:bodyPr>
            <a:normAutofit/>
          </a:bodyPr>
          <a:lstStyle/>
          <a:p>
            <a:r>
              <a:rPr lang="az-Latn-AZ" sz="4000" b="1" dirty="0" smtClean="0">
                <a:latin typeface="+mn-lt"/>
              </a:rPr>
              <a:t>EOLYMP-8569</a:t>
            </a:r>
            <a:endParaRPr lang="ru-RU" sz="4000" b="1" dirty="0">
              <a:latin typeface="+mn-lt"/>
            </a:endParaRPr>
          </a:p>
        </p:txBody>
      </p:sp>
      <p:pic>
        <p:nvPicPr>
          <p:cNvPr id="3" name="Picture 2"/>
          <p:cNvPicPr>
            <a:picLocks noChangeAspect="1"/>
          </p:cNvPicPr>
          <p:nvPr/>
        </p:nvPicPr>
        <p:blipFill>
          <a:blip r:embed="rId2"/>
          <a:stretch>
            <a:fillRect/>
          </a:stretch>
        </p:blipFill>
        <p:spPr>
          <a:xfrm>
            <a:off x="217598" y="1034014"/>
            <a:ext cx="7115086" cy="2652614"/>
          </a:xfrm>
          <a:prstGeom prst="rect">
            <a:avLst/>
          </a:prstGeom>
        </p:spPr>
      </p:pic>
      <p:pic>
        <p:nvPicPr>
          <p:cNvPr id="4" name="Picture 3"/>
          <p:cNvPicPr>
            <a:picLocks noChangeAspect="1"/>
          </p:cNvPicPr>
          <p:nvPr/>
        </p:nvPicPr>
        <p:blipFill>
          <a:blip r:embed="rId3"/>
          <a:stretch>
            <a:fillRect/>
          </a:stretch>
        </p:blipFill>
        <p:spPr>
          <a:xfrm>
            <a:off x="7332684" y="3875314"/>
            <a:ext cx="4502020" cy="2471389"/>
          </a:xfrm>
          <a:prstGeom prst="rect">
            <a:avLst/>
          </a:prstGeom>
        </p:spPr>
      </p:pic>
    </p:spTree>
    <p:extLst>
      <p:ext uri="{BB962C8B-B14F-4D97-AF65-F5344CB8AC3E}">
        <p14:creationId xmlns:p14="http://schemas.microsoft.com/office/powerpoint/2010/main" val="110027631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4691" y="0"/>
            <a:ext cx="3803368" cy="1108683"/>
          </a:xfrm>
        </p:spPr>
        <p:txBody>
          <a:bodyPr>
            <a:normAutofit/>
          </a:bodyPr>
          <a:lstStyle/>
          <a:p>
            <a:r>
              <a:rPr lang="en-US" sz="4000" b="1" dirty="0" smtClean="0">
                <a:latin typeface="+mn-lt"/>
              </a:rPr>
              <a:t>EOLYMP-8316</a:t>
            </a:r>
            <a:endParaRPr lang="ru-RU" sz="4000" b="1" dirty="0">
              <a:latin typeface="+mn-lt"/>
            </a:endParaRPr>
          </a:p>
        </p:txBody>
      </p:sp>
      <p:pic>
        <p:nvPicPr>
          <p:cNvPr id="3" name="Picture 2"/>
          <p:cNvPicPr>
            <a:picLocks noChangeAspect="1"/>
          </p:cNvPicPr>
          <p:nvPr/>
        </p:nvPicPr>
        <p:blipFill>
          <a:blip r:embed="rId2"/>
          <a:stretch>
            <a:fillRect/>
          </a:stretch>
        </p:blipFill>
        <p:spPr>
          <a:xfrm>
            <a:off x="126199" y="1108683"/>
            <a:ext cx="6565366" cy="2867631"/>
          </a:xfrm>
          <a:prstGeom prst="rect">
            <a:avLst/>
          </a:prstGeom>
        </p:spPr>
      </p:pic>
      <p:pic>
        <p:nvPicPr>
          <p:cNvPr id="4" name="Picture 3"/>
          <p:cNvPicPr>
            <a:picLocks noChangeAspect="1"/>
          </p:cNvPicPr>
          <p:nvPr/>
        </p:nvPicPr>
        <p:blipFill>
          <a:blip r:embed="rId3"/>
          <a:stretch>
            <a:fillRect/>
          </a:stretch>
        </p:blipFill>
        <p:spPr>
          <a:xfrm>
            <a:off x="7877264" y="1108683"/>
            <a:ext cx="3487422" cy="5375732"/>
          </a:xfrm>
          <a:prstGeom prst="rect">
            <a:avLst/>
          </a:prstGeom>
        </p:spPr>
      </p:pic>
    </p:spTree>
    <p:extLst>
      <p:ext uri="{BB962C8B-B14F-4D97-AF65-F5344CB8AC3E}">
        <p14:creationId xmlns:p14="http://schemas.microsoft.com/office/powerpoint/2010/main" val="34673848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02119" y="0"/>
            <a:ext cx="4514568" cy="1021597"/>
          </a:xfrm>
        </p:spPr>
        <p:txBody>
          <a:bodyPr/>
          <a:lstStyle/>
          <a:p>
            <a:r>
              <a:rPr lang="en-US" b="1" dirty="0" smtClean="0">
                <a:latin typeface="+mn-lt"/>
              </a:rPr>
              <a:t>N</a:t>
            </a:r>
            <a:r>
              <a:rPr lang="az-Latn-AZ" b="1" dirty="0" smtClean="0">
                <a:latin typeface="+mn-lt"/>
              </a:rPr>
              <a:t>ÜMUNƏLƏR</a:t>
            </a:r>
            <a:endParaRPr lang="ru-RU" b="1" dirty="0">
              <a:latin typeface="+mn-lt"/>
            </a:endParaRPr>
          </a:p>
        </p:txBody>
      </p:sp>
      <p:pic>
        <p:nvPicPr>
          <p:cNvPr id="3" name="Picture 2"/>
          <p:cNvPicPr>
            <a:picLocks noChangeAspect="1"/>
          </p:cNvPicPr>
          <p:nvPr/>
        </p:nvPicPr>
        <p:blipFill>
          <a:blip r:embed="rId2"/>
          <a:stretch>
            <a:fillRect/>
          </a:stretch>
        </p:blipFill>
        <p:spPr>
          <a:xfrm>
            <a:off x="314520" y="1386980"/>
            <a:ext cx="9051785" cy="1661020"/>
          </a:xfrm>
          <a:prstGeom prst="rect">
            <a:avLst/>
          </a:prstGeom>
        </p:spPr>
      </p:pic>
      <p:pic>
        <p:nvPicPr>
          <p:cNvPr id="4" name="Picture 3"/>
          <p:cNvPicPr>
            <a:picLocks noChangeAspect="1"/>
          </p:cNvPicPr>
          <p:nvPr/>
        </p:nvPicPr>
        <p:blipFill>
          <a:blip r:embed="rId3"/>
          <a:stretch>
            <a:fillRect/>
          </a:stretch>
        </p:blipFill>
        <p:spPr>
          <a:xfrm>
            <a:off x="3802119" y="4153610"/>
            <a:ext cx="7748064" cy="1625203"/>
          </a:xfrm>
          <a:prstGeom prst="rect">
            <a:avLst/>
          </a:prstGeom>
        </p:spPr>
      </p:pic>
    </p:spTree>
    <p:extLst>
      <p:ext uri="{BB962C8B-B14F-4D97-AF65-F5344CB8AC3E}">
        <p14:creationId xmlns:p14="http://schemas.microsoft.com/office/powerpoint/2010/main" val="34983194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64986" y="0"/>
            <a:ext cx="3600168" cy="978054"/>
          </a:xfrm>
        </p:spPr>
        <p:txBody>
          <a:bodyPr/>
          <a:lstStyle/>
          <a:p>
            <a:r>
              <a:rPr lang="az-Latn-AZ" b="1" dirty="0" smtClean="0"/>
              <a:t>EOLYMP-9914</a:t>
            </a:r>
            <a:endParaRPr lang="ru-RU" b="1" dirty="0"/>
          </a:p>
        </p:txBody>
      </p:sp>
      <p:pic>
        <p:nvPicPr>
          <p:cNvPr id="3" name="Picture 2"/>
          <p:cNvPicPr>
            <a:picLocks noChangeAspect="1"/>
          </p:cNvPicPr>
          <p:nvPr/>
        </p:nvPicPr>
        <p:blipFill>
          <a:blip r:embed="rId2"/>
          <a:stretch>
            <a:fillRect/>
          </a:stretch>
        </p:blipFill>
        <p:spPr>
          <a:xfrm>
            <a:off x="1208604" y="1311883"/>
            <a:ext cx="7723189" cy="2621489"/>
          </a:xfrm>
          <a:prstGeom prst="rect">
            <a:avLst/>
          </a:prstGeom>
        </p:spPr>
      </p:pic>
      <p:pic>
        <p:nvPicPr>
          <p:cNvPr id="5" name="Picture 4"/>
          <p:cNvPicPr>
            <a:picLocks noChangeAspect="1"/>
          </p:cNvPicPr>
          <p:nvPr/>
        </p:nvPicPr>
        <p:blipFill>
          <a:blip r:embed="rId3"/>
          <a:stretch>
            <a:fillRect/>
          </a:stretch>
        </p:blipFill>
        <p:spPr>
          <a:xfrm>
            <a:off x="4949372" y="4701226"/>
            <a:ext cx="5631564" cy="1293173"/>
          </a:xfrm>
          <a:prstGeom prst="rect">
            <a:avLst/>
          </a:prstGeom>
        </p:spPr>
      </p:pic>
    </p:spTree>
    <p:extLst>
      <p:ext uri="{BB962C8B-B14F-4D97-AF65-F5344CB8AC3E}">
        <p14:creationId xmlns:p14="http://schemas.microsoft.com/office/powerpoint/2010/main" val="2963027316"/>
      </p:ext>
    </p:extLst>
  </p:cSld>
  <p:clrMapOvr>
    <a:masterClrMapping/>
  </p:clrMapOvr>
  <p:timing>
    <p:tnLst>
      <p:par>
        <p:cTn id="1" dur="indefinite" restart="never" nodeType="tmRoot"/>
      </p:par>
    </p:tnLst>
  </p:timing>
</p:sld>
</file>

<file path=ppt/theme/theme1.xml><?xml version="1.0" encoding="utf-8"?>
<a:theme xmlns:a="http://schemas.openxmlformats.org/drawingml/2006/main" name="Droplet">
  <a:themeElements>
    <a:clrScheme name="Droplet">
      <a:dk1>
        <a:sysClr val="windowText" lastClr="000000"/>
      </a:dk1>
      <a:lt1>
        <a:sysClr val="window" lastClr="FFFFFF"/>
      </a:lt1>
      <a:dk2>
        <a:srgbClr val="1C647B"/>
      </a:dk2>
      <a:lt2>
        <a:srgbClr val="98B7D3"/>
      </a:lt2>
      <a:accent1>
        <a:srgbClr val="274FA4"/>
      </a:accent1>
      <a:accent2>
        <a:srgbClr val="48A8D0"/>
      </a:accent2>
      <a:accent3>
        <a:srgbClr val="53B18F"/>
      </a:accent3>
      <a:accent4>
        <a:srgbClr val="D78D38"/>
      </a:accent4>
      <a:accent5>
        <a:srgbClr val="BA3F51"/>
      </a:accent5>
      <a:accent6>
        <a:srgbClr val="AE52D9"/>
      </a:accent6>
      <a:hlink>
        <a:srgbClr val="2AA2DA"/>
      </a:hlink>
      <a:folHlink>
        <a:srgbClr val="76A3B8"/>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92000"/>
                <a:satMod val="180000"/>
                <a:lumMod val="114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DEB094D4-7FD8-4F86-93D5-B0F1341EF586}"/>
    </a:ext>
  </a:extLst>
</a:theme>
</file>

<file path=docProps/app.xml><?xml version="1.0" encoding="utf-8"?>
<Properties xmlns="http://schemas.openxmlformats.org/officeDocument/2006/extended-properties" xmlns:vt="http://schemas.openxmlformats.org/officeDocument/2006/docPropsVTypes">
  <Template>Droplet</Template>
  <TotalTime>10</TotalTime>
  <Words>199</Words>
  <Application>Microsoft Office PowerPoint</Application>
  <PresentationFormat>Widescreen</PresentationFormat>
  <Paragraphs>29</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Arial Unicode MS</vt:lpstr>
      <vt:lpstr>Tw Cen MT</vt:lpstr>
      <vt:lpstr>Droplet</vt:lpstr>
      <vt:lpstr>PowerPoint Presentation</vt:lpstr>
      <vt:lpstr>SƏTİR Tipləri HAQQINDA ÜMUMİ MƏLUMAT</vt:lpstr>
      <vt:lpstr>SƏTİR TİPLƏRİ</vt:lpstr>
      <vt:lpstr>EOLYMP-8320</vt:lpstr>
      <vt:lpstr>EOLYMP-8987</vt:lpstr>
      <vt:lpstr>EOLYMP-8569</vt:lpstr>
      <vt:lpstr>EOLYMP-8316</vt:lpstr>
      <vt:lpstr>NÜMUNƏLƏR</vt:lpstr>
      <vt:lpstr>EOLYMP-9914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Aslan</dc:creator>
  <cp:lastModifiedBy>Aslan</cp:lastModifiedBy>
  <cp:revision>2</cp:revision>
  <dcterms:created xsi:type="dcterms:W3CDTF">2024-12-17T21:35:28Z</dcterms:created>
  <dcterms:modified xsi:type="dcterms:W3CDTF">2024-12-17T21:46:04Z</dcterms:modified>
</cp:coreProperties>
</file>