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64" r:id="rId4"/>
    <p:sldId id="265" r:id="rId5"/>
    <p:sldId id="267" r:id="rId6"/>
    <p:sldId id="259" r:id="rId7"/>
    <p:sldId id="260" r:id="rId8"/>
    <p:sldId id="261" r:id="rId9"/>
    <p:sldId id="262" r:id="rId10"/>
    <p:sldId id="263"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6" d="100"/>
          <a:sy n="66" d="100"/>
        </p:scale>
        <p:origin x="81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C60D21CC-DA92-4ECC-BE28-ED0E8ECE5DA3}" type="datetimeFigureOut">
              <a:rPr lang="ru-RU" smtClean="0"/>
              <a:t>16.12.2024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E9F0216A-EF23-4536-ACD0-38EE829D9B7E}" type="slidenum">
              <a:rPr lang="ru-RU" smtClean="0"/>
              <a:t>‹#›</a:t>
            </a:fld>
            <a:endParaRPr lang="ru-RU"/>
          </a:p>
        </p:txBody>
      </p:sp>
    </p:spTree>
    <p:extLst>
      <p:ext uri="{BB962C8B-B14F-4D97-AF65-F5344CB8AC3E}">
        <p14:creationId xmlns:p14="http://schemas.microsoft.com/office/powerpoint/2010/main" val="1493325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60D21CC-DA92-4ECC-BE28-ED0E8ECE5DA3}" type="datetimeFigureOut">
              <a:rPr lang="ru-RU" smtClean="0"/>
              <a:t>16.12.2024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E9F0216A-EF23-4536-ACD0-38EE829D9B7E}" type="slidenum">
              <a:rPr lang="ru-RU" smtClean="0"/>
              <a:t>‹#›</a:t>
            </a:fld>
            <a:endParaRPr lang="ru-RU"/>
          </a:p>
        </p:txBody>
      </p:sp>
    </p:spTree>
    <p:extLst>
      <p:ext uri="{BB962C8B-B14F-4D97-AF65-F5344CB8AC3E}">
        <p14:creationId xmlns:p14="http://schemas.microsoft.com/office/powerpoint/2010/main" val="15594214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smtClean="0"/>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60D21CC-DA92-4ECC-BE28-ED0E8ECE5DA3}" type="datetimeFigureOut">
              <a:rPr lang="ru-RU" smtClean="0"/>
              <a:t>16.12.2024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E9F0216A-EF23-4536-ACD0-38EE829D9B7E}" type="slidenum">
              <a:rPr lang="ru-RU" smtClean="0"/>
              <a:t>‹#›</a:t>
            </a:fld>
            <a:endParaRPr lang="ru-RU"/>
          </a:p>
        </p:txBody>
      </p:sp>
    </p:spTree>
    <p:extLst>
      <p:ext uri="{BB962C8B-B14F-4D97-AF65-F5344CB8AC3E}">
        <p14:creationId xmlns:p14="http://schemas.microsoft.com/office/powerpoint/2010/main" val="2311559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C60D21CC-DA92-4ECC-BE28-ED0E8ECE5DA3}" type="datetimeFigureOut">
              <a:rPr lang="ru-RU" smtClean="0"/>
              <a:t>16.12.2024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E9F0216A-EF23-4536-ACD0-38EE829D9B7E}" type="slidenum">
              <a:rPr lang="ru-RU" smtClean="0"/>
              <a:t>‹#›</a:t>
            </a:fld>
            <a:endParaRPr lang="ru-RU"/>
          </a:p>
        </p:txBody>
      </p:sp>
    </p:spTree>
    <p:extLst>
      <p:ext uri="{BB962C8B-B14F-4D97-AF65-F5344CB8AC3E}">
        <p14:creationId xmlns:p14="http://schemas.microsoft.com/office/powerpoint/2010/main" val="26334472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C60D21CC-DA92-4ECC-BE28-ED0E8ECE5DA3}" type="datetimeFigureOut">
              <a:rPr lang="ru-RU" smtClean="0"/>
              <a:t>16.12.2024</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E9F0216A-EF23-4536-ACD0-38EE829D9B7E}" type="slidenum">
              <a:rPr lang="ru-RU" smtClean="0"/>
              <a:t>‹#›</a:t>
            </a:fld>
            <a:endParaRPr lang="ru-RU"/>
          </a:p>
        </p:txBody>
      </p:sp>
    </p:spTree>
    <p:extLst>
      <p:ext uri="{BB962C8B-B14F-4D97-AF65-F5344CB8AC3E}">
        <p14:creationId xmlns:p14="http://schemas.microsoft.com/office/powerpoint/2010/main" val="16001177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60D21CC-DA92-4ECC-BE28-ED0E8ECE5DA3}" type="datetimeFigureOut">
              <a:rPr lang="ru-RU" smtClean="0"/>
              <a:t>16.12.2024</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E9F0216A-EF23-4536-ACD0-38EE829D9B7E}" type="slidenum">
              <a:rPr lang="ru-RU" smtClean="0"/>
              <a:t>‹#›</a:t>
            </a:fld>
            <a:endParaRPr lang="ru-RU"/>
          </a:p>
        </p:txBody>
      </p:sp>
    </p:spTree>
    <p:extLst>
      <p:ext uri="{BB962C8B-B14F-4D97-AF65-F5344CB8AC3E}">
        <p14:creationId xmlns:p14="http://schemas.microsoft.com/office/powerpoint/2010/main" val="19038322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60D21CC-DA92-4ECC-BE28-ED0E8ECE5DA3}" type="datetimeFigureOut">
              <a:rPr lang="ru-RU" smtClean="0"/>
              <a:t>16.12.2024</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E9F0216A-EF23-4536-ACD0-38EE829D9B7E}" type="slidenum">
              <a:rPr lang="ru-RU" smtClean="0"/>
              <a:t>‹#›</a:t>
            </a:fld>
            <a:endParaRPr lang="ru-RU"/>
          </a:p>
        </p:txBody>
      </p:sp>
    </p:spTree>
    <p:extLst>
      <p:ext uri="{BB962C8B-B14F-4D97-AF65-F5344CB8AC3E}">
        <p14:creationId xmlns:p14="http://schemas.microsoft.com/office/powerpoint/2010/main" val="25739467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smtClean="0"/>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60D21CC-DA92-4ECC-BE28-ED0E8ECE5DA3}" type="datetimeFigureOut">
              <a:rPr lang="ru-RU" smtClean="0"/>
              <a:t>16.12.2024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E9F0216A-EF23-4536-ACD0-38EE829D9B7E}" type="slidenum">
              <a:rPr lang="ru-RU" smtClean="0"/>
              <a:t>‹#›</a:t>
            </a:fld>
            <a:endParaRPr lang="ru-RU"/>
          </a:p>
        </p:txBody>
      </p:sp>
    </p:spTree>
    <p:extLst>
      <p:ext uri="{BB962C8B-B14F-4D97-AF65-F5344CB8AC3E}">
        <p14:creationId xmlns:p14="http://schemas.microsoft.com/office/powerpoint/2010/main" val="42482297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60D21CC-DA92-4ECC-BE28-ED0E8ECE5DA3}" type="datetimeFigureOut">
              <a:rPr lang="ru-RU" smtClean="0"/>
              <a:t>16.12.2024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E9F0216A-EF23-4536-ACD0-38EE829D9B7E}" type="slidenum">
              <a:rPr lang="ru-RU" smtClean="0"/>
              <a:t>‹#›</a:t>
            </a:fld>
            <a:endParaRPr lang="ru-RU"/>
          </a:p>
        </p:txBody>
      </p:sp>
    </p:spTree>
    <p:extLst>
      <p:ext uri="{BB962C8B-B14F-4D97-AF65-F5344CB8AC3E}">
        <p14:creationId xmlns:p14="http://schemas.microsoft.com/office/powerpoint/2010/main" val="4671921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60D21CC-DA92-4ECC-BE28-ED0E8ECE5DA3}" type="datetimeFigureOut">
              <a:rPr lang="ru-RU" smtClean="0"/>
              <a:t>16.12.2024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E9F0216A-EF23-4536-ACD0-38EE829D9B7E}" type="slidenum">
              <a:rPr lang="ru-RU" smtClean="0"/>
              <a:t>‹#›</a:t>
            </a:fld>
            <a:endParaRPr lang="ru-RU"/>
          </a:p>
        </p:txBody>
      </p:sp>
    </p:spTree>
    <p:extLst>
      <p:ext uri="{BB962C8B-B14F-4D97-AF65-F5344CB8AC3E}">
        <p14:creationId xmlns:p14="http://schemas.microsoft.com/office/powerpoint/2010/main" val="432310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60D21CC-DA92-4ECC-BE28-ED0E8ECE5DA3}" type="datetimeFigureOut">
              <a:rPr lang="ru-RU" smtClean="0"/>
              <a:t>16.12.2024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E9F0216A-EF23-4536-ACD0-38EE829D9B7E}" type="slidenum">
              <a:rPr lang="ru-RU" smtClean="0"/>
              <a:t>‹#›</a:t>
            </a:fld>
            <a:endParaRPr lang="ru-RU"/>
          </a:p>
        </p:txBody>
      </p:sp>
    </p:spTree>
    <p:extLst>
      <p:ext uri="{BB962C8B-B14F-4D97-AF65-F5344CB8AC3E}">
        <p14:creationId xmlns:p14="http://schemas.microsoft.com/office/powerpoint/2010/main" val="35363095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60D21CC-DA92-4ECC-BE28-ED0E8ECE5DA3}" type="datetimeFigureOut">
              <a:rPr lang="ru-RU" smtClean="0"/>
              <a:t>16.12.2024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E9F0216A-EF23-4536-ACD0-38EE829D9B7E}" type="slidenum">
              <a:rPr lang="ru-RU" smtClean="0"/>
              <a:t>‹#›</a:t>
            </a:fld>
            <a:endParaRPr lang="ru-RU"/>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224074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60D21CC-DA92-4ECC-BE28-ED0E8ECE5DA3}" type="datetimeFigureOut">
              <a:rPr lang="ru-RU" smtClean="0"/>
              <a:t>16.12.2024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E9F0216A-EF23-4536-ACD0-38EE829D9B7E}" type="slidenum">
              <a:rPr lang="ru-RU" smtClean="0"/>
              <a:t>‹#›</a:t>
            </a:fld>
            <a:endParaRPr lang="ru-RU"/>
          </a:p>
        </p:txBody>
      </p:sp>
    </p:spTree>
    <p:extLst>
      <p:ext uri="{BB962C8B-B14F-4D97-AF65-F5344CB8AC3E}">
        <p14:creationId xmlns:p14="http://schemas.microsoft.com/office/powerpoint/2010/main" val="17674062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C60D21CC-DA92-4ECC-BE28-ED0E8ECE5DA3}" type="datetimeFigureOut">
              <a:rPr lang="ru-RU" smtClean="0"/>
              <a:t>16.12.2024</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E9F0216A-EF23-4536-ACD0-38EE829D9B7E}" type="slidenum">
              <a:rPr lang="ru-RU" smtClean="0"/>
              <a:t>‹#›</a:t>
            </a:fld>
            <a:endParaRPr lang="ru-RU"/>
          </a:p>
        </p:txBody>
      </p:sp>
    </p:spTree>
    <p:extLst>
      <p:ext uri="{BB962C8B-B14F-4D97-AF65-F5344CB8AC3E}">
        <p14:creationId xmlns:p14="http://schemas.microsoft.com/office/powerpoint/2010/main" val="17944775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C60D21CC-DA92-4ECC-BE28-ED0E8ECE5DA3}" type="datetimeFigureOut">
              <a:rPr lang="ru-RU" smtClean="0"/>
              <a:t>16.12.2024</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E9F0216A-EF23-4536-ACD0-38EE829D9B7E}" type="slidenum">
              <a:rPr lang="ru-RU" smtClean="0"/>
              <a:t>‹#›</a:t>
            </a:fld>
            <a:endParaRPr lang="ru-RU"/>
          </a:p>
        </p:txBody>
      </p:sp>
    </p:spTree>
    <p:extLst>
      <p:ext uri="{BB962C8B-B14F-4D97-AF65-F5344CB8AC3E}">
        <p14:creationId xmlns:p14="http://schemas.microsoft.com/office/powerpoint/2010/main" val="24874586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60D21CC-DA92-4ECC-BE28-ED0E8ECE5DA3}" type="datetimeFigureOut">
              <a:rPr lang="ru-RU" smtClean="0"/>
              <a:t>16.12.2024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E9F0216A-EF23-4536-ACD0-38EE829D9B7E}" type="slidenum">
              <a:rPr lang="ru-RU" smtClean="0"/>
              <a:t>‹#›</a:t>
            </a:fld>
            <a:endParaRPr lang="ru-RU"/>
          </a:p>
        </p:txBody>
      </p:sp>
    </p:spTree>
    <p:extLst>
      <p:ext uri="{BB962C8B-B14F-4D97-AF65-F5344CB8AC3E}">
        <p14:creationId xmlns:p14="http://schemas.microsoft.com/office/powerpoint/2010/main" val="42551596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60D21CC-DA92-4ECC-BE28-ED0E8ECE5DA3}" type="datetimeFigureOut">
              <a:rPr lang="ru-RU" smtClean="0"/>
              <a:t>16.12.2024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E9F0216A-EF23-4536-ACD0-38EE829D9B7E}" type="slidenum">
              <a:rPr lang="ru-RU" smtClean="0"/>
              <a:t>‹#›</a:t>
            </a:fld>
            <a:endParaRPr lang="ru-RU"/>
          </a:p>
        </p:txBody>
      </p:sp>
    </p:spTree>
    <p:extLst>
      <p:ext uri="{BB962C8B-B14F-4D97-AF65-F5344CB8AC3E}">
        <p14:creationId xmlns:p14="http://schemas.microsoft.com/office/powerpoint/2010/main" val="24291611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C60D21CC-DA92-4ECC-BE28-ED0E8ECE5DA3}" type="datetimeFigureOut">
              <a:rPr lang="ru-RU" smtClean="0"/>
              <a:t>16.12.2024</a:t>
            </a:fld>
            <a:endParaRPr lang="ru-RU"/>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ru-RU"/>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E9F0216A-EF23-4536-ACD0-38EE829D9B7E}" type="slidenum">
              <a:rPr lang="ru-RU" smtClean="0"/>
              <a:t>‹#›</a:t>
            </a:fld>
            <a:endParaRPr lang="ru-RU"/>
          </a:p>
        </p:txBody>
      </p:sp>
    </p:spTree>
    <p:extLst>
      <p:ext uri="{BB962C8B-B14F-4D97-AF65-F5344CB8AC3E}">
        <p14:creationId xmlns:p14="http://schemas.microsoft.com/office/powerpoint/2010/main" val="281943423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zərbaycan Texniki Universiteti | Bak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5121472" cy="308702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4892470" y="1698639"/>
            <a:ext cx="7550727" cy="969817"/>
          </a:xfrm>
          <a:prstGeom prst="rect">
            <a:avLst/>
          </a:prstGeom>
        </p:spPr>
        <p:txBody>
          <a:bodyPr wrap="square">
            <a:spAutoFit/>
          </a:bodyPr>
          <a:lstStyle/>
          <a:p>
            <a:pPr algn="ctr"/>
            <a:r>
              <a:rPr lang="az-Latn-AZ" sz="2800" dirty="0" smtClean="0">
                <a:ln w="0"/>
                <a:effectLst>
                  <a:outerShdw blurRad="38100" dist="19050" dir="2700000" algn="tl" rotWithShape="0">
                    <a:schemeClr val="dk1">
                      <a:alpha val="40000"/>
                    </a:schemeClr>
                  </a:outerShdw>
                </a:effectLst>
              </a:rPr>
              <a:t>AZƏRBAYCAN RESPUBLİKASI ELM VƏ TƏHSİL NAZİRLİYİ</a:t>
            </a:r>
            <a:endParaRPr lang="en-US" sz="2800" dirty="0">
              <a:ln w="0"/>
              <a:effectLst>
                <a:outerShdw blurRad="38100" dist="19050" dir="2700000" algn="tl" rotWithShape="0">
                  <a:schemeClr val="dk1">
                    <a:alpha val="40000"/>
                  </a:schemeClr>
                </a:outerShdw>
              </a:effectLst>
            </a:endParaRPr>
          </a:p>
        </p:txBody>
      </p:sp>
      <p:pic>
        <p:nvPicPr>
          <p:cNvPr id="4" name="Picture 2" descr="Azərbaycan Respublikası Elm və Təhsil Nazirliy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64074" y="49220"/>
            <a:ext cx="2636520" cy="16002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844799" y="3348059"/>
            <a:ext cx="6994537" cy="3477875"/>
          </a:xfrm>
          <a:prstGeom prst="rect">
            <a:avLst/>
          </a:prstGeom>
        </p:spPr>
        <p:txBody>
          <a:bodyPr wrap="square">
            <a:spAutoFit/>
          </a:bodyPr>
          <a:lstStyle/>
          <a:p>
            <a:pPr marL="285750" indent="-285750">
              <a:buFont typeface="Arial" panose="020B0604020202020204" pitchFamily="34" charset="0"/>
              <a:buChar char="•"/>
            </a:pPr>
            <a:r>
              <a:rPr lang="az-Latn-AZ" sz="2000" b="1" dirty="0"/>
              <a:t>Fakultə</a:t>
            </a:r>
            <a:r>
              <a:rPr lang="en-US" sz="2000" b="1" dirty="0"/>
              <a:t>: </a:t>
            </a:r>
            <a:r>
              <a:rPr lang="az-Latn-AZ" sz="2000" b="1" dirty="0"/>
              <a:t>İnformasiya və telekommunikasiya texnologiyaları</a:t>
            </a:r>
          </a:p>
          <a:p>
            <a:pPr marL="285750" indent="-285750">
              <a:buFont typeface="Arial" panose="020B0604020202020204" pitchFamily="34" charset="0"/>
              <a:buChar char="•"/>
            </a:pPr>
            <a:r>
              <a:rPr lang="az-Latn-AZ" sz="2000" b="1" dirty="0"/>
              <a:t>Kafedra</a:t>
            </a:r>
            <a:r>
              <a:rPr lang="en-US" sz="2000" b="1" dirty="0"/>
              <a:t>:</a:t>
            </a:r>
            <a:r>
              <a:rPr lang="az-Latn-AZ" sz="2000" b="1" dirty="0"/>
              <a:t>Mühəndis Riyaziyyatı və süni intellekt</a:t>
            </a:r>
          </a:p>
          <a:p>
            <a:pPr marL="285750" indent="-285750">
              <a:buFont typeface="Arial" panose="020B0604020202020204" pitchFamily="34" charset="0"/>
              <a:buChar char="•"/>
            </a:pPr>
            <a:r>
              <a:rPr lang="az-Latn-AZ" sz="2000" b="1" dirty="0"/>
              <a:t>Fənn adı</a:t>
            </a:r>
            <a:r>
              <a:rPr lang="en-US" sz="2000" b="1" dirty="0"/>
              <a:t>:</a:t>
            </a:r>
            <a:r>
              <a:rPr lang="az-Latn-AZ" sz="2000" b="1" dirty="0"/>
              <a:t> Proqramlaşdırmanın əsasları</a:t>
            </a:r>
          </a:p>
          <a:p>
            <a:pPr algn="ctr"/>
            <a:endParaRPr lang="az-Latn-AZ" sz="2000" b="1" dirty="0"/>
          </a:p>
          <a:p>
            <a:pPr algn="ctr"/>
            <a:r>
              <a:rPr lang="az-Latn-AZ" sz="2000" b="1" dirty="0"/>
              <a:t>LABORATORİYA İŞİ </a:t>
            </a:r>
            <a:r>
              <a:rPr lang="ru-RU" sz="2000" b="1" dirty="0" smtClean="0"/>
              <a:t>№</a:t>
            </a:r>
            <a:r>
              <a:rPr lang="az-Latn-AZ" sz="2000" b="1" dirty="0"/>
              <a:t>4</a:t>
            </a:r>
          </a:p>
          <a:p>
            <a:pPr marL="285750" indent="-285750">
              <a:buFont typeface="Arial" panose="020B0604020202020204" pitchFamily="34" charset="0"/>
              <a:buChar char="•"/>
            </a:pPr>
            <a:r>
              <a:rPr lang="az-Latn-AZ" sz="2000" b="1" dirty="0"/>
              <a:t>Mövzu</a:t>
            </a:r>
            <a:r>
              <a:rPr lang="en-US" sz="2000" b="1" dirty="0" smtClean="0"/>
              <a:t>:</a:t>
            </a:r>
            <a:r>
              <a:rPr lang="az-Latn-AZ" sz="2000" b="1" dirty="0" smtClean="0"/>
              <a:t>2d matris</a:t>
            </a:r>
            <a:endParaRPr lang="az-Latn-AZ" sz="2000" b="1" dirty="0"/>
          </a:p>
          <a:p>
            <a:pPr marL="285750" indent="-285750">
              <a:buFont typeface="Arial" panose="020B0604020202020204" pitchFamily="34" charset="0"/>
              <a:buChar char="•"/>
            </a:pPr>
            <a:r>
              <a:rPr lang="en-US" sz="2000" b="1" dirty="0"/>
              <a:t>Kurs:1</a:t>
            </a:r>
          </a:p>
          <a:p>
            <a:pPr marL="285750" indent="-285750">
              <a:buFont typeface="Arial" panose="020B0604020202020204" pitchFamily="34" charset="0"/>
              <a:buChar char="•"/>
            </a:pPr>
            <a:r>
              <a:rPr lang="en-US" sz="2000" b="1" dirty="0"/>
              <a:t>Qrup:6224a1</a:t>
            </a:r>
          </a:p>
          <a:p>
            <a:pPr marL="285750" indent="-285750">
              <a:buFont typeface="Arial" panose="020B0604020202020204" pitchFamily="34" charset="0"/>
              <a:buChar char="•"/>
            </a:pPr>
            <a:r>
              <a:rPr lang="en-US" sz="2000" b="1" dirty="0"/>
              <a:t>T</a:t>
            </a:r>
            <a:r>
              <a:rPr lang="az-Latn-AZ" sz="2000" b="1" dirty="0"/>
              <a:t>ələbə</a:t>
            </a:r>
            <a:r>
              <a:rPr lang="en-US" sz="2000" b="1" dirty="0"/>
              <a:t>:C</a:t>
            </a:r>
            <a:r>
              <a:rPr lang="az-Latn-AZ" sz="2000" b="1" dirty="0"/>
              <a:t>əfərova Nazlı</a:t>
            </a:r>
          </a:p>
          <a:p>
            <a:pPr marL="285750" indent="-285750">
              <a:buFont typeface="Arial" panose="020B0604020202020204" pitchFamily="34" charset="0"/>
              <a:buChar char="•"/>
            </a:pPr>
            <a:r>
              <a:rPr lang="az-Latn-AZ" sz="2000" b="1" dirty="0"/>
              <a:t>Müəllim</a:t>
            </a:r>
            <a:r>
              <a:rPr lang="en-US" sz="2000" b="1" dirty="0"/>
              <a:t>:H</a:t>
            </a:r>
            <a:r>
              <a:rPr lang="az-Latn-AZ" sz="2000" b="1" dirty="0"/>
              <a:t>üseynli Vüqar</a:t>
            </a:r>
          </a:p>
        </p:txBody>
      </p:sp>
    </p:spTree>
    <p:extLst>
      <p:ext uri="{BB962C8B-B14F-4D97-AF65-F5344CB8AC3E}">
        <p14:creationId xmlns:p14="http://schemas.microsoft.com/office/powerpoint/2010/main" val="24712507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71509" y="0"/>
            <a:ext cx="4383919" cy="1335314"/>
          </a:xfrm>
        </p:spPr>
        <p:txBody>
          <a:bodyPr>
            <a:normAutofit/>
          </a:bodyPr>
          <a:lstStyle/>
          <a:p>
            <a:r>
              <a:rPr lang="az-Latn-AZ" sz="4000" dirty="0" smtClean="0"/>
              <a:t>2D MATRİS</a:t>
            </a:r>
            <a:endParaRPr lang="ru-RU" sz="4000" dirty="0"/>
          </a:p>
        </p:txBody>
      </p:sp>
      <p:sp>
        <p:nvSpPr>
          <p:cNvPr id="3" name="Rectangle 2"/>
          <p:cNvSpPr/>
          <p:nvPr/>
        </p:nvSpPr>
        <p:spPr>
          <a:xfrm>
            <a:off x="290285" y="1335314"/>
            <a:ext cx="4876801" cy="4401205"/>
          </a:xfrm>
          <a:prstGeom prst="rect">
            <a:avLst/>
          </a:prstGeom>
        </p:spPr>
        <p:txBody>
          <a:bodyPr wrap="square">
            <a:spAutoFit/>
          </a:bodyPr>
          <a:lstStyle/>
          <a:p>
            <a:r>
              <a:rPr lang="az-Latn-AZ" sz="2800" b="1" dirty="0"/>
              <a:t>2D Matris (ikiölçülü matris) iki ölçülü bir verilənlər strukturu olub, elementləri satırlar və sütunlardan ibarət olur. 2D matrislər sırasıyla verilən məlumatları saxlamaq və bu məlumatlar üzərində əməliyyatlar aparmaq üçün geniş istifadə olunur.</a:t>
            </a:r>
            <a:endParaRPr lang="ru-RU" sz="2800" b="1" dirty="0"/>
          </a:p>
        </p:txBody>
      </p:sp>
      <p:pic>
        <p:nvPicPr>
          <p:cNvPr id="1026" name="Picture 2" descr="Extrusion along Z axis of a 2D matrix to generate a 3D tensor. | Download  Scientific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68686" y="1727428"/>
            <a:ext cx="6687230" cy="31784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56176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2873829" y="2597642"/>
            <a:ext cx="7039428"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2400" b="1" i="0" u="none" strike="noStrike" cap="none" normalizeH="0" baseline="0" dirty="0" smtClean="0">
                <a:ln>
                  <a:noFill/>
                </a:ln>
                <a:solidFill>
                  <a:schemeClr val="tx1"/>
                </a:solidFill>
                <a:effectLst/>
              </a:rPr>
              <a:t>Matrisi simmetrikdir: Bu, qrafın cəhətinin qeyri-yoğun olduğunu göstərir, yəni əgər (i, j) mövqeyində 1 varsa, (j, i) mövqeyində də 1 olacaq.</a:t>
            </a:r>
          </a:p>
          <a:p>
            <a:pPr lvl="0" defTabSz="914400" eaLnBrk="0" fontAlgn="base" hangingPunct="0">
              <a:spcBef>
                <a:spcPct val="0"/>
              </a:spcBef>
              <a:spcAft>
                <a:spcPct val="0"/>
              </a:spcAft>
              <a:buFontTx/>
              <a:buChar char="•"/>
            </a:pPr>
            <a:r>
              <a:rPr kumimoji="0" lang="az-Latn-AZ" altLang="ru-RU" sz="2400" b="1" i="0" u="none" strike="noStrike" cap="none" normalizeH="0" baseline="0" dirty="0" smtClean="0">
                <a:ln>
                  <a:noFill/>
                </a:ln>
                <a:solidFill>
                  <a:schemeClr val="tx1"/>
                </a:solidFill>
                <a:effectLst/>
              </a:rPr>
              <a:t>Diagonal elementlər 0 olmalıdır:</a:t>
            </a:r>
            <a:r>
              <a:rPr lang="az-Latn-AZ" sz="2400" b="1" dirty="0"/>
              <a:t>Çünki hər hansı bir zirvə özünə kənar bağlamır,</a:t>
            </a:r>
            <a:endParaRPr kumimoji="0" lang="az-Latn-AZ" altLang="ru-RU" sz="2400" b="1" i="0" u="none" strike="noStrike" cap="none" normalizeH="0" baseline="0" dirty="0" smtClean="0">
              <a:ln>
                <a:noFill/>
              </a:ln>
              <a:solidFill>
                <a:schemeClr val="tx1"/>
              </a:solidFill>
              <a:effectLst/>
            </a:endParaRPr>
          </a:p>
        </p:txBody>
      </p:sp>
      <p:sp>
        <p:nvSpPr>
          <p:cNvPr id="3" name="TextBox 2"/>
          <p:cNvSpPr txBox="1"/>
          <p:nvPr/>
        </p:nvSpPr>
        <p:spPr>
          <a:xfrm>
            <a:off x="841830" y="406400"/>
            <a:ext cx="2380342" cy="707886"/>
          </a:xfrm>
          <a:prstGeom prst="rect">
            <a:avLst/>
          </a:prstGeom>
          <a:noFill/>
        </p:spPr>
        <p:txBody>
          <a:bodyPr wrap="square" rtlCol="0">
            <a:spAutoFit/>
          </a:bodyPr>
          <a:lstStyle/>
          <a:p>
            <a:r>
              <a:rPr lang="en-US" sz="4000" b="1" dirty="0" smtClean="0"/>
              <a:t>MATRIS</a:t>
            </a:r>
            <a:endParaRPr lang="ru-RU" sz="4000" b="1" dirty="0"/>
          </a:p>
        </p:txBody>
      </p:sp>
      <p:sp>
        <p:nvSpPr>
          <p:cNvPr id="6" name="Down Arrow 5"/>
          <p:cNvSpPr/>
          <p:nvPr/>
        </p:nvSpPr>
        <p:spPr>
          <a:xfrm>
            <a:off x="2917372" y="940114"/>
            <a:ext cx="856342" cy="148335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1493979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795275"/>
            <a:ext cx="6270652" cy="1991467"/>
          </a:xfrm>
          <a:prstGeom prst="rect">
            <a:avLst/>
          </a:prstGeom>
        </p:spPr>
      </p:pic>
      <p:sp>
        <p:nvSpPr>
          <p:cNvPr id="4" name="Rectangle 3"/>
          <p:cNvSpPr/>
          <p:nvPr/>
        </p:nvSpPr>
        <p:spPr>
          <a:xfrm>
            <a:off x="4513941" y="3133272"/>
            <a:ext cx="7141029" cy="1200329"/>
          </a:xfrm>
          <a:prstGeom prst="rect">
            <a:avLst/>
          </a:prstGeom>
        </p:spPr>
        <p:txBody>
          <a:bodyPr wrap="square">
            <a:spAutoFit/>
          </a:bodyPr>
          <a:lstStyle/>
          <a:p>
            <a:r>
              <a:rPr lang="az-Latn-AZ" dirty="0"/>
              <a:t>İzah: Bu qraf 4 zirvəsi olan əlaqəsiz bir qrafdır. Zirvə 3 heç bir başqa zirvəyə bağlı deyil, yəni bu qrafın əlaqəliliyi yoxdur.</a:t>
            </a:r>
          </a:p>
          <a:p>
            <a:r>
              <a:rPr lang="az-Latn-AZ" dirty="0"/>
              <a:t>Bu qraf ağac ola bilməz, çünki əlaqəsizdir.</a:t>
            </a:r>
          </a:p>
        </p:txBody>
      </p:sp>
      <p:pic>
        <p:nvPicPr>
          <p:cNvPr id="6" name="Picture 5"/>
          <p:cNvPicPr>
            <a:picLocks noChangeAspect="1"/>
          </p:cNvPicPr>
          <p:nvPr/>
        </p:nvPicPr>
        <p:blipFill rotWithShape="1">
          <a:blip r:embed="rId3"/>
          <a:srcRect l="9396"/>
          <a:stretch/>
        </p:blipFill>
        <p:spPr>
          <a:xfrm>
            <a:off x="2554994" y="4680132"/>
            <a:ext cx="5749689" cy="1691213"/>
          </a:xfrm>
          <a:prstGeom prst="rect">
            <a:avLst/>
          </a:prstGeom>
        </p:spPr>
      </p:pic>
    </p:spTree>
    <p:extLst>
      <p:ext uri="{BB962C8B-B14F-4D97-AF65-F5344CB8AC3E}">
        <p14:creationId xmlns:p14="http://schemas.microsoft.com/office/powerpoint/2010/main" val="14599088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t="20633"/>
          <a:stretch/>
        </p:blipFill>
        <p:spPr>
          <a:xfrm>
            <a:off x="287738" y="711199"/>
            <a:ext cx="6127029" cy="1524000"/>
          </a:xfrm>
          <a:prstGeom prst="rect">
            <a:avLst/>
          </a:prstGeom>
        </p:spPr>
      </p:pic>
      <p:sp>
        <p:nvSpPr>
          <p:cNvPr id="3" name="Rectangle 2"/>
          <p:cNvSpPr/>
          <p:nvPr/>
        </p:nvSpPr>
        <p:spPr>
          <a:xfrm>
            <a:off x="4789715" y="2427852"/>
            <a:ext cx="7053942" cy="1754326"/>
          </a:xfrm>
          <a:prstGeom prst="rect">
            <a:avLst/>
          </a:prstGeom>
        </p:spPr>
        <p:txBody>
          <a:bodyPr wrap="square">
            <a:spAutoFit/>
          </a:bodyPr>
          <a:lstStyle/>
          <a:p>
            <a:r>
              <a:rPr lang="az-Latn-AZ" b="1" dirty="0"/>
              <a:t>İzah</a:t>
            </a:r>
            <a:r>
              <a:rPr lang="az-Latn-AZ" dirty="0"/>
              <a:t>: Bu, 3 zirvəsi olan döngə təşkil edən bir qrafdır. Zirvələr arasında aşağıdakı əlaqələr mövcuddur:</a:t>
            </a:r>
          </a:p>
          <a:p>
            <a:pPr>
              <a:buFont typeface="Arial" panose="020B0604020202020204" pitchFamily="34" charset="0"/>
              <a:buChar char="•"/>
            </a:pPr>
            <a:r>
              <a:rPr lang="az-Latn-AZ" dirty="0"/>
              <a:t>Zirvə 0 ilə Zirvə 1 bağlıdır.</a:t>
            </a:r>
          </a:p>
          <a:p>
            <a:pPr>
              <a:buFont typeface="Arial" panose="020B0604020202020204" pitchFamily="34" charset="0"/>
              <a:buChar char="•"/>
            </a:pPr>
            <a:r>
              <a:rPr lang="az-Latn-AZ" dirty="0"/>
              <a:t>Zirvə 1 ilə Zirvə 2 bağlıdır.</a:t>
            </a:r>
          </a:p>
          <a:p>
            <a:pPr>
              <a:buFont typeface="Arial" panose="020B0604020202020204" pitchFamily="34" charset="0"/>
              <a:buChar char="•"/>
            </a:pPr>
            <a:r>
              <a:rPr lang="az-Latn-AZ" dirty="0"/>
              <a:t>Zirvə 0 ilə Zirvə 2 bağlıdır (bu, döngə yaradır).</a:t>
            </a:r>
          </a:p>
          <a:p>
            <a:r>
              <a:rPr lang="az-Latn-AZ" dirty="0"/>
              <a:t>Bu qraf döngü yaratdığı üçün ağac deyil.</a:t>
            </a:r>
          </a:p>
        </p:txBody>
      </p:sp>
      <p:pic>
        <p:nvPicPr>
          <p:cNvPr id="4" name="Picture 3"/>
          <p:cNvPicPr>
            <a:picLocks noChangeAspect="1"/>
          </p:cNvPicPr>
          <p:nvPr/>
        </p:nvPicPr>
        <p:blipFill rotWithShape="1">
          <a:blip r:embed="rId3"/>
          <a:srcRect l="9138"/>
          <a:stretch/>
        </p:blipFill>
        <p:spPr>
          <a:xfrm>
            <a:off x="1016000" y="4374831"/>
            <a:ext cx="5271495" cy="1793938"/>
          </a:xfrm>
          <a:prstGeom prst="rect">
            <a:avLst/>
          </a:prstGeom>
        </p:spPr>
      </p:pic>
    </p:spTree>
    <p:extLst>
      <p:ext uri="{BB962C8B-B14F-4D97-AF65-F5344CB8AC3E}">
        <p14:creationId xmlns:p14="http://schemas.microsoft.com/office/powerpoint/2010/main" val="15448903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86872" y="0"/>
            <a:ext cx="4383314" cy="1306286"/>
          </a:xfrm>
        </p:spPr>
        <p:txBody>
          <a:bodyPr>
            <a:normAutofit/>
          </a:bodyPr>
          <a:lstStyle/>
          <a:p>
            <a:r>
              <a:rPr lang="en-US" sz="4000" dirty="0" smtClean="0"/>
              <a:t>EOLYMP-</a:t>
            </a:r>
            <a:r>
              <a:rPr lang="az-Latn-AZ" sz="4000" dirty="0" smtClean="0"/>
              <a:t>8525</a:t>
            </a:r>
            <a:endParaRPr lang="ru-RU" sz="4000" dirty="0"/>
          </a:p>
        </p:txBody>
      </p:sp>
      <p:pic>
        <p:nvPicPr>
          <p:cNvPr id="4" name="Picture 3"/>
          <p:cNvPicPr>
            <a:picLocks noChangeAspect="1"/>
          </p:cNvPicPr>
          <p:nvPr/>
        </p:nvPicPr>
        <p:blipFill>
          <a:blip r:embed="rId2"/>
          <a:stretch>
            <a:fillRect/>
          </a:stretch>
        </p:blipFill>
        <p:spPr>
          <a:xfrm>
            <a:off x="5776687" y="2154494"/>
            <a:ext cx="6270171" cy="3420292"/>
          </a:xfrm>
          <a:prstGeom prst="rect">
            <a:avLst/>
          </a:prstGeom>
        </p:spPr>
      </p:pic>
      <p:pic>
        <p:nvPicPr>
          <p:cNvPr id="5" name="Picture 4"/>
          <p:cNvPicPr>
            <a:picLocks noChangeAspect="1"/>
          </p:cNvPicPr>
          <p:nvPr/>
        </p:nvPicPr>
        <p:blipFill>
          <a:blip r:embed="rId3"/>
          <a:stretch>
            <a:fillRect/>
          </a:stretch>
        </p:blipFill>
        <p:spPr>
          <a:xfrm>
            <a:off x="232229" y="1527628"/>
            <a:ext cx="5130082" cy="4250357"/>
          </a:xfrm>
          <a:prstGeom prst="rect">
            <a:avLst/>
          </a:prstGeom>
        </p:spPr>
      </p:pic>
    </p:spTree>
    <p:extLst>
      <p:ext uri="{BB962C8B-B14F-4D97-AF65-F5344CB8AC3E}">
        <p14:creationId xmlns:p14="http://schemas.microsoft.com/office/powerpoint/2010/main" val="1182434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3657" y="0"/>
            <a:ext cx="8117956" cy="1326321"/>
          </a:xfrm>
        </p:spPr>
        <p:txBody>
          <a:bodyPr/>
          <a:lstStyle/>
          <a:p>
            <a:r>
              <a:rPr lang="az-Latn-AZ" dirty="0" smtClean="0"/>
              <a:t>Eolymp-8524</a:t>
            </a:r>
            <a:endParaRPr lang="ru-RU" dirty="0"/>
          </a:p>
        </p:txBody>
      </p:sp>
      <p:pic>
        <p:nvPicPr>
          <p:cNvPr id="3" name="Picture 2"/>
          <p:cNvPicPr>
            <a:picLocks noChangeAspect="1"/>
          </p:cNvPicPr>
          <p:nvPr/>
        </p:nvPicPr>
        <p:blipFill>
          <a:blip r:embed="rId2"/>
          <a:stretch>
            <a:fillRect/>
          </a:stretch>
        </p:blipFill>
        <p:spPr>
          <a:xfrm>
            <a:off x="5117887" y="1490070"/>
            <a:ext cx="6943486" cy="3013636"/>
          </a:xfrm>
          <a:prstGeom prst="rect">
            <a:avLst/>
          </a:prstGeom>
        </p:spPr>
      </p:pic>
      <p:pic>
        <p:nvPicPr>
          <p:cNvPr id="4" name="Picture 3"/>
          <p:cNvPicPr>
            <a:picLocks noChangeAspect="1"/>
          </p:cNvPicPr>
          <p:nvPr/>
        </p:nvPicPr>
        <p:blipFill>
          <a:blip r:embed="rId3"/>
          <a:stretch>
            <a:fillRect/>
          </a:stretch>
        </p:blipFill>
        <p:spPr>
          <a:xfrm>
            <a:off x="0" y="1806292"/>
            <a:ext cx="4972744" cy="4058216"/>
          </a:xfrm>
          <a:prstGeom prst="rect">
            <a:avLst/>
          </a:prstGeom>
        </p:spPr>
      </p:pic>
    </p:spTree>
    <p:extLst>
      <p:ext uri="{BB962C8B-B14F-4D97-AF65-F5344CB8AC3E}">
        <p14:creationId xmlns:p14="http://schemas.microsoft.com/office/powerpoint/2010/main" val="22680012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3566" y="0"/>
            <a:ext cx="10353761" cy="1326321"/>
          </a:xfrm>
        </p:spPr>
        <p:txBody>
          <a:bodyPr/>
          <a:lstStyle/>
          <a:p>
            <a:r>
              <a:rPr lang="az-Latn-AZ" dirty="0" smtClean="0"/>
              <a:t>EOLYMP-4751</a:t>
            </a:r>
            <a:endParaRPr lang="ru-RU" dirty="0"/>
          </a:p>
        </p:txBody>
      </p:sp>
      <p:pic>
        <p:nvPicPr>
          <p:cNvPr id="3" name="Picture 2"/>
          <p:cNvPicPr>
            <a:picLocks noChangeAspect="1"/>
          </p:cNvPicPr>
          <p:nvPr/>
        </p:nvPicPr>
        <p:blipFill>
          <a:blip r:embed="rId2"/>
          <a:stretch>
            <a:fillRect/>
          </a:stretch>
        </p:blipFill>
        <p:spPr>
          <a:xfrm>
            <a:off x="6028072" y="2133686"/>
            <a:ext cx="6042267" cy="2423800"/>
          </a:xfrm>
          <a:prstGeom prst="rect">
            <a:avLst/>
          </a:prstGeom>
        </p:spPr>
      </p:pic>
      <p:pic>
        <p:nvPicPr>
          <p:cNvPr id="4" name="Picture 3"/>
          <p:cNvPicPr>
            <a:picLocks noChangeAspect="1"/>
          </p:cNvPicPr>
          <p:nvPr/>
        </p:nvPicPr>
        <p:blipFill>
          <a:blip r:embed="rId3"/>
          <a:stretch>
            <a:fillRect/>
          </a:stretch>
        </p:blipFill>
        <p:spPr>
          <a:xfrm>
            <a:off x="431448" y="1326321"/>
            <a:ext cx="5335369" cy="5001908"/>
          </a:xfrm>
          <a:prstGeom prst="rect">
            <a:avLst/>
          </a:prstGeom>
        </p:spPr>
      </p:pic>
    </p:spTree>
    <p:extLst>
      <p:ext uri="{BB962C8B-B14F-4D97-AF65-F5344CB8AC3E}">
        <p14:creationId xmlns:p14="http://schemas.microsoft.com/office/powerpoint/2010/main" val="8660945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3333" y="0"/>
            <a:ext cx="10353761" cy="1326321"/>
          </a:xfrm>
        </p:spPr>
        <p:txBody>
          <a:bodyPr/>
          <a:lstStyle/>
          <a:p>
            <a:r>
              <a:rPr lang="az-Latn-AZ" dirty="0" smtClean="0"/>
              <a:t>EOLYMP</a:t>
            </a:r>
            <a:r>
              <a:rPr lang="en-US" dirty="0" smtClean="0"/>
              <a:t>-9570</a:t>
            </a:r>
            <a:endParaRPr lang="ru-RU" dirty="0"/>
          </a:p>
        </p:txBody>
      </p:sp>
      <p:pic>
        <p:nvPicPr>
          <p:cNvPr id="3" name="Picture 2"/>
          <p:cNvPicPr>
            <a:picLocks noChangeAspect="1"/>
          </p:cNvPicPr>
          <p:nvPr/>
        </p:nvPicPr>
        <p:blipFill>
          <a:blip r:embed="rId2"/>
          <a:stretch>
            <a:fillRect/>
          </a:stretch>
        </p:blipFill>
        <p:spPr>
          <a:xfrm>
            <a:off x="193333" y="1546790"/>
            <a:ext cx="4896533" cy="4896533"/>
          </a:xfrm>
          <a:prstGeom prst="rect">
            <a:avLst/>
          </a:prstGeom>
        </p:spPr>
      </p:pic>
      <p:pic>
        <p:nvPicPr>
          <p:cNvPr id="4" name="Picture 3"/>
          <p:cNvPicPr>
            <a:picLocks noChangeAspect="1"/>
          </p:cNvPicPr>
          <p:nvPr/>
        </p:nvPicPr>
        <p:blipFill>
          <a:blip r:embed="rId3"/>
          <a:stretch>
            <a:fillRect/>
          </a:stretch>
        </p:blipFill>
        <p:spPr>
          <a:xfrm>
            <a:off x="5360383" y="2295184"/>
            <a:ext cx="6671959" cy="1933737"/>
          </a:xfrm>
          <a:prstGeom prst="rect">
            <a:avLst/>
          </a:prstGeom>
        </p:spPr>
      </p:pic>
    </p:spTree>
    <p:extLst>
      <p:ext uri="{BB962C8B-B14F-4D97-AF65-F5344CB8AC3E}">
        <p14:creationId xmlns:p14="http://schemas.microsoft.com/office/powerpoint/2010/main" val="32252452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3166" y="0"/>
            <a:ext cx="10353761" cy="1326321"/>
          </a:xfrm>
        </p:spPr>
        <p:txBody>
          <a:bodyPr/>
          <a:lstStyle/>
          <a:p>
            <a:r>
              <a:rPr lang="en-US" dirty="0" smtClean="0"/>
              <a:t>Eolymp-8530</a:t>
            </a:r>
            <a:endParaRPr lang="ru-RU" dirty="0"/>
          </a:p>
        </p:txBody>
      </p:sp>
      <p:pic>
        <p:nvPicPr>
          <p:cNvPr id="3" name="Picture 2"/>
          <p:cNvPicPr>
            <a:picLocks noChangeAspect="1"/>
          </p:cNvPicPr>
          <p:nvPr/>
        </p:nvPicPr>
        <p:blipFill>
          <a:blip r:embed="rId2"/>
          <a:stretch>
            <a:fillRect/>
          </a:stretch>
        </p:blipFill>
        <p:spPr>
          <a:xfrm>
            <a:off x="5960046" y="2385909"/>
            <a:ext cx="6082080" cy="1866777"/>
          </a:xfrm>
          <a:prstGeom prst="rect">
            <a:avLst/>
          </a:prstGeom>
        </p:spPr>
      </p:pic>
      <p:pic>
        <p:nvPicPr>
          <p:cNvPr id="4" name="Picture 3"/>
          <p:cNvPicPr>
            <a:picLocks noChangeAspect="1"/>
          </p:cNvPicPr>
          <p:nvPr/>
        </p:nvPicPr>
        <p:blipFill>
          <a:blip r:embed="rId3"/>
          <a:stretch>
            <a:fillRect/>
          </a:stretch>
        </p:blipFill>
        <p:spPr>
          <a:xfrm>
            <a:off x="290619" y="1326321"/>
            <a:ext cx="5457038" cy="5079968"/>
          </a:xfrm>
          <a:prstGeom prst="rect">
            <a:avLst/>
          </a:prstGeom>
        </p:spPr>
      </p:pic>
    </p:spTree>
    <p:extLst>
      <p:ext uri="{BB962C8B-B14F-4D97-AF65-F5344CB8AC3E}">
        <p14:creationId xmlns:p14="http://schemas.microsoft.com/office/powerpoint/2010/main" val="332711398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TM04033921[[fn=Damask]]</Template>
  <TotalTime>144</TotalTime>
  <Words>222</Words>
  <Application>Microsoft Office PowerPoint</Application>
  <PresentationFormat>Widescreen</PresentationFormat>
  <Paragraphs>28</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Bookman Old Style</vt:lpstr>
      <vt:lpstr>Rockwell</vt:lpstr>
      <vt:lpstr>Damask</vt:lpstr>
      <vt:lpstr>PowerPoint Presentation</vt:lpstr>
      <vt:lpstr>2D MATRİS</vt:lpstr>
      <vt:lpstr>PowerPoint Presentation</vt:lpstr>
      <vt:lpstr>PowerPoint Presentation</vt:lpstr>
      <vt:lpstr>PowerPoint Presentation</vt:lpstr>
      <vt:lpstr>EOLYMP-8525</vt:lpstr>
      <vt:lpstr>Eolymp-8524</vt:lpstr>
      <vt:lpstr>EOLYMP-4751</vt:lpstr>
      <vt:lpstr>EOLYMP-9570</vt:lpstr>
      <vt:lpstr>Eolymp-8530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Aslan</dc:creator>
  <cp:lastModifiedBy>Aslan</cp:lastModifiedBy>
  <cp:revision>8</cp:revision>
  <dcterms:created xsi:type="dcterms:W3CDTF">2024-12-15T20:03:29Z</dcterms:created>
  <dcterms:modified xsi:type="dcterms:W3CDTF">2024-12-16T13:07:46Z</dcterms:modified>
</cp:coreProperties>
</file>