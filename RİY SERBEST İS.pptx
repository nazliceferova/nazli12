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7" r:id="rId2"/>
    <p:sldId id="258" r:id="rId3"/>
    <p:sldId id="259" r:id="rId4"/>
    <p:sldId id="260" r:id="rId5"/>
    <p:sldId id="261" r:id="rId6"/>
    <p:sldId id="262" r:id="rId7"/>
    <p:sldId id="264" r:id="rId8"/>
    <p:sldId id="263" r:id="rId9"/>
    <p:sldId id="265" r:id="rId10"/>
    <p:sldId id="266" r:id="rId11"/>
    <p:sldId id="267" r:id="rId12"/>
    <p:sldId id="268" r:id="rId13"/>
    <p:sldId id="269" r:id="rId14"/>
    <p:sldId id="270" r:id="rId15"/>
    <p:sldId id="271" r:id="rId16"/>
    <p:sldId id="273" r:id="rId17"/>
    <p:sldId id="272" r:id="rId18"/>
    <p:sldId id="279" r:id="rId19"/>
    <p:sldId id="282" r:id="rId20"/>
    <p:sldId id="284" r:id="rId21"/>
    <p:sldId id="274" r:id="rId22"/>
    <p:sldId id="275" r:id="rId23"/>
    <p:sldId id="276" r:id="rId24"/>
    <p:sldId id="277" r:id="rId25"/>
    <p:sldId id="278" r:id="rId26"/>
    <p:sldId id="283"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6" d="100"/>
          <a:sy n="66" d="100"/>
        </p:scale>
        <p:origin x="81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E076B7E-5076-4DCE-A68A-F1104D87D8E5}" type="datetimeFigureOut">
              <a:rPr lang="ru-RU" smtClean="0"/>
              <a:t>22.12.2024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7A358D9-9AC7-4C60-964E-E84E1C02A52E}" type="slidenum">
              <a:rPr lang="ru-RU" smtClean="0"/>
              <a:t>‹#›</a:t>
            </a:fld>
            <a:endParaRPr lang="ru-RU"/>
          </a:p>
        </p:txBody>
      </p:sp>
    </p:spTree>
    <p:extLst>
      <p:ext uri="{BB962C8B-B14F-4D97-AF65-F5344CB8AC3E}">
        <p14:creationId xmlns:p14="http://schemas.microsoft.com/office/powerpoint/2010/main" val="34205408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E076B7E-5076-4DCE-A68A-F1104D87D8E5}" type="datetimeFigureOut">
              <a:rPr lang="ru-RU" smtClean="0"/>
              <a:t>22.12.2024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7A358D9-9AC7-4C60-964E-E84E1C02A52E}" type="slidenum">
              <a:rPr lang="ru-RU" smtClean="0"/>
              <a:t>‹#›</a:t>
            </a:fld>
            <a:endParaRPr lang="ru-RU"/>
          </a:p>
        </p:txBody>
      </p:sp>
    </p:spTree>
    <p:extLst>
      <p:ext uri="{BB962C8B-B14F-4D97-AF65-F5344CB8AC3E}">
        <p14:creationId xmlns:p14="http://schemas.microsoft.com/office/powerpoint/2010/main" val="2544205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smtClean="0"/>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E076B7E-5076-4DCE-A68A-F1104D87D8E5}" type="datetimeFigureOut">
              <a:rPr lang="ru-RU" smtClean="0"/>
              <a:t>22.12.2024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7A358D9-9AC7-4C60-964E-E84E1C02A52E}" type="slidenum">
              <a:rPr lang="ru-RU" smtClean="0"/>
              <a:t>‹#›</a:t>
            </a:fld>
            <a:endParaRPr lang="ru-RU"/>
          </a:p>
        </p:txBody>
      </p:sp>
    </p:spTree>
    <p:extLst>
      <p:ext uri="{BB962C8B-B14F-4D97-AF65-F5344CB8AC3E}">
        <p14:creationId xmlns:p14="http://schemas.microsoft.com/office/powerpoint/2010/main" val="2325428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smtClean="0"/>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E076B7E-5076-4DCE-A68A-F1104D87D8E5}" type="datetimeFigureOut">
              <a:rPr lang="ru-RU" smtClean="0"/>
              <a:t>22.12.2024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47A358D9-9AC7-4C60-964E-E84E1C02A52E}" type="slidenum">
              <a:rPr lang="ru-RU" smtClean="0"/>
              <a:t>‹#›</a:t>
            </a:fld>
            <a:endParaRPr lang="ru-RU"/>
          </a:p>
        </p:txBody>
      </p:sp>
    </p:spTree>
    <p:extLst>
      <p:ext uri="{BB962C8B-B14F-4D97-AF65-F5344CB8AC3E}">
        <p14:creationId xmlns:p14="http://schemas.microsoft.com/office/powerpoint/2010/main" val="19307265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E076B7E-5076-4DCE-A68A-F1104D87D8E5}" type="datetimeFigureOut">
              <a:rPr lang="ru-RU" smtClean="0"/>
              <a:t>22.12.2024</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47A358D9-9AC7-4C60-964E-E84E1C02A52E}" type="slidenum">
              <a:rPr lang="ru-RU" smtClean="0"/>
              <a:t>‹#›</a:t>
            </a:fld>
            <a:endParaRPr lang="ru-RU"/>
          </a:p>
        </p:txBody>
      </p:sp>
    </p:spTree>
    <p:extLst>
      <p:ext uri="{BB962C8B-B14F-4D97-AF65-F5344CB8AC3E}">
        <p14:creationId xmlns:p14="http://schemas.microsoft.com/office/powerpoint/2010/main" val="5729117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E076B7E-5076-4DCE-A68A-F1104D87D8E5}" type="datetimeFigureOut">
              <a:rPr lang="ru-RU" smtClean="0"/>
              <a:t>22.12.2024</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47A358D9-9AC7-4C60-964E-E84E1C02A52E}" type="slidenum">
              <a:rPr lang="ru-RU" smtClean="0"/>
              <a:t>‹#›</a:t>
            </a:fld>
            <a:endParaRPr lang="ru-RU"/>
          </a:p>
        </p:txBody>
      </p:sp>
    </p:spTree>
    <p:extLst>
      <p:ext uri="{BB962C8B-B14F-4D97-AF65-F5344CB8AC3E}">
        <p14:creationId xmlns:p14="http://schemas.microsoft.com/office/powerpoint/2010/main" val="8174842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1E076B7E-5076-4DCE-A68A-F1104D87D8E5}" type="datetimeFigureOut">
              <a:rPr lang="ru-RU" smtClean="0"/>
              <a:t>22.12.2024</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47A358D9-9AC7-4C60-964E-E84E1C02A52E}" type="slidenum">
              <a:rPr lang="ru-RU" smtClean="0"/>
              <a:t>‹#›</a:t>
            </a:fld>
            <a:endParaRPr lang="ru-RU"/>
          </a:p>
        </p:txBody>
      </p:sp>
    </p:spTree>
    <p:extLst>
      <p:ext uri="{BB962C8B-B14F-4D97-AF65-F5344CB8AC3E}">
        <p14:creationId xmlns:p14="http://schemas.microsoft.com/office/powerpoint/2010/main" val="14531429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smtClean="0"/>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E076B7E-5076-4DCE-A68A-F1104D87D8E5}" type="datetimeFigureOut">
              <a:rPr lang="ru-RU" smtClean="0"/>
              <a:t>22.12.2024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47A358D9-9AC7-4C60-964E-E84E1C02A52E}" type="slidenum">
              <a:rPr lang="ru-RU" smtClean="0"/>
              <a:t>‹#›</a:t>
            </a:fld>
            <a:endParaRPr lang="ru-RU"/>
          </a:p>
        </p:txBody>
      </p:sp>
    </p:spTree>
    <p:extLst>
      <p:ext uri="{BB962C8B-B14F-4D97-AF65-F5344CB8AC3E}">
        <p14:creationId xmlns:p14="http://schemas.microsoft.com/office/powerpoint/2010/main" val="1493375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E076B7E-5076-4DCE-A68A-F1104D87D8E5}" type="datetimeFigureOut">
              <a:rPr lang="ru-RU" smtClean="0"/>
              <a:t>22.12.2024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47A358D9-9AC7-4C60-964E-E84E1C02A52E}" type="slidenum">
              <a:rPr lang="ru-RU" smtClean="0"/>
              <a:t>‹#›</a:t>
            </a:fld>
            <a:endParaRPr lang="ru-RU"/>
          </a:p>
        </p:txBody>
      </p:sp>
    </p:spTree>
    <p:extLst>
      <p:ext uri="{BB962C8B-B14F-4D97-AF65-F5344CB8AC3E}">
        <p14:creationId xmlns:p14="http://schemas.microsoft.com/office/powerpoint/2010/main" val="846074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E076B7E-5076-4DCE-A68A-F1104D87D8E5}" type="datetimeFigureOut">
              <a:rPr lang="ru-RU" smtClean="0"/>
              <a:t>22.12.2024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47A358D9-9AC7-4C60-964E-E84E1C02A52E}" type="slidenum">
              <a:rPr lang="ru-RU" smtClean="0"/>
              <a:t>‹#›</a:t>
            </a:fld>
            <a:endParaRPr lang="ru-RU"/>
          </a:p>
        </p:txBody>
      </p:sp>
    </p:spTree>
    <p:extLst>
      <p:ext uri="{BB962C8B-B14F-4D97-AF65-F5344CB8AC3E}">
        <p14:creationId xmlns:p14="http://schemas.microsoft.com/office/powerpoint/2010/main" val="7204089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E076B7E-5076-4DCE-A68A-F1104D87D8E5}" type="datetimeFigureOut">
              <a:rPr lang="ru-RU" smtClean="0"/>
              <a:t>22.12.2024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47A358D9-9AC7-4C60-964E-E84E1C02A52E}" type="slidenum">
              <a:rPr lang="ru-RU" smtClean="0"/>
              <a:t>‹#›</a:t>
            </a:fld>
            <a:endParaRPr lang="ru-RU"/>
          </a:p>
        </p:txBody>
      </p:sp>
    </p:spTree>
    <p:extLst>
      <p:ext uri="{BB962C8B-B14F-4D97-AF65-F5344CB8AC3E}">
        <p14:creationId xmlns:p14="http://schemas.microsoft.com/office/powerpoint/2010/main" val="23660927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E076B7E-5076-4DCE-A68A-F1104D87D8E5}" type="datetimeFigureOut">
              <a:rPr lang="ru-RU" smtClean="0"/>
              <a:t>22.12.2024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47A358D9-9AC7-4C60-964E-E84E1C02A52E}" type="slidenum">
              <a:rPr lang="ru-RU" smtClean="0"/>
              <a:t>‹#›</a:t>
            </a:fld>
            <a:endParaRPr lang="ru-RU"/>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0426722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E076B7E-5076-4DCE-A68A-F1104D87D8E5}" type="datetimeFigureOut">
              <a:rPr lang="ru-RU" smtClean="0"/>
              <a:t>22.12.2024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47A358D9-9AC7-4C60-964E-E84E1C02A52E}" type="slidenum">
              <a:rPr lang="ru-RU" smtClean="0"/>
              <a:t>‹#›</a:t>
            </a:fld>
            <a:endParaRPr lang="ru-RU"/>
          </a:p>
        </p:txBody>
      </p:sp>
    </p:spTree>
    <p:extLst>
      <p:ext uri="{BB962C8B-B14F-4D97-AF65-F5344CB8AC3E}">
        <p14:creationId xmlns:p14="http://schemas.microsoft.com/office/powerpoint/2010/main" val="31282347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1E076B7E-5076-4DCE-A68A-F1104D87D8E5}" type="datetimeFigureOut">
              <a:rPr lang="ru-RU" smtClean="0"/>
              <a:t>22.12.2024</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47A358D9-9AC7-4C60-964E-E84E1C02A52E}" type="slidenum">
              <a:rPr lang="ru-RU" smtClean="0"/>
              <a:t>‹#›</a:t>
            </a:fld>
            <a:endParaRPr lang="ru-RU"/>
          </a:p>
        </p:txBody>
      </p:sp>
    </p:spTree>
    <p:extLst>
      <p:ext uri="{BB962C8B-B14F-4D97-AF65-F5344CB8AC3E}">
        <p14:creationId xmlns:p14="http://schemas.microsoft.com/office/powerpoint/2010/main" val="39471871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1E076B7E-5076-4DCE-A68A-F1104D87D8E5}" type="datetimeFigureOut">
              <a:rPr lang="ru-RU" smtClean="0"/>
              <a:t>22.12.2024</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47A358D9-9AC7-4C60-964E-E84E1C02A52E}" type="slidenum">
              <a:rPr lang="ru-RU" smtClean="0"/>
              <a:t>‹#›</a:t>
            </a:fld>
            <a:endParaRPr lang="ru-RU"/>
          </a:p>
        </p:txBody>
      </p:sp>
    </p:spTree>
    <p:extLst>
      <p:ext uri="{BB962C8B-B14F-4D97-AF65-F5344CB8AC3E}">
        <p14:creationId xmlns:p14="http://schemas.microsoft.com/office/powerpoint/2010/main" val="8466582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E076B7E-5076-4DCE-A68A-F1104D87D8E5}" type="datetimeFigureOut">
              <a:rPr lang="ru-RU" smtClean="0"/>
              <a:t>22.12.2024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7A358D9-9AC7-4C60-964E-E84E1C02A52E}" type="slidenum">
              <a:rPr lang="ru-RU" smtClean="0"/>
              <a:t>‹#›</a:t>
            </a:fld>
            <a:endParaRPr lang="ru-RU"/>
          </a:p>
        </p:txBody>
      </p:sp>
    </p:spTree>
    <p:extLst>
      <p:ext uri="{BB962C8B-B14F-4D97-AF65-F5344CB8AC3E}">
        <p14:creationId xmlns:p14="http://schemas.microsoft.com/office/powerpoint/2010/main" val="21812755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smtClean="0"/>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E076B7E-5076-4DCE-A68A-F1104D87D8E5}" type="datetimeFigureOut">
              <a:rPr lang="ru-RU" smtClean="0"/>
              <a:t>22.12.2024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7A358D9-9AC7-4C60-964E-E84E1C02A52E}" type="slidenum">
              <a:rPr lang="ru-RU" smtClean="0"/>
              <a:t>‹#›</a:t>
            </a:fld>
            <a:endParaRPr lang="ru-RU"/>
          </a:p>
        </p:txBody>
      </p:sp>
    </p:spTree>
    <p:extLst>
      <p:ext uri="{BB962C8B-B14F-4D97-AF65-F5344CB8AC3E}">
        <p14:creationId xmlns:p14="http://schemas.microsoft.com/office/powerpoint/2010/main" val="525754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mt="7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1E076B7E-5076-4DCE-A68A-F1104D87D8E5}" type="datetimeFigureOut">
              <a:rPr lang="ru-RU" smtClean="0"/>
              <a:t>22.12.2024</a:t>
            </a:fld>
            <a:endParaRPr lang="ru-RU"/>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ru-RU"/>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47A358D9-9AC7-4C60-964E-E84E1C02A52E}" type="slidenum">
              <a:rPr lang="ru-RU" smtClean="0"/>
              <a:t>‹#›</a:t>
            </a:fld>
            <a:endParaRPr lang="ru-RU"/>
          </a:p>
        </p:txBody>
      </p:sp>
    </p:spTree>
    <p:extLst>
      <p:ext uri="{BB962C8B-B14F-4D97-AF65-F5344CB8AC3E}">
        <p14:creationId xmlns:p14="http://schemas.microsoft.com/office/powerpoint/2010/main" val="4012653294"/>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1383D-51BD-F56F-E3B8-69C83F0EA96C}"/>
              </a:ext>
            </a:extLst>
          </p:cNvPr>
          <p:cNvSpPr>
            <a:spLocks noGrp="1"/>
          </p:cNvSpPr>
          <p:nvPr>
            <p:ph type="title"/>
          </p:nvPr>
        </p:nvSpPr>
        <p:spPr>
          <a:xfrm>
            <a:off x="-229992" y="37718"/>
            <a:ext cx="11754585" cy="670168"/>
          </a:xfrm>
        </p:spPr>
        <p:txBody>
          <a:bodyPr>
            <a:normAutofit fontScale="90000"/>
          </a:bodyPr>
          <a:lstStyle/>
          <a:p>
            <a:r>
              <a:rPr lang="en-US" sz="4800" b="1" dirty="0"/>
              <a:t>                                                   </a:t>
            </a:r>
            <a:endParaRPr lang="en-US" sz="4800" dirty="0"/>
          </a:p>
        </p:txBody>
      </p:sp>
      <p:pic>
        <p:nvPicPr>
          <p:cNvPr id="5" name="Content Placeholder 4">
            <a:extLst>
              <a:ext uri="{FF2B5EF4-FFF2-40B4-BE49-F238E27FC236}">
                <a16:creationId xmlns:a16="http://schemas.microsoft.com/office/drawing/2014/main" id="{2B3C61FF-7A7A-BB9A-D045-2ECCEA91B08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26935" y="719889"/>
            <a:ext cx="5240730" cy="2004619"/>
          </a:xfrm>
          <a:prstGeom prst="rect">
            <a:avLst/>
          </a:prstGeom>
        </p:spPr>
      </p:pic>
      <p:sp>
        <p:nvSpPr>
          <p:cNvPr id="4" name="TextBox 3">
            <a:extLst>
              <a:ext uri="{FF2B5EF4-FFF2-40B4-BE49-F238E27FC236}">
                <a16:creationId xmlns:a16="http://schemas.microsoft.com/office/drawing/2014/main" id="{F5C88F2B-BB36-3C28-1C6F-F710612CA988}"/>
              </a:ext>
            </a:extLst>
          </p:cNvPr>
          <p:cNvSpPr txBox="1"/>
          <p:nvPr/>
        </p:nvSpPr>
        <p:spPr>
          <a:xfrm>
            <a:off x="325490" y="25715"/>
            <a:ext cx="11314967" cy="707886"/>
          </a:xfrm>
          <a:prstGeom prst="rect">
            <a:avLst/>
          </a:prstGeom>
          <a:noFill/>
        </p:spPr>
        <p:txBody>
          <a:bodyPr wrap="square">
            <a:spAutoFit/>
          </a:bodyPr>
          <a:lstStyle/>
          <a:p>
            <a:r>
              <a:rPr lang="az-Latn-AZ" sz="4000" dirty="0" smtClean="0"/>
              <a:t>Azərbaycan Respublikası Elm və Təhsil Nazirliyi</a:t>
            </a:r>
            <a:endParaRPr lang="az-Latn-AZ" sz="4000" dirty="0"/>
          </a:p>
        </p:txBody>
      </p:sp>
      <p:sp>
        <p:nvSpPr>
          <p:cNvPr id="7" name="TextBox 6">
            <a:extLst>
              <a:ext uri="{FF2B5EF4-FFF2-40B4-BE49-F238E27FC236}">
                <a16:creationId xmlns:a16="http://schemas.microsoft.com/office/drawing/2014/main" id="{C441D4DD-483F-CE63-AB03-48278BCF79CF}"/>
              </a:ext>
            </a:extLst>
          </p:cNvPr>
          <p:cNvSpPr txBox="1"/>
          <p:nvPr/>
        </p:nvSpPr>
        <p:spPr>
          <a:xfrm>
            <a:off x="583660" y="2887682"/>
            <a:ext cx="11186808" cy="3970318"/>
          </a:xfrm>
          <a:prstGeom prst="rect">
            <a:avLst/>
          </a:prstGeom>
          <a:noFill/>
        </p:spPr>
        <p:txBody>
          <a:bodyPr wrap="square">
            <a:spAutoFit/>
          </a:bodyPr>
          <a:lstStyle/>
          <a:p>
            <a:r>
              <a:rPr lang="az-Latn-AZ" sz="2800" dirty="0" smtClean="0"/>
              <a:t>Fakültə: İnformasiya və telekommunikasiya texnologiyaları</a:t>
            </a:r>
          </a:p>
          <a:p>
            <a:r>
              <a:rPr lang="az-Latn-AZ" sz="2800" dirty="0" smtClean="0"/>
              <a:t>Kafedra: Kompüter texnologiyaları</a:t>
            </a:r>
          </a:p>
          <a:p>
            <a:r>
              <a:rPr lang="az-Latn-AZ" sz="2800" dirty="0" smtClean="0"/>
              <a:t>Fənn adı: Riyaziyyat</a:t>
            </a:r>
          </a:p>
          <a:p>
            <a:r>
              <a:rPr lang="en-US" sz="2800" b="1" dirty="0" smtClean="0"/>
              <a:t>                                         </a:t>
            </a:r>
            <a:r>
              <a:rPr lang="az-Latn-AZ" sz="2800" b="1" dirty="0" smtClean="0"/>
              <a:t>Sərbəst </a:t>
            </a:r>
            <a:r>
              <a:rPr lang="az-Latn-AZ" sz="2800" b="1" dirty="0" smtClean="0">
                <a:effectLst>
                  <a:outerShdw blurRad="38100" dist="38100" dir="2700000" algn="tl">
                    <a:srgbClr val="000000">
                      <a:alpha val="43137"/>
                    </a:srgbClr>
                  </a:outerShdw>
                </a:effectLst>
              </a:rPr>
              <a:t>iş</a:t>
            </a:r>
            <a:r>
              <a:rPr lang="en-US" sz="2800" b="1" dirty="0" smtClean="0">
                <a:effectLst>
                  <a:outerShdw blurRad="38100" dist="38100" dir="2700000" algn="tl">
                    <a:srgbClr val="000000">
                      <a:alpha val="43137"/>
                    </a:srgbClr>
                  </a:outerShdw>
                </a:effectLst>
              </a:rPr>
              <a:t> </a:t>
            </a:r>
            <a:r>
              <a:rPr lang="en-US" sz="2800" b="1" dirty="0">
                <a:effectLst>
                  <a:outerShdw blurRad="38100" dist="38100" dir="2700000" algn="tl">
                    <a:srgbClr val="000000">
                      <a:alpha val="43137"/>
                    </a:srgbClr>
                  </a:outerShdw>
                </a:effectLst>
              </a:rPr>
              <a:t>№1</a:t>
            </a:r>
          </a:p>
          <a:p>
            <a:r>
              <a:rPr lang="az-Latn-AZ" sz="2800" dirty="0" smtClean="0"/>
              <a:t>Mövzu:</a:t>
            </a:r>
          </a:p>
          <a:p>
            <a:r>
              <a:rPr lang="az-Latn-AZ" sz="2800" dirty="0" smtClean="0"/>
              <a:t>Kurs: 1</a:t>
            </a:r>
          </a:p>
          <a:p>
            <a:r>
              <a:rPr lang="az-Latn-AZ" sz="2800" dirty="0" smtClean="0"/>
              <a:t>Qrup: 6224a1</a:t>
            </a:r>
          </a:p>
          <a:p>
            <a:r>
              <a:rPr lang="az-Latn-AZ" sz="2800" dirty="0" smtClean="0"/>
              <a:t>Tələbə: Cəfərova Nazlı</a:t>
            </a:r>
          </a:p>
          <a:p>
            <a:r>
              <a:rPr lang="az-Latn-AZ" sz="2800" dirty="0" smtClean="0"/>
              <a:t>Müəllim</a:t>
            </a:r>
            <a:r>
              <a:rPr lang="en-US" sz="2800" dirty="0" smtClean="0"/>
              <a:t>: </a:t>
            </a:r>
            <a:r>
              <a:rPr lang="en-US" sz="2800" dirty="0"/>
              <a:t>V</a:t>
            </a:r>
            <a:r>
              <a:rPr lang="az-Latn-AZ" sz="2800" dirty="0"/>
              <a:t>əliyev Həsən</a:t>
            </a:r>
          </a:p>
        </p:txBody>
      </p:sp>
    </p:spTree>
    <p:extLst>
      <p:ext uri="{BB962C8B-B14F-4D97-AF65-F5344CB8AC3E}">
        <p14:creationId xmlns:p14="http://schemas.microsoft.com/office/powerpoint/2010/main" val="29729832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62A222F9-612F-816B-7921-5C211273E892}"/>
              </a:ext>
            </a:extLst>
          </p:cNvPr>
          <p:cNvSpPr txBox="1"/>
          <p:nvPr/>
        </p:nvSpPr>
        <p:spPr>
          <a:xfrm>
            <a:off x="246742" y="0"/>
            <a:ext cx="11814629" cy="1384995"/>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b="1" dirty="0">
                <a:effectLst>
                  <a:outerShdw blurRad="38100" dist="38100" dir="2700000" algn="tl">
                    <a:srgbClr val="000000">
                      <a:alpha val="43137"/>
                    </a:srgbClr>
                  </a:outerShdw>
                </a:effectLst>
              </a:rPr>
              <a:t> </a:t>
            </a:r>
            <a:r>
              <a:rPr lang="az-Latn-AZ" sz="2800" b="1" dirty="0" smtClean="0">
                <a:effectLst>
                  <a:outerShdw blurRad="38100" dist="38100" dir="2700000" algn="tl">
                    <a:srgbClr val="000000">
                      <a:alpha val="43137"/>
                    </a:srgbClr>
                  </a:outerShdw>
                </a:effectLst>
              </a:rPr>
              <a:t>Minor və cəbri tamamlayıcı. Determinantın sətir və sütun elementlərinə görə ayrılışı. Matrisin ranqı və tərs matrisin hesablanması.</a:t>
            </a:r>
            <a:endParaRPr lang="az-Latn-AZ" sz="2800" b="1" dirty="0">
              <a:effectLst>
                <a:outerShdw blurRad="38100" dist="38100" dir="2700000" algn="tl">
                  <a:srgbClr val="000000">
                    <a:alpha val="43137"/>
                  </a:srgbClr>
                </a:outerShdw>
              </a:effectLst>
            </a:endParaRPr>
          </a:p>
        </p:txBody>
      </p:sp>
      <p:pic>
        <p:nvPicPr>
          <p:cNvPr id="3" name="Picture 2">
            <a:extLst>
              <a:ext uri="{FF2B5EF4-FFF2-40B4-BE49-F238E27FC236}">
                <a16:creationId xmlns:a16="http://schemas.microsoft.com/office/drawing/2014/main" id="{F702DBA8-E72E-8193-3D28-A764FDB9AE48}"/>
              </a:ext>
            </a:extLst>
          </p:cNvPr>
          <p:cNvPicPr>
            <a:picLocks noChangeAspect="1"/>
          </p:cNvPicPr>
          <p:nvPr/>
        </p:nvPicPr>
        <p:blipFill>
          <a:blip r:embed="rId2"/>
          <a:stretch>
            <a:fillRect/>
          </a:stretch>
        </p:blipFill>
        <p:spPr>
          <a:xfrm>
            <a:off x="246742" y="1384995"/>
            <a:ext cx="11451771" cy="5349506"/>
          </a:xfrm>
          <a:prstGeom prst="rect">
            <a:avLst/>
          </a:prstGeom>
        </p:spPr>
      </p:pic>
    </p:spTree>
    <p:extLst>
      <p:ext uri="{BB962C8B-B14F-4D97-AF65-F5344CB8AC3E}">
        <p14:creationId xmlns:p14="http://schemas.microsoft.com/office/powerpoint/2010/main" val="14182101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36ABB13-4425-56E8-8B2D-A4F8C259C5F8}"/>
              </a:ext>
            </a:extLst>
          </p:cNvPr>
          <p:cNvPicPr>
            <a:picLocks noChangeAspect="1"/>
          </p:cNvPicPr>
          <p:nvPr/>
        </p:nvPicPr>
        <p:blipFill>
          <a:blip r:embed="rId2"/>
          <a:stretch>
            <a:fillRect/>
          </a:stretch>
        </p:blipFill>
        <p:spPr>
          <a:xfrm>
            <a:off x="420914" y="740229"/>
            <a:ext cx="11013605" cy="5254171"/>
          </a:xfrm>
          <a:prstGeom prst="rect">
            <a:avLst/>
          </a:prstGeom>
        </p:spPr>
      </p:pic>
    </p:spTree>
    <p:extLst>
      <p:ext uri="{BB962C8B-B14F-4D97-AF65-F5344CB8AC3E}">
        <p14:creationId xmlns:p14="http://schemas.microsoft.com/office/powerpoint/2010/main" val="1554528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38C5420-F631-168A-D3E3-297C13CF6F8F}"/>
              </a:ext>
            </a:extLst>
          </p:cNvPr>
          <p:cNvPicPr>
            <a:picLocks noChangeAspect="1"/>
          </p:cNvPicPr>
          <p:nvPr/>
        </p:nvPicPr>
        <p:blipFill>
          <a:blip r:embed="rId2"/>
          <a:stretch>
            <a:fillRect/>
          </a:stretch>
        </p:blipFill>
        <p:spPr>
          <a:xfrm>
            <a:off x="377371" y="188684"/>
            <a:ext cx="11344484" cy="6473373"/>
          </a:xfrm>
          <a:prstGeom prst="rect">
            <a:avLst/>
          </a:prstGeom>
        </p:spPr>
      </p:pic>
    </p:spTree>
    <p:extLst>
      <p:ext uri="{BB962C8B-B14F-4D97-AF65-F5344CB8AC3E}">
        <p14:creationId xmlns:p14="http://schemas.microsoft.com/office/powerpoint/2010/main" val="38903590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ətn Qutusu 20">
            <a:extLst>
              <a:ext uri="{FF2B5EF4-FFF2-40B4-BE49-F238E27FC236}">
                <a16:creationId xmlns:a16="http://schemas.microsoft.com/office/drawing/2014/main" id="{BD8ED744-56CE-B23C-866D-073251FA53DF}"/>
              </a:ext>
            </a:extLst>
          </p:cNvPr>
          <p:cNvSpPr txBox="1"/>
          <p:nvPr/>
        </p:nvSpPr>
        <p:spPr>
          <a:xfrm>
            <a:off x="1027208" y="255659"/>
            <a:ext cx="10119763" cy="810478"/>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ts val="5550"/>
              </a:lnSpc>
              <a:spcBef>
                <a:spcPts val="0"/>
              </a:spcBef>
              <a:spcAft>
                <a:spcPts val="0"/>
              </a:spcAft>
              <a:buClrTx/>
              <a:buSzTx/>
              <a:buFontTx/>
              <a:buNone/>
              <a:tabLst/>
              <a:defRPr/>
            </a:pPr>
            <a:r>
              <a:rPr lang="az-Latn-AZ" sz="6000" b="1" dirty="0">
                <a:solidFill>
                  <a:srgbClr val="282824"/>
                </a:solidFill>
                <a:latin typeface="Montserrat Black" pitchFamily="2" charset="0"/>
                <a:ea typeface="Lato Bold" pitchFamily="34" charset="-122"/>
                <a:cs typeface="Lato Bold" pitchFamily="34" charset="-120"/>
              </a:rPr>
              <a:t>1-ci üsulla ranqın tapılması</a:t>
            </a:r>
            <a:endParaRPr kumimoji="0" lang="en-US" sz="6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AlternateContent xmlns:mc="http://schemas.openxmlformats.org/markup-compatibility/2006">
        <mc:Choice xmlns:a14="http://schemas.microsoft.com/office/drawing/2010/main" Requires="a14">
          <p:sp>
            <p:nvSpPr>
              <p:cNvPr id="3" name="Mətn Qutusu 14">
                <a:extLst>
                  <a:ext uri="{FF2B5EF4-FFF2-40B4-BE49-F238E27FC236}">
                    <a16:creationId xmlns:a16="http://schemas.microsoft.com/office/drawing/2014/main" id="{375126C2-4519-3415-3FCE-67337C54A777}"/>
                  </a:ext>
                </a:extLst>
              </p:cNvPr>
              <p:cNvSpPr txBox="1"/>
              <p:nvPr/>
            </p:nvSpPr>
            <p:spPr>
              <a:xfrm>
                <a:off x="594534" y="1689712"/>
                <a:ext cx="11362480" cy="418319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ts val="2850"/>
                  </a:lnSpc>
                  <a:spcBef>
                    <a:spcPts val="0"/>
                  </a:spcBef>
                  <a:spcAft>
                    <a:spcPts val="0"/>
                  </a:spcAft>
                  <a:buClrTx/>
                  <a:buSzTx/>
                  <a:buFontTx/>
                  <a:buNone/>
                  <a:tabLst/>
                  <a:defRPr/>
                </a:pPr>
                <a:r>
                  <a:rPr kumimoji="0" lang="az-Latn-AZ" sz="3600" b="1" i="0" u="none" strike="noStrike" kern="1200" cap="none" spc="0" normalizeH="0" baseline="0" noProof="0" dirty="0">
                    <a:ln>
                      <a:noFill/>
                    </a:ln>
                    <a:solidFill>
                      <a:schemeClr val="accent2">
                        <a:lumMod val="50000"/>
                      </a:schemeClr>
                    </a:solidFill>
                    <a:effectLst/>
                    <a:uLnTx/>
                    <a:uFillTx/>
                    <a:latin typeface="Montserrat Black" pitchFamily="2" charset="0"/>
                    <a:ea typeface="Lato" pitchFamily="34" charset="-122"/>
                    <a:cs typeface="Lato" pitchFamily="34" charset="-120"/>
                  </a:rPr>
                  <a:t>Nümunə</a:t>
                </a:r>
                <a:r>
                  <a:rPr kumimoji="0" lang="en-US" sz="3600" b="1" i="0" u="none" strike="noStrike" kern="1200" cap="none" spc="0" normalizeH="0" baseline="0" noProof="0" dirty="0">
                    <a:ln>
                      <a:noFill/>
                    </a:ln>
                    <a:solidFill>
                      <a:schemeClr val="accent2">
                        <a:lumMod val="50000"/>
                      </a:schemeClr>
                    </a:solidFill>
                    <a:effectLst/>
                    <a:uLnTx/>
                    <a:uFillTx/>
                    <a:latin typeface="Montserrat Black" pitchFamily="2" charset="0"/>
                    <a:ea typeface="Lato" pitchFamily="34" charset="-122"/>
                    <a:cs typeface="Lato" pitchFamily="34" charset="-120"/>
                  </a:rPr>
                  <a:t>:</a:t>
                </a:r>
                <a:r>
                  <a:rPr kumimoji="0" lang="az-Latn-AZ" sz="3600" b="1" i="0" u="none" strike="noStrike" kern="1200" cap="none" spc="0" normalizeH="0" baseline="0" noProof="0" dirty="0">
                    <a:ln>
                      <a:noFill/>
                    </a:ln>
                    <a:solidFill>
                      <a:schemeClr val="accent2">
                        <a:lumMod val="50000"/>
                      </a:schemeClr>
                    </a:solidFill>
                    <a:effectLst/>
                    <a:uLnTx/>
                    <a:uFillTx/>
                    <a:latin typeface="Montserrat Black" pitchFamily="2" charset="0"/>
                    <a:ea typeface="Lato" pitchFamily="34" charset="-122"/>
                    <a:cs typeface="Lato" pitchFamily="34" charset="-120"/>
                  </a:rPr>
                  <a:t> </a:t>
                </a:r>
              </a:p>
              <a:p>
                <a:pPr marL="0" marR="0" lvl="0" indent="0" algn="l" defTabSz="914400" rtl="0" eaLnBrk="1" fontAlgn="auto" latinLnBrk="0" hangingPunct="1">
                  <a:lnSpc>
                    <a:spcPts val="2850"/>
                  </a:lnSpc>
                  <a:spcBef>
                    <a:spcPts val="0"/>
                  </a:spcBef>
                  <a:spcAft>
                    <a:spcPts val="0"/>
                  </a:spcAft>
                  <a:buClrTx/>
                  <a:buSzTx/>
                  <a:buFontTx/>
                  <a:buNone/>
                  <a:tabLst/>
                  <a:defRPr/>
                </a:pPr>
                <a:r>
                  <a:rPr kumimoji="0" lang="az-Latn-AZ" sz="3600" b="1" i="1" u="none" strike="noStrike" kern="1200" cap="none" spc="0" normalizeH="0" baseline="0" noProof="0" dirty="0">
                    <a:ln>
                      <a:noFill/>
                    </a:ln>
                    <a:solidFill>
                      <a:schemeClr val="accent2">
                        <a:lumMod val="50000"/>
                      </a:schemeClr>
                    </a:solidFill>
                    <a:effectLst/>
                    <a:uLnTx/>
                    <a:uFillTx/>
                    <a:latin typeface="Cambria Math" panose="02040503050406030204" pitchFamily="18" charset="0"/>
                    <a:ea typeface="Lato" pitchFamily="34" charset="-122"/>
                    <a:cs typeface="Lato" pitchFamily="34" charset="-120"/>
                  </a:rPr>
                  <a:t>r(A)=?</a:t>
                </a:r>
              </a:p>
              <a:p>
                <a:pPr marL="0" marR="0" lvl="0" indent="0" algn="l" defTabSz="914400" rtl="0" eaLnBrk="1" fontAlgn="auto" latinLnBrk="0" hangingPunct="1">
                  <a:lnSpc>
                    <a:spcPts val="285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Lato" pitchFamily="34" charset="-122"/>
                          <a:cs typeface="Lato" pitchFamily="34" charset="-120"/>
                        </a:rPr>
                        <m:t>𝑨</m:t>
                      </m:r>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m:t>
                      </m:r>
                      <m:d>
                        <m:dPr>
                          <m:begChr m:val="["/>
                          <m:endChr m:val="]"/>
                          <m:ctrlP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ctrlPr>
                        </m:dPr>
                        <m:e>
                          <m:m>
                            <m:mPr>
                              <m:mcs>
                                <m:mc>
                                  <m:mcPr>
                                    <m:count m:val="2"/>
                                    <m:mcJc m:val="center"/>
                                  </m:mcPr>
                                </m:mc>
                              </m:mcs>
                              <m:ctrlP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ctrlPr>
                            </m:mPr>
                            <m:mr>
                              <m:e>
                                <m:r>
                                  <m:rPr>
                                    <m:brk m:alnAt="7"/>
                                  </m:rP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𝟏</m:t>
                                </m:r>
                              </m:e>
                              <m:e>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m:t>
                                </m:r>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𝟐</m:t>
                                </m:r>
                              </m:e>
                            </m:mr>
                            <m:mr>
                              <m:e>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𝟑</m:t>
                                </m:r>
                              </m:e>
                              <m:e>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   </m:t>
                                </m:r>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𝟐</m:t>
                                </m:r>
                              </m:e>
                            </m:mr>
                            <m:mr>
                              <m:e>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𝟓</m:t>
                                </m:r>
                              </m:e>
                              <m:e>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m:t>
                                </m:r>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𝟐</m:t>
                                </m:r>
                              </m:e>
                            </m:mr>
                          </m:m>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  </m:t>
                          </m:r>
                          <m:m>
                            <m:mPr>
                              <m:mcs>
                                <m:mc>
                                  <m:mcPr>
                                    <m:count m:val="2"/>
                                    <m:mcJc m:val="center"/>
                                  </m:mcPr>
                                </m:mc>
                              </m:mcs>
                              <m:ctrlP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ctrlPr>
                            </m:mPr>
                            <m:mr>
                              <m:e>
                                <m:r>
                                  <m:rPr>
                                    <m:brk m:alnAt="7"/>
                                  </m:rP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𝟑</m:t>
                                </m:r>
                              </m:e>
                              <m:e>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𝟏</m:t>
                                </m:r>
                              </m:e>
                            </m:mr>
                            <m:mr>
                              <m:e>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m:t>
                                </m:r>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𝟒</m:t>
                                </m:r>
                              </m:e>
                              <m:e>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𝟐</m:t>
                                </m:r>
                              </m:e>
                            </m:mr>
                            <m:mr>
                              <m:e>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𝟐</m:t>
                                </m:r>
                              </m:e>
                              <m:e>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𝟒</m:t>
                                </m:r>
                              </m:e>
                            </m:mr>
                          </m:m>
                        </m:e>
                      </m:d>
                    </m:oMath>
                  </m:oMathPara>
                </a14:m>
                <a:endParaRPr kumimoji="0" lang="az-Latn-AZ" sz="3600" b="1" i="0" u="none" strike="noStrike" kern="1200" cap="none" spc="0" normalizeH="0" baseline="0" noProof="0" dirty="0">
                  <a:ln>
                    <a:noFill/>
                  </a:ln>
                  <a:solidFill>
                    <a:schemeClr val="accent2">
                      <a:lumMod val="50000"/>
                    </a:schemeClr>
                  </a:solidFill>
                  <a:effectLst/>
                  <a:uLnTx/>
                  <a:uFillTx/>
                  <a:latin typeface="Montserrat Black" pitchFamily="2" charset="0"/>
                  <a:ea typeface="Lato" pitchFamily="34" charset="-122"/>
                  <a:cs typeface="Lato" pitchFamily="34" charset="-120"/>
                </a:endParaRPr>
              </a:p>
              <a:p>
                <a:pPr marL="0" marR="0" lvl="0" indent="0" algn="l" defTabSz="914400" rtl="0" eaLnBrk="1" fontAlgn="auto" latinLnBrk="0" hangingPunct="1">
                  <a:lnSpc>
                    <a:spcPts val="2850"/>
                  </a:lnSpc>
                  <a:spcBef>
                    <a:spcPts val="0"/>
                  </a:spcBef>
                  <a:spcAft>
                    <a:spcPts val="0"/>
                  </a:spcAft>
                  <a:buClrTx/>
                  <a:buSzTx/>
                  <a:buFontTx/>
                  <a:buNone/>
                  <a:tabLst/>
                  <a:defRPr/>
                </a:pPr>
                <a:endParaRPr lang="az-Latn-AZ" sz="3600" b="1" dirty="0">
                  <a:solidFill>
                    <a:schemeClr val="accent2">
                      <a:lumMod val="50000"/>
                    </a:schemeClr>
                  </a:solidFill>
                  <a:latin typeface="Montserrat Black" pitchFamily="2" charset="0"/>
                  <a:ea typeface="Lato" pitchFamily="34" charset="-122"/>
                  <a:cs typeface="Lato" pitchFamily="34" charset="-120"/>
                </a:endParaRPr>
              </a:p>
              <a:p>
                <a:pPr marL="0" marR="0" lvl="0" indent="0" algn="l" defTabSz="914400" rtl="0" eaLnBrk="1" fontAlgn="auto" latinLnBrk="0" hangingPunct="1">
                  <a:lnSpc>
                    <a:spcPts val="2850"/>
                  </a:lnSpc>
                  <a:spcBef>
                    <a:spcPts val="0"/>
                  </a:spcBef>
                  <a:spcAft>
                    <a:spcPts val="0"/>
                  </a:spcAft>
                  <a:buClrTx/>
                  <a:buSzTx/>
                  <a:buFontTx/>
                  <a:buNone/>
                  <a:tabLst/>
                  <a:defRPr/>
                </a:pPr>
                <a:r>
                  <a:rPr lang="az-Latn-AZ" sz="2400" b="1" dirty="0">
                    <a:solidFill>
                      <a:schemeClr val="accent2">
                        <a:lumMod val="50000"/>
                      </a:schemeClr>
                    </a:solidFill>
                    <a:latin typeface="Montserrat Black" pitchFamily="2" charset="0"/>
                    <a:ea typeface="Lato" pitchFamily="34" charset="-122"/>
                    <a:cs typeface="Lato" pitchFamily="34" charset="-120"/>
                  </a:rPr>
                  <a:t>Birinci sətiri (-5) vurub, 2-ci sətirlə toplanılır, İkinci sətri isə (-3)ə vurub ü</a:t>
                </a:r>
                <a:r>
                  <a:rPr kumimoji="0" lang="az-Latn-AZ" sz="2400" b="1" i="0" u="none" strike="noStrike" kern="1200" cap="none" spc="0" normalizeH="0" baseline="0" noProof="0" dirty="0" err="1">
                    <a:ln>
                      <a:noFill/>
                    </a:ln>
                    <a:solidFill>
                      <a:schemeClr val="accent2">
                        <a:lumMod val="50000"/>
                      </a:schemeClr>
                    </a:solidFill>
                    <a:effectLst/>
                    <a:uLnTx/>
                    <a:uFillTx/>
                    <a:latin typeface="Montserrat Black" pitchFamily="2" charset="0"/>
                    <a:ea typeface="Lato" pitchFamily="34" charset="-122"/>
                    <a:cs typeface="Lato" pitchFamily="34" charset="-120"/>
                  </a:rPr>
                  <a:t>çüncü</a:t>
                </a:r>
                <a:r>
                  <a:rPr kumimoji="0" lang="az-Latn-AZ" sz="2400" b="1" i="0" u="none" strike="noStrike" kern="1200" cap="none" spc="0" normalizeH="0" baseline="0" noProof="0" dirty="0">
                    <a:ln>
                      <a:noFill/>
                    </a:ln>
                    <a:solidFill>
                      <a:schemeClr val="accent2">
                        <a:lumMod val="50000"/>
                      </a:schemeClr>
                    </a:solidFill>
                    <a:effectLst/>
                    <a:uLnTx/>
                    <a:uFillTx/>
                    <a:latin typeface="Montserrat Black" pitchFamily="2" charset="0"/>
                    <a:ea typeface="Lato" pitchFamily="34" charset="-122"/>
                    <a:cs typeface="Lato" pitchFamily="34" charset="-120"/>
                  </a:rPr>
                  <a:t> sətirlə toplayırıq.</a:t>
                </a:r>
              </a:p>
              <a:p>
                <a:pPr marL="0" marR="0" lvl="0" indent="0" algn="l" defTabSz="914400" rtl="0" eaLnBrk="1" fontAlgn="auto" latinLnBrk="0" hangingPunct="1">
                  <a:lnSpc>
                    <a:spcPts val="2850"/>
                  </a:lnSpc>
                  <a:spcBef>
                    <a:spcPts val="0"/>
                  </a:spcBef>
                  <a:spcAft>
                    <a:spcPts val="0"/>
                  </a:spcAft>
                  <a:buClrTx/>
                  <a:buSzTx/>
                  <a:buFontTx/>
                  <a:buNone/>
                  <a:tabLst/>
                  <a:defRPr/>
                </a:pPr>
                <a:endParaRPr lang="az-Latn-AZ" sz="3600" b="1" dirty="0">
                  <a:solidFill>
                    <a:schemeClr val="accent2">
                      <a:lumMod val="50000"/>
                    </a:schemeClr>
                  </a:solidFill>
                  <a:latin typeface="Montserrat Black" pitchFamily="2" charset="0"/>
                  <a:ea typeface="Lato" pitchFamily="34" charset="-122"/>
                  <a:cs typeface="Lato" pitchFamily="34" charset="-120"/>
                </a:endParaRPr>
              </a:p>
              <a:p>
                <a:pPr marL="0" marR="0" lvl="0" indent="0" algn="l" defTabSz="914400" rtl="0" eaLnBrk="1" fontAlgn="auto" latinLnBrk="0" hangingPunct="1">
                  <a:lnSpc>
                    <a:spcPts val="2850"/>
                  </a:lnSpc>
                  <a:spcBef>
                    <a:spcPts val="0"/>
                  </a:spcBef>
                  <a:spcAft>
                    <a:spcPts val="0"/>
                  </a:spcAft>
                  <a:buClrTx/>
                  <a:buSzTx/>
                  <a:buFontTx/>
                  <a:buNone/>
                  <a:tabLst/>
                  <a:defRPr/>
                </a:pPr>
                <a:endParaRPr kumimoji="0" lang="az-Latn-AZ" sz="3600" b="1" i="1" u="none" strike="noStrike" kern="1200" cap="none" spc="0" normalizeH="0" baseline="0" noProof="0" dirty="0">
                  <a:ln>
                    <a:noFill/>
                  </a:ln>
                  <a:solidFill>
                    <a:schemeClr val="accent2">
                      <a:lumMod val="50000"/>
                    </a:schemeClr>
                  </a:solidFill>
                  <a:effectLst/>
                  <a:uLnTx/>
                  <a:uFillTx/>
                  <a:latin typeface="Cambria Math" panose="02040503050406030204" pitchFamily="18" charset="0"/>
                  <a:ea typeface="Lato" pitchFamily="34" charset="-122"/>
                  <a:cs typeface="Lato" pitchFamily="34" charset="-120"/>
                </a:endParaRPr>
              </a:p>
              <a:p>
                <a:pPr marL="0" marR="0" lvl="0" indent="0" algn="l" defTabSz="914400" rtl="0" eaLnBrk="1" fontAlgn="auto" latinLnBrk="0" hangingPunct="1">
                  <a:lnSpc>
                    <a:spcPts val="2850"/>
                  </a:lnSpc>
                  <a:spcBef>
                    <a:spcPts val="0"/>
                  </a:spcBef>
                  <a:spcAft>
                    <a:spcPts val="0"/>
                  </a:spcAft>
                  <a:buClrTx/>
                  <a:buSzTx/>
                  <a:buFontTx/>
                  <a:buNone/>
                  <a:tabLst/>
                  <a:defRPr/>
                </a:pPr>
                <a:endParaRPr kumimoji="0" lang="az-Latn-AZ" sz="3600" b="1" i="1" u="none" strike="noStrike" kern="1200" cap="none" spc="0" normalizeH="0" baseline="0" noProof="0" dirty="0">
                  <a:ln>
                    <a:noFill/>
                  </a:ln>
                  <a:solidFill>
                    <a:schemeClr val="accent2">
                      <a:lumMod val="50000"/>
                    </a:schemeClr>
                  </a:solidFill>
                  <a:effectLst/>
                  <a:uLnTx/>
                  <a:uFillTx/>
                  <a:latin typeface="Cambria Math" panose="02040503050406030204" pitchFamily="18" charset="0"/>
                  <a:ea typeface="Lato" pitchFamily="34" charset="-122"/>
                  <a:cs typeface="Lato" pitchFamily="34" charset="-120"/>
                </a:endParaRPr>
              </a:p>
              <a:p>
                <a:pPr lvl="0">
                  <a:lnSpc>
                    <a:spcPts val="2850"/>
                  </a:lnSpc>
                  <a:defRPr/>
                </a:pPr>
                <a14:m>
                  <m:oMath xmlns:m="http://schemas.openxmlformats.org/officeDocument/2006/math">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Lato" pitchFamily="34" charset="-122"/>
                        <a:cs typeface="Lato" pitchFamily="34" charset="-120"/>
                      </a:rPr>
                      <m:t>𝑨</m:t>
                    </m:r>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m:t>
                    </m:r>
                    <m:d>
                      <m:dPr>
                        <m:begChr m:val="["/>
                        <m:endChr m:val="]"/>
                        <m:ctrlP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ctrlPr>
                      </m:dPr>
                      <m:e>
                        <m:m>
                          <m:mPr>
                            <m:mcs>
                              <m:mc>
                                <m:mcPr>
                                  <m:count m:val="2"/>
                                  <m:mcJc m:val="center"/>
                                </m:mcPr>
                              </m:mc>
                            </m:mcs>
                            <m:ctrlP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ctrlPr>
                          </m:mPr>
                          <m:mr>
                            <m:e>
                              <m:r>
                                <m:rPr>
                                  <m:brk m:alnAt="7"/>
                                </m:rP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𝟏</m:t>
                              </m:r>
                            </m:e>
                            <m:e>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m:t>
                              </m:r>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𝟐</m:t>
                              </m:r>
                            </m:e>
                          </m:mr>
                          <m:mr>
                            <m:e>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𝟎</m:t>
                              </m:r>
                            </m:e>
                            <m:e>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   </m:t>
                              </m:r>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𝟖</m:t>
                              </m:r>
                            </m:e>
                          </m:mr>
                          <m:mr>
                            <m:e>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𝟎</m:t>
                              </m:r>
                            </m:e>
                            <m:e>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   </m:t>
                              </m:r>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𝟖</m:t>
                              </m:r>
                            </m:e>
                          </m:mr>
                        </m:m>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  </m:t>
                        </m:r>
                        <m:m>
                          <m:mPr>
                            <m:mcs>
                              <m:mc>
                                <m:mcPr>
                                  <m:count m:val="2"/>
                                  <m:mcJc m:val="center"/>
                                </m:mcPr>
                              </m:mc>
                            </m:mcs>
                            <m:ctrlP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ctrlPr>
                          </m:mPr>
                          <m:mr>
                            <m:e>
                              <m:r>
                                <m:rPr>
                                  <m:brk m:alnAt="7"/>
                                </m:rP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𝟑</m:t>
                              </m:r>
                            </m:e>
                            <m:e>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𝟏</m:t>
                              </m:r>
                            </m:e>
                          </m:mr>
                          <m:mr>
                            <m:e>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m:t>
                              </m:r>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𝟏𝟑</m:t>
                              </m:r>
                            </m:e>
                            <m:e>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m:t>
                              </m:r>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𝟏</m:t>
                              </m:r>
                            </m:e>
                          </m:mr>
                          <m:mr>
                            <m:e>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m:t>
                              </m:r>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𝟏𝟑</m:t>
                              </m:r>
                            </m:e>
                            <m:e>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m:t>
                              </m:r>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𝟏</m:t>
                              </m:r>
                            </m:e>
                          </m:mr>
                        </m:m>
                      </m:e>
                    </m:d>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m:t>
                    </m:r>
                  </m:oMath>
                </a14:m>
                <a:r>
                  <a:rPr kumimoji="0" lang="az-Latn-AZ" sz="3600" b="1" i="0" u="none" strike="noStrike" kern="1200" cap="none" spc="0" normalizeH="0" baseline="0" noProof="0" dirty="0">
                    <a:ln>
                      <a:noFill/>
                    </a:ln>
                    <a:solidFill>
                      <a:schemeClr val="accent2">
                        <a:lumMod val="50000"/>
                      </a:schemeClr>
                    </a:solidFill>
                    <a:effectLst/>
                    <a:uLnTx/>
                    <a:uFillTx/>
                    <a:latin typeface="Montserrat Black" pitchFamily="2" charset="0"/>
                    <a:ea typeface="Lato" pitchFamily="34" charset="-122"/>
                    <a:cs typeface="Lato" pitchFamily="34" charset="-120"/>
                  </a:rPr>
                  <a:t> </a:t>
                </a:r>
                <a14:m>
                  <m:oMath xmlns:m="http://schemas.openxmlformats.org/officeDocument/2006/math">
                    <m:r>
                      <a:rPr lang="az-Latn-AZ" sz="3600" b="1" i="1">
                        <a:solidFill>
                          <a:schemeClr val="accent2">
                            <a:lumMod val="50000"/>
                          </a:schemeClr>
                        </a:solidFill>
                        <a:latin typeface="Cambria Math" panose="02040503050406030204" pitchFamily="18" charset="0"/>
                        <a:ea typeface="Lato" pitchFamily="34" charset="-122"/>
                        <a:cs typeface="Lato" pitchFamily="34" charset="-120"/>
                      </a:rPr>
                      <m:t>𝑨</m:t>
                    </m:r>
                    <m:r>
                      <a:rPr lang="az-Latn-AZ" sz="3600" b="1" i="1">
                        <a:solidFill>
                          <a:schemeClr val="accent2">
                            <a:lumMod val="50000"/>
                          </a:schemeClr>
                        </a:solidFill>
                        <a:latin typeface="Cambria Math" panose="02040503050406030204" pitchFamily="18" charset="0"/>
                        <a:ea typeface="Cambria Math" panose="02040503050406030204" pitchFamily="18" charset="0"/>
                        <a:cs typeface="Lato" pitchFamily="34" charset="-120"/>
                      </a:rPr>
                      <m:t>=</m:t>
                    </m:r>
                    <m:d>
                      <m:dPr>
                        <m:begChr m:val="["/>
                        <m:endChr m:val="]"/>
                        <m:ctrlPr>
                          <a:rPr lang="az-Latn-AZ" sz="3600" b="1" i="1">
                            <a:solidFill>
                              <a:schemeClr val="accent2">
                                <a:lumMod val="50000"/>
                              </a:schemeClr>
                            </a:solidFill>
                            <a:latin typeface="Cambria Math" panose="02040503050406030204" pitchFamily="18" charset="0"/>
                            <a:ea typeface="Cambria Math" panose="02040503050406030204" pitchFamily="18" charset="0"/>
                            <a:cs typeface="Lato" pitchFamily="34" charset="-120"/>
                          </a:rPr>
                        </m:ctrlPr>
                      </m:dPr>
                      <m:e>
                        <m:m>
                          <m:mPr>
                            <m:mcs>
                              <m:mc>
                                <m:mcPr>
                                  <m:count m:val="2"/>
                                  <m:mcJc m:val="center"/>
                                </m:mcPr>
                              </m:mc>
                            </m:mcs>
                            <m:ctrlPr>
                              <a:rPr lang="az-Latn-AZ" sz="3600" b="1" i="1">
                                <a:solidFill>
                                  <a:schemeClr val="accent2">
                                    <a:lumMod val="50000"/>
                                  </a:schemeClr>
                                </a:solidFill>
                                <a:latin typeface="Cambria Math" panose="02040503050406030204" pitchFamily="18" charset="0"/>
                                <a:ea typeface="Cambria Math" panose="02040503050406030204" pitchFamily="18" charset="0"/>
                                <a:cs typeface="Lato" pitchFamily="34" charset="-120"/>
                              </a:rPr>
                            </m:ctrlPr>
                          </m:mPr>
                          <m:mr>
                            <m:e>
                              <m:r>
                                <m:rPr>
                                  <m:brk m:alnAt="7"/>
                                </m:rPr>
                                <a:rPr lang="az-Latn-AZ" sz="3600" b="1" i="1">
                                  <a:solidFill>
                                    <a:schemeClr val="accent2">
                                      <a:lumMod val="50000"/>
                                    </a:schemeClr>
                                  </a:solidFill>
                                  <a:latin typeface="Cambria Math" panose="02040503050406030204" pitchFamily="18" charset="0"/>
                                  <a:ea typeface="Cambria Math" panose="02040503050406030204" pitchFamily="18" charset="0"/>
                                  <a:cs typeface="Lato" pitchFamily="34" charset="-120"/>
                                </a:rPr>
                                <m:t>𝟏</m:t>
                              </m:r>
                            </m:e>
                            <m:e>
                              <m:r>
                                <a:rPr lang="az-Latn-AZ" sz="3600" b="1" i="1">
                                  <a:solidFill>
                                    <a:schemeClr val="accent2">
                                      <a:lumMod val="50000"/>
                                    </a:schemeClr>
                                  </a:solidFill>
                                  <a:latin typeface="Cambria Math" panose="02040503050406030204" pitchFamily="18" charset="0"/>
                                  <a:ea typeface="Cambria Math" panose="02040503050406030204" pitchFamily="18" charset="0"/>
                                  <a:cs typeface="Lato" pitchFamily="34" charset="-120"/>
                                </a:rPr>
                                <m:t>−</m:t>
                              </m:r>
                              <m:r>
                                <a:rPr lang="az-Latn-AZ" sz="3600" b="1" i="1">
                                  <a:solidFill>
                                    <a:schemeClr val="accent2">
                                      <a:lumMod val="50000"/>
                                    </a:schemeClr>
                                  </a:solidFill>
                                  <a:latin typeface="Cambria Math" panose="02040503050406030204" pitchFamily="18" charset="0"/>
                                  <a:ea typeface="Cambria Math" panose="02040503050406030204" pitchFamily="18" charset="0"/>
                                  <a:cs typeface="Lato" pitchFamily="34" charset="-120"/>
                                </a:rPr>
                                <m:t>𝟐</m:t>
                              </m:r>
                            </m:e>
                          </m:mr>
                          <m:mr>
                            <m:e>
                              <m:r>
                                <a:rPr lang="az-Latn-AZ" sz="3600" b="1" i="1">
                                  <a:solidFill>
                                    <a:schemeClr val="accent2">
                                      <a:lumMod val="50000"/>
                                    </a:schemeClr>
                                  </a:solidFill>
                                  <a:latin typeface="Cambria Math" panose="02040503050406030204" pitchFamily="18" charset="0"/>
                                  <a:ea typeface="Cambria Math" panose="02040503050406030204" pitchFamily="18" charset="0"/>
                                  <a:cs typeface="Lato" pitchFamily="34" charset="-120"/>
                                </a:rPr>
                                <m:t>𝟎</m:t>
                              </m:r>
                            </m:e>
                            <m:e>
                              <m:r>
                                <a:rPr lang="az-Latn-AZ" sz="3600" b="1" i="1">
                                  <a:solidFill>
                                    <a:schemeClr val="accent2">
                                      <a:lumMod val="50000"/>
                                    </a:schemeClr>
                                  </a:solidFill>
                                  <a:latin typeface="Cambria Math" panose="02040503050406030204" pitchFamily="18" charset="0"/>
                                  <a:ea typeface="Cambria Math" panose="02040503050406030204" pitchFamily="18" charset="0"/>
                                  <a:cs typeface="Lato" pitchFamily="34" charset="-120"/>
                                </a:rPr>
                                <m:t>   </m:t>
                              </m:r>
                              <m:r>
                                <a:rPr lang="az-Latn-AZ" sz="3600" b="1" i="1">
                                  <a:solidFill>
                                    <a:schemeClr val="accent2">
                                      <a:lumMod val="50000"/>
                                    </a:schemeClr>
                                  </a:solidFill>
                                  <a:latin typeface="Cambria Math" panose="02040503050406030204" pitchFamily="18" charset="0"/>
                                  <a:ea typeface="Cambria Math" panose="02040503050406030204" pitchFamily="18" charset="0"/>
                                  <a:cs typeface="Lato" pitchFamily="34" charset="-120"/>
                                </a:rPr>
                                <m:t>𝟖</m:t>
                              </m:r>
                            </m:e>
                          </m:mr>
                          <m:mr>
                            <m:e>
                              <m:r>
                                <a:rPr lang="az-Latn-AZ" sz="3600" b="1" i="1">
                                  <a:solidFill>
                                    <a:schemeClr val="accent2">
                                      <a:lumMod val="50000"/>
                                    </a:schemeClr>
                                  </a:solidFill>
                                  <a:latin typeface="Cambria Math" panose="02040503050406030204" pitchFamily="18" charset="0"/>
                                  <a:ea typeface="Cambria Math" panose="02040503050406030204" pitchFamily="18" charset="0"/>
                                  <a:cs typeface="Lato" pitchFamily="34" charset="-120"/>
                                </a:rPr>
                                <m:t>𝟎</m:t>
                              </m:r>
                            </m:e>
                            <m:e>
                              <m:r>
                                <a:rPr lang="az-Latn-AZ" sz="3600" b="1" i="1">
                                  <a:solidFill>
                                    <a:schemeClr val="accent2">
                                      <a:lumMod val="50000"/>
                                    </a:schemeClr>
                                  </a:solidFill>
                                  <a:latin typeface="Cambria Math" panose="02040503050406030204" pitchFamily="18" charset="0"/>
                                  <a:ea typeface="Cambria Math" panose="02040503050406030204" pitchFamily="18" charset="0"/>
                                  <a:cs typeface="Lato" pitchFamily="34" charset="-120"/>
                                </a:rPr>
                                <m:t>   </m:t>
                              </m:r>
                              <m:r>
                                <a:rPr lang="az-Latn-AZ" sz="3600" b="1" i="1" smtClean="0">
                                  <a:solidFill>
                                    <a:schemeClr val="accent2">
                                      <a:lumMod val="50000"/>
                                    </a:schemeClr>
                                  </a:solidFill>
                                  <a:latin typeface="Cambria Math" panose="02040503050406030204" pitchFamily="18" charset="0"/>
                                  <a:ea typeface="Cambria Math" panose="02040503050406030204" pitchFamily="18" charset="0"/>
                                  <a:cs typeface="Lato" pitchFamily="34" charset="-120"/>
                                </a:rPr>
                                <m:t>𝟎</m:t>
                              </m:r>
                            </m:e>
                          </m:mr>
                        </m:m>
                        <m:r>
                          <a:rPr lang="az-Latn-AZ" sz="3600" b="1" i="1">
                            <a:solidFill>
                              <a:schemeClr val="accent2">
                                <a:lumMod val="50000"/>
                              </a:schemeClr>
                            </a:solidFill>
                            <a:latin typeface="Cambria Math" panose="02040503050406030204" pitchFamily="18" charset="0"/>
                            <a:ea typeface="Cambria Math" panose="02040503050406030204" pitchFamily="18" charset="0"/>
                            <a:cs typeface="Lato" pitchFamily="34" charset="-120"/>
                          </a:rPr>
                          <m:t>  </m:t>
                        </m:r>
                        <m:m>
                          <m:mPr>
                            <m:mcs>
                              <m:mc>
                                <m:mcPr>
                                  <m:count m:val="2"/>
                                  <m:mcJc m:val="center"/>
                                </m:mcPr>
                              </m:mc>
                            </m:mcs>
                            <m:ctrlPr>
                              <a:rPr lang="az-Latn-AZ" sz="3600" b="1" i="1">
                                <a:solidFill>
                                  <a:schemeClr val="accent2">
                                    <a:lumMod val="50000"/>
                                  </a:schemeClr>
                                </a:solidFill>
                                <a:latin typeface="Cambria Math" panose="02040503050406030204" pitchFamily="18" charset="0"/>
                                <a:ea typeface="Cambria Math" panose="02040503050406030204" pitchFamily="18" charset="0"/>
                                <a:cs typeface="Lato" pitchFamily="34" charset="-120"/>
                              </a:rPr>
                            </m:ctrlPr>
                          </m:mPr>
                          <m:mr>
                            <m:e>
                              <m:r>
                                <m:rPr>
                                  <m:brk m:alnAt="7"/>
                                </m:rPr>
                                <a:rPr lang="az-Latn-AZ" sz="3600" b="1" i="1">
                                  <a:solidFill>
                                    <a:schemeClr val="accent2">
                                      <a:lumMod val="50000"/>
                                    </a:schemeClr>
                                  </a:solidFill>
                                  <a:latin typeface="Cambria Math" panose="02040503050406030204" pitchFamily="18" charset="0"/>
                                  <a:ea typeface="Cambria Math" panose="02040503050406030204" pitchFamily="18" charset="0"/>
                                  <a:cs typeface="Lato" pitchFamily="34" charset="-120"/>
                                </a:rPr>
                                <m:t>𝟑</m:t>
                              </m:r>
                            </m:e>
                            <m:e>
                              <m:r>
                                <a:rPr lang="az-Latn-AZ" sz="3600" b="1" i="1">
                                  <a:solidFill>
                                    <a:schemeClr val="accent2">
                                      <a:lumMod val="50000"/>
                                    </a:schemeClr>
                                  </a:solidFill>
                                  <a:latin typeface="Cambria Math" panose="02040503050406030204" pitchFamily="18" charset="0"/>
                                  <a:ea typeface="Cambria Math" panose="02040503050406030204" pitchFamily="18" charset="0"/>
                                  <a:cs typeface="Lato" pitchFamily="34" charset="-120"/>
                                </a:rPr>
                                <m:t>𝟏</m:t>
                              </m:r>
                            </m:e>
                          </m:mr>
                          <m:mr>
                            <m:e>
                              <m:r>
                                <a:rPr lang="az-Latn-AZ" sz="3600" b="1" i="1">
                                  <a:solidFill>
                                    <a:schemeClr val="accent2">
                                      <a:lumMod val="50000"/>
                                    </a:schemeClr>
                                  </a:solidFill>
                                  <a:latin typeface="Cambria Math" panose="02040503050406030204" pitchFamily="18" charset="0"/>
                                  <a:ea typeface="Cambria Math" panose="02040503050406030204" pitchFamily="18" charset="0"/>
                                  <a:cs typeface="Lato" pitchFamily="34" charset="-120"/>
                                </a:rPr>
                                <m:t>−</m:t>
                              </m:r>
                              <m:r>
                                <a:rPr lang="az-Latn-AZ" sz="3600" b="1" i="1">
                                  <a:solidFill>
                                    <a:schemeClr val="accent2">
                                      <a:lumMod val="50000"/>
                                    </a:schemeClr>
                                  </a:solidFill>
                                  <a:latin typeface="Cambria Math" panose="02040503050406030204" pitchFamily="18" charset="0"/>
                                  <a:ea typeface="Cambria Math" panose="02040503050406030204" pitchFamily="18" charset="0"/>
                                  <a:cs typeface="Lato" pitchFamily="34" charset="-120"/>
                                </a:rPr>
                                <m:t>𝟏𝟑</m:t>
                              </m:r>
                            </m:e>
                            <m:e>
                              <m:r>
                                <a:rPr lang="az-Latn-AZ" sz="3600" b="1" i="1">
                                  <a:solidFill>
                                    <a:schemeClr val="accent2">
                                      <a:lumMod val="50000"/>
                                    </a:schemeClr>
                                  </a:solidFill>
                                  <a:latin typeface="Cambria Math" panose="02040503050406030204" pitchFamily="18" charset="0"/>
                                  <a:ea typeface="Cambria Math" panose="02040503050406030204" pitchFamily="18" charset="0"/>
                                  <a:cs typeface="Lato" pitchFamily="34" charset="-120"/>
                                </a:rPr>
                                <m:t>−</m:t>
                              </m:r>
                              <m:r>
                                <a:rPr lang="az-Latn-AZ" sz="3600" b="1" i="1">
                                  <a:solidFill>
                                    <a:schemeClr val="accent2">
                                      <a:lumMod val="50000"/>
                                    </a:schemeClr>
                                  </a:solidFill>
                                  <a:latin typeface="Cambria Math" panose="02040503050406030204" pitchFamily="18" charset="0"/>
                                  <a:ea typeface="Cambria Math" panose="02040503050406030204" pitchFamily="18" charset="0"/>
                                  <a:cs typeface="Lato" pitchFamily="34" charset="-120"/>
                                </a:rPr>
                                <m:t>𝟏</m:t>
                              </m:r>
                            </m:e>
                          </m:mr>
                          <m:mr>
                            <m:e>
                              <m:r>
                                <a:rPr lang="az-Latn-AZ" sz="3600" b="1" i="1" smtClean="0">
                                  <a:solidFill>
                                    <a:schemeClr val="accent2">
                                      <a:lumMod val="50000"/>
                                    </a:schemeClr>
                                  </a:solidFill>
                                  <a:latin typeface="Cambria Math" panose="02040503050406030204" pitchFamily="18" charset="0"/>
                                  <a:ea typeface="Cambria Math" panose="02040503050406030204" pitchFamily="18" charset="0"/>
                                  <a:cs typeface="Lato" pitchFamily="34" charset="-120"/>
                                </a:rPr>
                                <m:t>    </m:t>
                              </m:r>
                              <m:r>
                                <a:rPr lang="az-Latn-AZ" sz="3600" b="1" i="1" smtClean="0">
                                  <a:solidFill>
                                    <a:schemeClr val="accent2">
                                      <a:lumMod val="50000"/>
                                    </a:schemeClr>
                                  </a:solidFill>
                                  <a:latin typeface="Cambria Math" panose="02040503050406030204" pitchFamily="18" charset="0"/>
                                  <a:ea typeface="Cambria Math" panose="02040503050406030204" pitchFamily="18" charset="0"/>
                                  <a:cs typeface="Lato" pitchFamily="34" charset="-120"/>
                                </a:rPr>
                                <m:t>𝟎</m:t>
                              </m:r>
                            </m:e>
                            <m:e>
                              <m:r>
                                <a:rPr lang="az-Latn-AZ" sz="3600" b="1" i="1" smtClean="0">
                                  <a:solidFill>
                                    <a:schemeClr val="accent2">
                                      <a:lumMod val="50000"/>
                                    </a:schemeClr>
                                  </a:solidFill>
                                  <a:latin typeface="Cambria Math" panose="02040503050406030204" pitchFamily="18" charset="0"/>
                                  <a:ea typeface="Cambria Math" panose="02040503050406030204" pitchFamily="18" charset="0"/>
                                  <a:cs typeface="Lato" pitchFamily="34" charset="-120"/>
                                </a:rPr>
                                <m:t>𝟎</m:t>
                              </m:r>
                            </m:e>
                          </m:mr>
                        </m:m>
                      </m:e>
                    </m:d>
                  </m:oMath>
                </a14:m>
                <a:endParaRPr kumimoji="0" lang="az-Latn-AZ" sz="3600" b="1" i="0" u="none" strike="noStrike" kern="1200" cap="none" spc="0" normalizeH="0" baseline="0" noProof="0" dirty="0">
                  <a:ln>
                    <a:noFill/>
                  </a:ln>
                  <a:solidFill>
                    <a:schemeClr val="accent2">
                      <a:lumMod val="50000"/>
                    </a:schemeClr>
                  </a:solidFill>
                  <a:effectLst/>
                  <a:uLnTx/>
                  <a:uFillTx/>
                  <a:latin typeface="Montserrat Black" pitchFamily="2" charset="0"/>
                  <a:ea typeface="Lato" pitchFamily="34" charset="-122"/>
                  <a:cs typeface="Lato" pitchFamily="34" charset="-120"/>
                </a:endParaRPr>
              </a:p>
              <a:p>
                <a:pPr marL="0" marR="0" lvl="0" indent="0" algn="l" defTabSz="914400" rtl="0" eaLnBrk="1" fontAlgn="auto" latinLnBrk="0" hangingPunct="1">
                  <a:lnSpc>
                    <a:spcPts val="2850"/>
                  </a:lnSpc>
                  <a:spcBef>
                    <a:spcPts val="0"/>
                  </a:spcBef>
                  <a:spcAft>
                    <a:spcPts val="0"/>
                  </a:spcAft>
                  <a:buClrTx/>
                  <a:buSzTx/>
                  <a:buFontTx/>
                  <a:buNone/>
                  <a:tabLst/>
                  <a:defRPr/>
                </a:pPr>
                <a:endParaRPr kumimoji="0" lang="az-Latn-AZ" sz="3600" b="1" i="0" u="none" strike="noStrike" kern="1200" cap="none" spc="0" normalizeH="0" baseline="0" noProof="0" dirty="0">
                  <a:ln>
                    <a:noFill/>
                  </a:ln>
                  <a:solidFill>
                    <a:schemeClr val="accent2">
                      <a:lumMod val="50000"/>
                    </a:schemeClr>
                  </a:solidFill>
                  <a:effectLst/>
                  <a:uLnTx/>
                  <a:uFillTx/>
                  <a:latin typeface="Montserrat Black" pitchFamily="2" charset="0"/>
                  <a:ea typeface="Lato" pitchFamily="34" charset="-122"/>
                  <a:cs typeface="Lato" pitchFamily="34" charset="-120"/>
                </a:endParaRPr>
              </a:p>
            </p:txBody>
          </p:sp>
        </mc:Choice>
        <mc:Fallback>
          <p:sp>
            <p:nvSpPr>
              <p:cNvPr id="3" name="Mətn Qutusu 14">
                <a:extLst>
                  <a:ext uri="{FF2B5EF4-FFF2-40B4-BE49-F238E27FC236}">
                    <a16:creationId xmlns:a16="http://schemas.microsoft.com/office/drawing/2014/main" id="{375126C2-4519-3415-3FCE-67337C54A777}"/>
                  </a:ext>
                </a:extLst>
              </p:cNvPr>
              <p:cNvSpPr txBox="1">
                <a:spLocks noRot="1" noChangeAspect="1" noMove="1" noResize="1" noEditPoints="1" noAdjustHandles="1" noChangeArrowheads="1" noChangeShapeType="1" noTextEdit="1"/>
              </p:cNvSpPr>
              <p:nvPr/>
            </p:nvSpPr>
            <p:spPr>
              <a:xfrm>
                <a:off x="594534" y="1689712"/>
                <a:ext cx="11362480" cy="4183196"/>
              </a:xfrm>
              <a:prstGeom prst="rect">
                <a:avLst/>
              </a:prstGeom>
              <a:blipFill>
                <a:blip r:embed="rId2"/>
                <a:stretch>
                  <a:fillRect l="-1664" t="-6268"/>
                </a:stretch>
              </a:blipFill>
            </p:spPr>
            <p:txBody>
              <a:bodyPr/>
              <a:lstStyle/>
              <a:p>
                <a:r>
                  <a:rPr lang="ru-RU">
                    <a:noFill/>
                  </a:rPr>
                  <a:t> </a:t>
                </a:r>
              </a:p>
            </p:txBody>
          </p:sp>
        </mc:Fallback>
      </mc:AlternateContent>
    </p:spTree>
    <p:extLst>
      <p:ext uri="{BB962C8B-B14F-4D97-AF65-F5344CB8AC3E}">
        <p14:creationId xmlns:p14="http://schemas.microsoft.com/office/powerpoint/2010/main" val="39454063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ətn Qutusu 20">
            <a:extLst>
              <a:ext uri="{FF2B5EF4-FFF2-40B4-BE49-F238E27FC236}">
                <a16:creationId xmlns:a16="http://schemas.microsoft.com/office/drawing/2014/main" id="{6B4599A4-5FA1-37A3-97E6-30AD2642088F}"/>
              </a:ext>
            </a:extLst>
          </p:cNvPr>
          <p:cNvSpPr txBox="1"/>
          <p:nvPr/>
        </p:nvSpPr>
        <p:spPr>
          <a:xfrm>
            <a:off x="1625049" y="125030"/>
            <a:ext cx="9057465" cy="83407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ts val="5550"/>
              </a:lnSpc>
              <a:spcBef>
                <a:spcPts val="0"/>
              </a:spcBef>
              <a:spcAft>
                <a:spcPts val="0"/>
              </a:spcAft>
              <a:buClrTx/>
              <a:buSzTx/>
              <a:buFontTx/>
              <a:buNone/>
              <a:tabLst/>
              <a:defRPr/>
            </a:pPr>
            <a:r>
              <a:rPr lang="az-Latn-AZ" sz="6000" b="1" dirty="0">
                <a:solidFill>
                  <a:srgbClr val="282824"/>
                </a:solidFill>
                <a:latin typeface="Calibri" panose="020F0502020204030204" pitchFamily="34" charset="0"/>
                <a:ea typeface="Malgun Gothic" panose="020B0503020000020004" pitchFamily="34" charset="-127"/>
                <a:cs typeface="Calibri" panose="020F0502020204030204" pitchFamily="34" charset="0"/>
              </a:rPr>
              <a:t>2-ci üsulla ranqın tapılması</a:t>
            </a:r>
            <a:endParaRPr kumimoji="0" lang="en-US" sz="6000" b="0" i="0" u="none" strike="noStrike" kern="1200" cap="none" spc="0" normalizeH="0" baseline="0" noProof="0" dirty="0">
              <a:ln>
                <a:noFill/>
              </a:ln>
              <a:solidFill>
                <a:prstClr val="black"/>
              </a:solidFill>
              <a:effectLst/>
              <a:uLnTx/>
              <a:uFillTx/>
              <a:latin typeface="Calibri" panose="020F0502020204030204" pitchFamily="34" charset="0"/>
              <a:ea typeface="Malgun Gothic" panose="020B0503020000020004" pitchFamily="34" charset="-127"/>
              <a:cs typeface="Calibri" panose="020F0502020204030204" pitchFamily="34" charset="0"/>
            </a:endParaRPr>
          </a:p>
        </p:txBody>
      </p:sp>
      <mc:AlternateContent xmlns:mc="http://schemas.openxmlformats.org/markup-compatibility/2006">
        <mc:Choice xmlns:a14="http://schemas.microsoft.com/office/drawing/2010/main" Requires="a14">
          <p:sp>
            <p:nvSpPr>
              <p:cNvPr id="4" name="Mətn Qutusu 14">
                <a:extLst>
                  <a:ext uri="{FF2B5EF4-FFF2-40B4-BE49-F238E27FC236}">
                    <a16:creationId xmlns:a16="http://schemas.microsoft.com/office/drawing/2014/main" id="{F916A78D-23E7-FE1E-3F0F-B2455257B96B}"/>
                  </a:ext>
                </a:extLst>
              </p:cNvPr>
              <p:cNvSpPr txBox="1"/>
              <p:nvPr/>
            </p:nvSpPr>
            <p:spPr>
              <a:xfrm>
                <a:off x="884821" y="1130455"/>
                <a:ext cx="10175065" cy="6054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ts val="2850"/>
                  </a:lnSpc>
                  <a:spcBef>
                    <a:spcPts val="0"/>
                  </a:spcBef>
                  <a:spcAft>
                    <a:spcPts val="0"/>
                  </a:spcAft>
                  <a:buClrTx/>
                  <a:buSzTx/>
                  <a:buFontTx/>
                  <a:buNone/>
                  <a:tabLst/>
                  <a:defRPr/>
                </a:pPr>
                <a:r>
                  <a:rPr kumimoji="0" lang="az-Latn-AZ" sz="3600" b="1" i="0" u="none" strike="noStrike" kern="1200" cap="none" spc="0" normalizeH="0" baseline="0" noProof="0" dirty="0">
                    <a:ln>
                      <a:noFill/>
                    </a:ln>
                    <a:solidFill>
                      <a:schemeClr val="accent2">
                        <a:lumMod val="50000"/>
                      </a:schemeClr>
                    </a:solidFill>
                    <a:effectLst/>
                    <a:uLnTx/>
                    <a:uFillTx/>
                    <a:latin typeface="Montserrat Black" pitchFamily="2" charset="0"/>
                    <a:ea typeface="Lato" pitchFamily="34" charset="-122"/>
                    <a:cs typeface="Lato" pitchFamily="34" charset="-120"/>
                  </a:rPr>
                  <a:t>2-ci üsul seçmə üsuludur.</a:t>
                </a:r>
                <a:endParaRPr lang="az-Latn-AZ" sz="3600" b="1" dirty="0">
                  <a:solidFill>
                    <a:schemeClr val="accent2">
                      <a:lumMod val="50000"/>
                    </a:schemeClr>
                  </a:solidFill>
                  <a:latin typeface="Montserrat Black" pitchFamily="2" charset="0"/>
                  <a:ea typeface="Lato" pitchFamily="34" charset="-122"/>
                  <a:cs typeface="Lato" pitchFamily="34" charset="-120"/>
                </a:endParaRPr>
              </a:p>
              <a:p>
                <a:pPr marL="0" marR="0" lvl="0" indent="0" algn="l" defTabSz="914400" rtl="0" eaLnBrk="1" fontAlgn="auto" latinLnBrk="0" hangingPunct="1">
                  <a:lnSpc>
                    <a:spcPts val="2850"/>
                  </a:lnSpc>
                  <a:spcBef>
                    <a:spcPts val="0"/>
                  </a:spcBef>
                  <a:spcAft>
                    <a:spcPts val="0"/>
                  </a:spcAft>
                  <a:buClrTx/>
                  <a:buSzTx/>
                  <a:buFontTx/>
                  <a:buNone/>
                  <a:tabLst/>
                  <a:defRPr/>
                </a:pPr>
                <a:endParaRPr lang="az-Latn-AZ" sz="3600" b="1" dirty="0">
                  <a:solidFill>
                    <a:schemeClr val="accent2">
                      <a:lumMod val="50000"/>
                    </a:schemeClr>
                  </a:solidFill>
                  <a:latin typeface="Montserrat Black" pitchFamily="2" charset="0"/>
                  <a:ea typeface="Lato" pitchFamily="34" charset="-122"/>
                  <a:cs typeface="Lato" pitchFamily="34" charset="-120"/>
                </a:endParaRPr>
              </a:p>
              <a:p>
                <a:pPr marL="0" marR="0" lvl="0" indent="0" algn="l" defTabSz="914400" rtl="0" eaLnBrk="1" fontAlgn="auto" latinLnBrk="0" hangingPunct="1">
                  <a:lnSpc>
                    <a:spcPts val="2850"/>
                  </a:lnSpc>
                  <a:spcBef>
                    <a:spcPts val="0"/>
                  </a:spcBef>
                  <a:spcAft>
                    <a:spcPts val="0"/>
                  </a:spcAft>
                  <a:buClrTx/>
                  <a:buSzTx/>
                  <a:buFontTx/>
                  <a:buNone/>
                  <a:tabLst/>
                  <a:defRPr/>
                </a:pPr>
                <a:r>
                  <a:rPr kumimoji="0" lang="az-Latn-AZ" sz="3600" b="1" i="0" u="none" strike="noStrike" kern="1200" cap="none" spc="0" normalizeH="0" baseline="0" noProof="0" dirty="0">
                    <a:ln>
                      <a:noFill/>
                    </a:ln>
                    <a:solidFill>
                      <a:schemeClr val="accent2">
                        <a:lumMod val="50000"/>
                      </a:schemeClr>
                    </a:solidFill>
                    <a:effectLst/>
                    <a:uLnTx/>
                    <a:uFillTx/>
                    <a:latin typeface="Montserrat Black" pitchFamily="2" charset="0"/>
                    <a:ea typeface="Lato" pitchFamily="34" charset="-122"/>
                    <a:cs typeface="Lato" pitchFamily="34" charset="-120"/>
                  </a:rPr>
                  <a:t>Nümunə</a:t>
                </a:r>
                <a:r>
                  <a:rPr kumimoji="0" lang="en-US" sz="3600" b="1" i="0" u="none" strike="noStrike" kern="1200" cap="none" spc="0" normalizeH="0" baseline="0" noProof="0" dirty="0">
                    <a:ln>
                      <a:noFill/>
                    </a:ln>
                    <a:solidFill>
                      <a:schemeClr val="accent2">
                        <a:lumMod val="50000"/>
                      </a:schemeClr>
                    </a:solidFill>
                    <a:effectLst/>
                    <a:uLnTx/>
                    <a:uFillTx/>
                    <a:latin typeface="Montserrat Black" pitchFamily="2" charset="0"/>
                    <a:ea typeface="Lato" pitchFamily="34" charset="-122"/>
                    <a:cs typeface="Lato" pitchFamily="34" charset="-120"/>
                  </a:rPr>
                  <a:t>:</a:t>
                </a:r>
                <a:r>
                  <a:rPr kumimoji="0" lang="az-Latn-AZ" sz="3600" b="1" i="0" u="none" strike="noStrike" kern="1200" cap="none" spc="0" normalizeH="0" baseline="0" noProof="0" dirty="0">
                    <a:ln>
                      <a:noFill/>
                    </a:ln>
                    <a:solidFill>
                      <a:schemeClr val="accent2">
                        <a:lumMod val="50000"/>
                      </a:schemeClr>
                    </a:solidFill>
                    <a:effectLst/>
                    <a:uLnTx/>
                    <a:uFillTx/>
                    <a:latin typeface="Montserrat Black" pitchFamily="2" charset="0"/>
                    <a:ea typeface="Lato" pitchFamily="34" charset="-122"/>
                    <a:cs typeface="Lato" pitchFamily="34" charset="-120"/>
                  </a:rPr>
                  <a:t> </a:t>
                </a:r>
              </a:p>
              <a:p>
                <a:pPr marL="0" marR="0" lvl="0" indent="0" algn="l" defTabSz="914400" rtl="0" eaLnBrk="1" fontAlgn="auto" latinLnBrk="0" hangingPunct="1">
                  <a:lnSpc>
                    <a:spcPts val="2850"/>
                  </a:lnSpc>
                  <a:spcBef>
                    <a:spcPts val="0"/>
                  </a:spcBef>
                  <a:spcAft>
                    <a:spcPts val="0"/>
                  </a:spcAft>
                  <a:buClrTx/>
                  <a:buSzTx/>
                  <a:buFontTx/>
                  <a:buNone/>
                  <a:tabLst/>
                  <a:defRPr/>
                </a:pPr>
                <a:r>
                  <a:rPr kumimoji="0" lang="az-Latn-AZ" sz="3600" b="1" i="1" u="none" strike="noStrike" kern="1200" cap="none" spc="0" normalizeH="0" baseline="0" noProof="0" dirty="0">
                    <a:ln>
                      <a:noFill/>
                    </a:ln>
                    <a:solidFill>
                      <a:schemeClr val="accent2">
                        <a:lumMod val="50000"/>
                      </a:schemeClr>
                    </a:solidFill>
                    <a:effectLst/>
                    <a:uLnTx/>
                    <a:uFillTx/>
                    <a:latin typeface="Cambria Math" panose="02040503050406030204" pitchFamily="18" charset="0"/>
                    <a:ea typeface="Lato" pitchFamily="34" charset="-122"/>
                    <a:cs typeface="Lato" pitchFamily="34" charset="-120"/>
                  </a:rPr>
                  <a:t>r(A)=?</a:t>
                </a:r>
              </a:p>
              <a:p>
                <a:pPr marL="0" marR="0" lvl="0" indent="0" algn="l" defTabSz="914400" rtl="0" eaLnBrk="1" fontAlgn="auto" latinLnBrk="0" hangingPunct="1">
                  <a:lnSpc>
                    <a:spcPts val="285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Lato" pitchFamily="34" charset="-122"/>
                          <a:cs typeface="Lato" pitchFamily="34" charset="-120"/>
                        </a:rPr>
                        <m:t>𝑨</m:t>
                      </m:r>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m:t>
                      </m:r>
                      <m:d>
                        <m:dPr>
                          <m:begChr m:val="["/>
                          <m:endChr m:val="]"/>
                          <m:ctrlP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ctrlPr>
                        </m:dPr>
                        <m:e>
                          <m:m>
                            <m:mPr>
                              <m:mcs>
                                <m:mc>
                                  <m:mcPr>
                                    <m:count m:val="2"/>
                                    <m:mcJc m:val="center"/>
                                  </m:mcPr>
                                </m:mc>
                              </m:mcs>
                              <m:ctrlP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ctrlPr>
                            </m:mPr>
                            <m:mr>
                              <m:e>
                                <m:r>
                                  <m:rPr>
                                    <m:brk m:alnAt="7"/>
                                  </m:rP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𝟏</m:t>
                                </m:r>
                              </m:e>
                              <m:e>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𝟑</m:t>
                                </m:r>
                              </m:e>
                            </m:mr>
                            <m:mr>
                              <m:e>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𝟎</m:t>
                                </m:r>
                              </m:e>
                              <m:e>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𝟎</m:t>
                                </m:r>
                              </m:e>
                            </m:mr>
                            <m:mr>
                              <m:e>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𝟐</m:t>
                                </m:r>
                              </m:e>
                              <m:e>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𝟔</m:t>
                                </m:r>
                              </m:e>
                            </m:mr>
                          </m:m>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    </m:t>
                          </m:r>
                          <m:m>
                            <m:mPr>
                              <m:mcs>
                                <m:mc>
                                  <m:mcPr>
                                    <m:count m:val="2"/>
                                    <m:mcJc m:val="center"/>
                                  </m:mcPr>
                                </m:mc>
                              </m:mcs>
                              <m:ctrlP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ctrlPr>
                            </m:mPr>
                            <m:mr>
                              <m:e>
                                <m:r>
                                  <m:rPr>
                                    <m:brk m:alnAt="7"/>
                                  </m:rP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𝟑</m:t>
                                </m:r>
                              </m:e>
                              <m:e>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𝟒</m:t>
                                </m:r>
                              </m:e>
                            </m:mr>
                            <m:mr>
                              <m:e>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𝟏</m:t>
                                </m:r>
                              </m:e>
                              <m:e>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𝟐</m:t>
                                </m:r>
                              </m:e>
                            </m:mr>
                            <m:mr>
                              <m:e>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𝟏</m:t>
                                </m:r>
                              </m:e>
                              <m:e>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m:t>
                                </m:r>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𝟐</m:t>
                                </m:r>
                              </m:e>
                            </m:mr>
                          </m:m>
                        </m:e>
                      </m:d>
                    </m:oMath>
                  </m:oMathPara>
                </a14:m>
                <a:endParaRPr kumimoji="0" lang="az-Latn-AZ" sz="3600" b="1" i="0" u="none" strike="noStrike" kern="1200" cap="none" spc="0" normalizeH="0" baseline="0" noProof="0" dirty="0">
                  <a:ln>
                    <a:noFill/>
                  </a:ln>
                  <a:solidFill>
                    <a:schemeClr val="accent2">
                      <a:lumMod val="50000"/>
                    </a:schemeClr>
                  </a:solidFill>
                  <a:effectLst/>
                  <a:uLnTx/>
                  <a:uFillTx/>
                  <a:latin typeface="Montserrat Black" pitchFamily="2" charset="0"/>
                  <a:ea typeface="Lato" pitchFamily="34" charset="-122"/>
                  <a:cs typeface="Lato" pitchFamily="34" charset="-120"/>
                </a:endParaRPr>
              </a:p>
              <a:p>
                <a:pPr marL="0" marR="0" lvl="0" indent="0" algn="l" defTabSz="914400" rtl="0" eaLnBrk="1" fontAlgn="auto" latinLnBrk="0" hangingPunct="1">
                  <a:lnSpc>
                    <a:spcPts val="2850"/>
                  </a:lnSpc>
                  <a:spcBef>
                    <a:spcPts val="0"/>
                  </a:spcBef>
                  <a:spcAft>
                    <a:spcPts val="0"/>
                  </a:spcAft>
                  <a:buClrTx/>
                  <a:buSzTx/>
                  <a:buFontTx/>
                  <a:buNone/>
                  <a:tabLst/>
                  <a:defRPr/>
                </a:pPr>
                <a:endParaRPr lang="az-Latn-AZ" sz="3600" b="1" dirty="0">
                  <a:solidFill>
                    <a:schemeClr val="accent2">
                      <a:lumMod val="50000"/>
                    </a:schemeClr>
                  </a:solidFill>
                  <a:latin typeface="Montserrat Black" pitchFamily="2" charset="0"/>
                  <a:ea typeface="Lato" pitchFamily="34" charset="-122"/>
                  <a:cs typeface="Lato" pitchFamily="34" charset="-120"/>
                </a:endParaRPr>
              </a:p>
              <a:p>
                <a:pPr marL="0" marR="0" lvl="0" indent="0" algn="l" defTabSz="914400" rtl="0" eaLnBrk="1" fontAlgn="auto" latinLnBrk="0" hangingPunct="1">
                  <a:lnSpc>
                    <a:spcPts val="2850"/>
                  </a:lnSpc>
                  <a:spcBef>
                    <a:spcPts val="0"/>
                  </a:spcBef>
                  <a:spcAft>
                    <a:spcPts val="0"/>
                  </a:spcAft>
                  <a:buClrTx/>
                  <a:buSzTx/>
                  <a:buFontTx/>
                  <a:buNone/>
                  <a:tabLst/>
                  <a:defRPr/>
                </a:pPr>
                <a:endParaRPr lang="az-Latn-AZ" sz="3600" b="1" dirty="0">
                  <a:solidFill>
                    <a:schemeClr val="accent2">
                      <a:lumMod val="50000"/>
                    </a:schemeClr>
                  </a:solidFill>
                  <a:latin typeface="Montserrat Black" pitchFamily="2" charset="0"/>
                  <a:ea typeface="Lato" pitchFamily="34" charset="-122"/>
                  <a:cs typeface="Lato" pitchFamily="34" charset="-120"/>
                </a:endParaRPr>
              </a:p>
              <a:p>
                <a:pPr marL="0" marR="0" lvl="0" indent="0" algn="l" defTabSz="914400" rtl="0" eaLnBrk="1" fontAlgn="auto" latinLnBrk="0" hangingPunct="1">
                  <a:lnSpc>
                    <a:spcPts val="2850"/>
                  </a:lnSpc>
                  <a:spcBef>
                    <a:spcPts val="0"/>
                  </a:spcBef>
                  <a:spcAft>
                    <a:spcPts val="0"/>
                  </a:spcAft>
                  <a:buClrTx/>
                  <a:buSzTx/>
                  <a:buFontTx/>
                  <a:buNone/>
                  <a:tabLst/>
                  <a:defRPr/>
                </a:pPr>
                <a:endParaRPr kumimoji="0" lang="az-Latn-AZ" sz="3600" b="1" i="1" u="none" strike="noStrike" kern="1200" cap="none" spc="0" normalizeH="0" baseline="0" noProof="0" dirty="0">
                  <a:ln>
                    <a:noFill/>
                  </a:ln>
                  <a:solidFill>
                    <a:schemeClr val="accent2">
                      <a:lumMod val="50000"/>
                    </a:schemeClr>
                  </a:solidFill>
                  <a:effectLst/>
                  <a:uLnTx/>
                  <a:uFillTx/>
                  <a:latin typeface="Cambria Math" panose="02040503050406030204" pitchFamily="18" charset="0"/>
                  <a:ea typeface="Lato" pitchFamily="34" charset="-122"/>
                  <a:cs typeface="Lato" pitchFamily="34" charset="-120"/>
                </a:endParaRPr>
              </a:p>
              <a:p>
                <a:pPr marL="0" marR="0" lvl="0" indent="0" algn="l" defTabSz="914400" rtl="0" eaLnBrk="1" fontAlgn="auto" latinLnBrk="0" hangingPunct="1">
                  <a:lnSpc>
                    <a:spcPts val="285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Lato" pitchFamily="34" charset="-122"/>
                          <a:cs typeface="Lato" pitchFamily="34" charset="-120"/>
                        </a:rPr>
                        <m:t>𝑨</m:t>
                      </m:r>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m:t>
                      </m:r>
                      <m:d>
                        <m:dPr>
                          <m:begChr m:val="|"/>
                          <m:endChr m:val="|"/>
                          <m:ctrlP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ctrlPr>
                        </m:dPr>
                        <m:e>
                          <m:m>
                            <m:mPr>
                              <m:mcs>
                                <m:mc>
                                  <m:mcPr>
                                    <m:count m:val="2"/>
                                    <m:mcJc m:val="center"/>
                                  </m:mcPr>
                                </m:mc>
                              </m:mcs>
                              <m:ctrlP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ctrlPr>
                            </m:mPr>
                            <m:mr>
                              <m:e>
                                <m:r>
                                  <m:rPr>
                                    <m:brk m:alnAt="7"/>
                                  </m:rPr>
                                  <a:rPr kumimoji="0" lang="en-US"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𝟑</m:t>
                                </m:r>
                              </m:e>
                              <m:e>
                                <m:r>
                                  <a:rPr kumimoji="0" lang="en-US"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𝟑</m:t>
                                </m:r>
                              </m:e>
                            </m:mr>
                            <m:mr>
                              <m:e>
                                <m:r>
                                  <a:rPr kumimoji="0" lang="en-US"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𝟎</m:t>
                                </m:r>
                              </m:e>
                              <m:e>
                                <m:r>
                                  <a:rPr kumimoji="0" lang="en-US"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𝟏</m:t>
                                </m:r>
                              </m:e>
                            </m:mr>
                          </m:m>
                        </m:e>
                      </m:d>
                      <m:r>
                        <a:rPr lang="az-Latn-AZ" sz="3600" b="1" i="1">
                          <a:solidFill>
                            <a:schemeClr val="accent2">
                              <a:lumMod val="50000"/>
                            </a:schemeClr>
                          </a:solidFill>
                          <a:latin typeface="Cambria Math" panose="02040503050406030204" pitchFamily="18" charset="0"/>
                          <a:ea typeface="Cambria Math" panose="02040503050406030204" pitchFamily="18" charset="0"/>
                          <a:cs typeface="Lato" pitchFamily="34" charset="-120"/>
                        </a:rPr>
                        <m:t>=</m:t>
                      </m:r>
                      <m:r>
                        <a:rPr lang="en-US" sz="3600" b="1" i="1" smtClean="0">
                          <a:solidFill>
                            <a:schemeClr val="accent2">
                              <a:lumMod val="50000"/>
                            </a:schemeClr>
                          </a:solidFill>
                          <a:latin typeface="Cambria Math" panose="02040503050406030204" pitchFamily="18" charset="0"/>
                          <a:ea typeface="Cambria Math" panose="02040503050406030204" pitchFamily="18" charset="0"/>
                          <a:cs typeface="Lato" pitchFamily="34" charset="-120"/>
                        </a:rPr>
                        <m:t>𝟑</m:t>
                      </m:r>
                    </m:oMath>
                  </m:oMathPara>
                </a14:m>
                <a:endParaRPr kumimoji="0" lang="az-Latn-AZ" sz="3600" b="1" i="0" u="none" strike="noStrike" kern="1200" cap="none" spc="0" normalizeH="0" baseline="0" noProof="0" dirty="0">
                  <a:ln>
                    <a:noFill/>
                  </a:ln>
                  <a:solidFill>
                    <a:schemeClr val="accent2">
                      <a:lumMod val="50000"/>
                    </a:schemeClr>
                  </a:solidFill>
                  <a:effectLst/>
                  <a:uLnTx/>
                  <a:uFillTx/>
                  <a:latin typeface="Montserrat Black" pitchFamily="2" charset="0"/>
                  <a:ea typeface="Lato" pitchFamily="34" charset="-122"/>
                  <a:cs typeface="Lato" pitchFamily="34" charset="-120"/>
                </a:endParaRPr>
              </a:p>
              <a:p>
                <a:pPr marL="0" marR="0" lvl="0" indent="0" algn="l" defTabSz="914400" rtl="0" eaLnBrk="1" fontAlgn="auto" latinLnBrk="0" hangingPunct="1">
                  <a:lnSpc>
                    <a:spcPts val="2850"/>
                  </a:lnSpc>
                  <a:spcBef>
                    <a:spcPts val="0"/>
                  </a:spcBef>
                  <a:spcAft>
                    <a:spcPts val="0"/>
                  </a:spcAft>
                  <a:buClrTx/>
                  <a:buSzTx/>
                  <a:buFontTx/>
                  <a:buNone/>
                  <a:tabLst/>
                  <a:defRPr/>
                </a:pPr>
                <a:endParaRPr kumimoji="0" lang="en-US" sz="3600" b="1" i="0" u="none" strike="noStrike" kern="1200" cap="none" spc="0" normalizeH="0" baseline="0" noProof="0" dirty="0">
                  <a:ln>
                    <a:noFill/>
                  </a:ln>
                  <a:solidFill>
                    <a:schemeClr val="accent2">
                      <a:lumMod val="50000"/>
                    </a:schemeClr>
                  </a:solidFill>
                  <a:effectLst/>
                  <a:uLnTx/>
                  <a:uFillTx/>
                  <a:latin typeface="Montserrat Black" pitchFamily="2" charset="0"/>
                  <a:ea typeface="Lato" pitchFamily="34" charset="-122"/>
                  <a:cs typeface="Lato" pitchFamily="34" charset="-120"/>
                </a:endParaRPr>
              </a:p>
              <a:p>
                <a:pPr marL="0" marR="0" lvl="0" indent="0" algn="l" defTabSz="914400" rtl="0" eaLnBrk="1" fontAlgn="auto" latinLnBrk="0" hangingPunct="1">
                  <a:lnSpc>
                    <a:spcPts val="2850"/>
                  </a:lnSpc>
                  <a:spcBef>
                    <a:spcPts val="0"/>
                  </a:spcBef>
                  <a:spcAft>
                    <a:spcPts val="0"/>
                  </a:spcAft>
                  <a:buClrTx/>
                  <a:buSzTx/>
                  <a:buFontTx/>
                  <a:buNone/>
                  <a:tabLst/>
                  <a:defRPr/>
                </a:pPr>
                <a:endParaRPr lang="en-US" sz="3600" b="1" dirty="0">
                  <a:solidFill>
                    <a:schemeClr val="accent2">
                      <a:lumMod val="50000"/>
                    </a:schemeClr>
                  </a:solidFill>
                  <a:latin typeface="Montserrat Black" pitchFamily="2" charset="0"/>
                  <a:ea typeface="Lato" pitchFamily="34" charset="-122"/>
                  <a:cs typeface="Lato" pitchFamily="34" charset="-120"/>
                </a:endParaRPr>
              </a:p>
              <a:p>
                <a:pPr marL="0" marR="0" lvl="0" indent="0" algn="l" defTabSz="914400" rtl="0" eaLnBrk="1" fontAlgn="auto" latinLnBrk="0" hangingPunct="1">
                  <a:lnSpc>
                    <a:spcPts val="2850"/>
                  </a:lnSpc>
                  <a:spcBef>
                    <a:spcPts val="0"/>
                  </a:spcBef>
                  <a:spcAft>
                    <a:spcPts val="0"/>
                  </a:spcAft>
                  <a:buClrTx/>
                  <a:buSzTx/>
                  <a:buFontTx/>
                  <a:buNone/>
                  <a:tabLst/>
                  <a:defRPr/>
                </a:pPr>
                <a:r>
                  <a:rPr lang="en-US" sz="3600" b="1" dirty="0">
                    <a:solidFill>
                      <a:schemeClr val="accent2">
                        <a:lumMod val="50000"/>
                      </a:schemeClr>
                    </a:solidFill>
                    <a:latin typeface="Montserrat Black" pitchFamily="2" charset="0"/>
                    <a:ea typeface="Lato" pitchFamily="34" charset="-122"/>
                    <a:cs typeface="Lato" pitchFamily="34" charset="-120"/>
                  </a:rPr>
                  <a:t>                                   </a:t>
                </a:r>
              </a:p>
              <a:p>
                <a:pPr marL="0" marR="0" lvl="0" indent="0" algn="l" defTabSz="914400" rtl="0" eaLnBrk="1" fontAlgn="auto" latinLnBrk="0" hangingPunct="1">
                  <a:lnSpc>
                    <a:spcPts val="2850"/>
                  </a:lnSpc>
                  <a:spcBef>
                    <a:spcPts val="0"/>
                  </a:spcBef>
                  <a:spcAft>
                    <a:spcPts val="0"/>
                  </a:spcAft>
                  <a:buClrTx/>
                  <a:buSzTx/>
                  <a:buFontTx/>
                  <a:buNone/>
                  <a:tabLst/>
                  <a:defRPr/>
                </a:pPr>
                <a:r>
                  <a:rPr lang="en-US" sz="3600" b="1" dirty="0">
                    <a:solidFill>
                      <a:schemeClr val="accent2">
                        <a:lumMod val="50000"/>
                      </a:schemeClr>
                    </a:solidFill>
                    <a:latin typeface="Montserrat Black" pitchFamily="2" charset="0"/>
                    <a:ea typeface="Lato" pitchFamily="34" charset="-122"/>
                    <a:cs typeface="Lato" pitchFamily="34" charset="-120"/>
                  </a:rPr>
                  <a:t>  </a:t>
                </a:r>
              </a:p>
              <a:p>
                <a:pPr>
                  <a:lnSpc>
                    <a:spcPts val="2850"/>
                  </a:lnSpc>
                  <a:defRPr/>
                </a:pPr>
                <a:r>
                  <a:rPr kumimoji="0" lang="en-US" sz="3600" b="1" u="none" strike="noStrike" kern="1200" cap="none" spc="0" normalizeH="0" baseline="0" noProof="0" dirty="0">
                    <a:ln>
                      <a:noFill/>
                    </a:ln>
                    <a:solidFill>
                      <a:schemeClr val="accent2">
                        <a:lumMod val="50000"/>
                      </a:schemeClr>
                    </a:solidFill>
                    <a:effectLst/>
                    <a:uLnTx/>
                    <a:uFillTx/>
                    <a:ea typeface="Lato" pitchFamily="34" charset="-122"/>
                    <a:cs typeface="Lato" pitchFamily="34" charset="-120"/>
                  </a:rPr>
                  <a:t>                                                 </a:t>
                </a:r>
                <a14:m>
                  <m:oMath xmlns:m="http://schemas.openxmlformats.org/officeDocument/2006/math">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Lato" pitchFamily="34" charset="-122"/>
                        <a:cs typeface="Lato" pitchFamily="34" charset="-120"/>
                      </a:rPr>
                      <m:t>𝑨</m:t>
                    </m:r>
                    <m: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m:t>
                    </m:r>
                    <m:d>
                      <m:dPr>
                        <m:begChr m:val="|"/>
                        <m:endChr m:val="|"/>
                        <m:ctrlP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ctrlPr>
                      </m:dPr>
                      <m:e>
                        <m:m>
                          <m:mPr>
                            <m:mcs>
                              <m:mc>
                                <m:mcPr>
                                  <m:count m:val="3"/>
                                  <m:mcJc m:val="center"/>
                                </m:mcPr>
                              </m:mc>
                            </m:mcs>
                            <m:ctrlPr>
                              <a:rPr kumimoji="0" lang="az-Latn-AZ"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ctrlPr>
                          </m:mPr>
                          <m:mr>
                            <m:e>
                              <m:r>
                                <m:rPr>
                                  <m:brk m:alnAt="7"/>
                                </m:rPr>
                                <a:rPr kumimoji="0" lang="en-US"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𝟏</m:t>
                              </m:r>
                            </m:e>
                            <m:e>
                              <m:r>
                                <a:rPr kumimoji="0" lang="en-US"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𝟑</m:t>
                              </m:r>
                            </m:e>
                            <m:e>
                              <m:r>
                                <a:rPr kumimoji="0" lang="en-US"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𝟑</m:t>
                              </m:r>
                            </m:e>
                          </m:mr>
                          <m:mr>
                            <m:e>
                              <m:r>
                                <a:rPr kumimoji="0" lang="en-US"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𝟎</m:t>
                              </m:r>
                            </m:e>
                            <m:e>
                              <m:r>
                                <a:rPr kumimoji="0" lang="en-US"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𝟎</m:t>
                              </m:r>
                            </m:e>
                            <m:e>
                              <m:r>
                                <a:rPr kumimoji="0" lang="en-US"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𝟏</m:t>
                              </m:r>
                            </m:e>
                          </m:mr>
                          <m:mr>
                            <m:e>
                              <m:r>
                                <a:rPr kumimoji="0" lang="en-US"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𝟐</m:t>
                              </m:r>
                            </m:e>
                            <m:e>
                              <m:r>
                                <a:rPr kumimoji="0" lang="en-US"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𝟔</m:t>
                              </m:r>
                            </m:e>
                            <m:e>
                              <m:r>
                                <a:rPr kumimoji="0" lang="en-US" sz="3600" b="1" i="1" u="none" strike="noStrike" kern="1200" cap="none" spc="0" normalizeH="0" baseline="0" noProof="0" smtClean="0">
                                  <a:ln>
                                    <a:noFill/>
                                  </a:ln>
                                  <a:solidFill>
                                    <a:schemeClr val="accent2">
                                      <a:lumMod val="50000"/>
                                    </a:schemeClr>
                                  </a:solidFill>
                                  <a:effectLst/>
                                  <a:uLnTx/>
                                  <a:uFillTx/>
                                  <a:latin typeface="Cambria Math" panose="02040503050406030204" pitchFamily="18" charset="0"/>
                                  <a:ea typeface="Cambria Math" panose="02040503050406030204" pitchFamily="18" charset="0"/>
                                  <a:cs typeface="Lato" pitchFamily="34" charset="-120"/>
                                </a:rPr>
                                <m:t>𝟏</m:t>
                              </m:r>
                            </m:e>
                          </m:mr>
                        </m:m>
                      </m:e>
                    </m:d>
                    <m:r>
                      <a:rPr lang="az-Latn-AZ" sz="3600" b="1" i="1">
                        <a:solidFill>
                          <a:schemeClr val="accent2">
                            <a:lumMod val="50000"/>
                          </a:schemeClr>
                        </a:solidFill>
                        <a:latin typeface="Cambria Math" panose="02040503050406030204" pitchFamily="18" charset="0"/>
                        <a:ea typeface="Cambria Math" panose="02040503050406030204" pitchFamily="18" charset="0"/>
                        <a:cs typeface="Lato" pitchFamily="34" charset="-120"/>
                      </a:rPr>
                      <m:t>=</m:t>
                    </m:r>
                    <m:r>
                      <a:rPr lang="en-US" sz="3600" b="1" i="1" smtClean="0">
                        <a:solidFill>
                          <a:schemeClr val="accent2">
                            <a:lumMod val="50000"/>
                          </a:schemeClr>
                        </a:solidFill>
                        <a:latin typeface="Cambria Math" panose="02040503050406030204" pitchFamily="18" charset="0"/>
                        <a:ea typeface="Cambria Math" panose="02040503050406030204" pitchFamily="18" charset="0"/>
                        <a:cs typeface="Lato" pitchFamily="34" charset="-120"/>
                      </a:rPr>
                      <m:t>𝟎</m:t>
                    </m:r>
                  </m:oMath>
                </a14:m>
                <a:endParaRPr kumimoji="0" lang="az-Latn-AZ" sz="3600" b="1" i="0" u="none" strike="noStrike" kern="1200" cap="none" spc="0" normalizeH="0" baseline="0" noProof="0" dirty="0">
                  <a:ln>
                    <a:noFill/>
                  </a:ln>
                  <a:solidFill>
                    <a:schemeClr val="accent2">
                      <a:lumMod val="50000"/>
                    </a:schemeClr>
                  </a:solidFill>
                  <a:effectLst/>
                  <a:uLnTx/>
                  <a:uFillTx/>
                  <a:latin typeface="Montserrat Black" pitchFamily="2" charset="0"/>
                  <a:ea typeface="Lato" pitchFamily="34" charset="-122"/>
                  <a:cs typeface="Lato" pitchFamily="34" charset="-120"/>
                </a:endParaRPr>
              </a:p>
              <a:p>
                <a:pPr marL="0" marR="0" lvl="0" indent="0" algn="l" defTabSz="914400" rtl="0" eaLnBrk="1" fontAlgn="auto" latinLnBrk="0" hangingPunct="1">
                  <a:lnSpc>
                    <a:spcPts val="2850"/>
                  </a:lnSpc>
                  <a:spcBef>
                    <a:spcPts val="0"/>
                  </a:spcBef>
                  <a:spcAft>
                    <a:spcPts val="0"/>
                  </a:spcAft>
                  <a:buClrTx/>
                  <a:buSzTx/>
                  <a:buFontTx/>
                  <a:buNone/>
                  <a:tabLst/>
                  <a:defRPr/>
                </a:pPr>
                <a:endParaRPr kumimoji="0" lang="az-Latn-AZ" sz="3600" b="0" i="0" u="none" strike="noStrike" kern="1200" cap="none" spc="0" normalizeH="0" baseline="0" noProof="0" dirty="0">
                  <a:ln>
                    <a:noFill/>
                  </a:ln>
                  <a:solidFill>
                    <a:schemeClr val="accent2">
                      <a:lumMod val="50000"/>
                    </a:schemeClr>
                  </a:solidFill>
                  <a:effectLst/>
                  <a:uLnTx/>
                  <a:uFillTx/>
                  <a:latin typeface="Montserrat Black" pitchFamily="2" charset="0"/>
                  <a:ea typeface="Lato" pitchFamily="34" charset="-122"/>
                  <a:cs typeface="Lato" pitchFamily="34" charset="-120"/>
                </a:endParaRPr>
              </a:p>
            </p:txBody>
          </p:sp>
        </mc:Choice>
        <mc:Fallback>
          <p:sp>
            <p:nvSpPr>
              <p:cNvPr id="4" name="Mətn Qutusu 14">
                <a:extLst>
                  <a:ext uri="{FF2B5EF4-FFF2-40B4-BE49-F238E27FC236}">
                    <a16:creationId xmlns:a16="http://schemas.microsoft.com/office/drawing/2014/main" id="{F916A78D-23E7-FE1E-3F0F-B2455257B96B}"/>
                  </a:ext>
                </a:extLst>
              </p:cNvPr>
              <p:cNvSpPr txBox="1">
                <a:spLocks noRot="1" noChangeAspect="1" noMove="1" noResize="1" noEditPoints="1" noAdjustHandles="1" noChangeArrowheads="1" noChangeShapeType="1" noTextEdit="1"/>
              </p:cNvSpPr>
              <p:nvPr/>
            </p:nvSpPr>
            <p:spPr>
              <a:xfrm>
                <a:off x="884821" y="1130455"/>
                <a:ext cx="10175065" cy="6054221"/>
              </a:xfrm>
              <a:prstGeom prst="rect">
                <a:avLst/>
              </a:prstGeom>
              <a:blipFill>
                <a:blip r:embed="rId2"/>
                <a:stretch>
                  <a:fillRect l="-1797" t="-4326"/>
                </a:stretch>
              </a:blipFill>
            </p:spPr>
            <p:txBody>
              <a:bodyPr/>
              <a:lstStyle/>
              <a:p>
                <a:r>
                  <a:rPr lang="ru-RU">
                    <a:noFill/>
                  </a:rPr>
                  <a:t> </a:t>
                </a:r>
              </a:p>
            </p:txBody>
          </p:sp>
        </mc:Fallback>
      </mc:AlternateContent>
    </p:spTree>
    <p:extLst>
      <p:ext uri="{BB962C8B-B14F-4D97-AF65-F5344CB8AC3E}">
        <p14:creationId xmlns:p14="http://schemas.microsoft.com/office/powerpoint/2010/main" val="293604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782;p44">
            <a:extLst>
              <a:ext uri="{FF2B5EF4-FFF2-40B4-BE49-F238E27FC236}">
                <a16:creationId xmlns:a16="http://schemas.microsoft.com/office/drawing/2014/main" id="{D96747FC-0AF3-24D3-B7E3-06469B23ECEA}"/>
              </a:ext>
            </a:extLst>
          </p:cNvPr>
          <p:cNvSpPr txBox="1">
            <a:spLocks noGrp="1"/>
          </p:cNvSpPr>
          <p:nvPr/>
        </p:nvSpPr>
        <p:spPr>
          <a:xfrm>
            <a:off x="1460227" y="152706"/>
            <a:ext cx="8496571" cy="122615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100"/>
              <a:buFont typeface="Asap"/>
              <a:buNone/>
              <a:defRPr sz="3100" b="1" i="0" u="none" strike="noStrike" cap="none">
                <a:solidFill>
                  <a:schemeClr val="dk1"/>
                </a:solidFill>
                <a:latin typeface="Asap"/>
                <a:ea typeface="Asap"/>
                <a:cs typeface="Asap"/>
                <a:sym typeface="Asap"/>
              </a:defRPr>
            </a:lvl1pPr>
            <a:lvl2pPr marR="0" lvl="1" algn="l" rtl="0">
              <a:lnSpc>
                <a:spcPct val="100000"/>
              </a:lnSpc>
              <a:spcBef>
                <a:spcPts val="0"/>
              </a:spcBef>
              <a:spcAft>
                <a:spcPts val="0"/>
              </a:spcAft>
              <a:buClr>
                <a:schemeClr val="dk1"/>
              </a:buClr>
              <a:buSzPts val="3100"/>
              <a:buFont typeface="Asap"/>
              <a:buNone/>
              <a:defRPr sz="3100" b="1" i="0" u="none" strike="noStrike" cap="none">
                <a:solidFill>
                  <a:schemeClr val="dk1"/>
                </a:solidFill>
                <a:latin typeface="Asap"/>
                <a:ea typeface="Asap"/>
                <a:cs typeface="Asap"/>
                <a:sym typeface="Asap"/>
              </a:defRPr>
            </a:lvl2pPr>
            <a:lvl3pPr marR="0" lvl="2" algn="l" rtl="0">
              <a:lnSpc>
                <a:spcPct val="100000"/>
              </a:lnSpc>
              <a:spcBef>
                <a:spcPts val="0"/>
              </a:spcBef>
              <a:spcAft>
                <a:spcPts val="0"/>
              </a:spcAft>
              <a:buClr>
                <a:schemeClr val="dk1"/>
              </a:buClr>
              <a:buSzPts val="3100"/>
              <a:buFont typeface="Asap"/>
              <a:buNone/>
              <a:defRPr sz="3100" b="1" i="0" u="none" strike="noStrike" cap="none">
                <a:solidFill>
                  <a:schemeClr val="dk1"/>
                </a:solidFill>
                <a:latin typeface="Asap"/>
                <a:ea typeface="Asap"/>
                <a:cs typeface="Asap"/>
                <a:sym typeface="Asap"/>
              </a:defRPr>
            </a:lvl3pPr>
            <a:lvl4pPr marR="0" lvl="3" algn="l" rtl="0">
              <a:lnSpc>
                <a:spcPct val="100000"/>
              </a:lnSpc>
              <a:spcBef>
                <a:spcPts val="0"/>
              </a:spcBef>
              <a:spcAft>
                <a:spcPts val="0"/>
              </a:spcAft>
              <a:buClr>
                <a:schemeClr val="dk1"/>
              </a:buClr>
              <a:buSzPts val="3100"/>
              <a:buFont typeface="Asap"/>
              <a:buNone/>
              <a:defRPr sz="3100" b="1" i="0" u="none" strike="noStrike" cap="none">
                <a:solidFill>
                  <a:schemeClr val="dk1"/>
                </a:solidFill>
                <a:latin typeface="Asap"/>
                <a:ea typeface="Asap"/>
                <a:cs typeface="Asap"/>
                <a:sym typeface="Asap"/>
              </a:defRPr>
            </a:lvl4pPr>
            <a:lvl5pPr marR="0" lvl="4" algn="l" rtl="0">
              <a:lnSpc>
                <a:spcPct val="100000"/>
              </a:lnSpc>
              <a:spcBef>
                <a:spcPts val="0"/>
              </a:spcBef>
              <a:spcAft>
                <a:spcPts val="0"/>
              </a:spcAft>
              <a:buClr>
                <a:schemeClr val="dk1"/>
              </a:buClr>
              <a:buSzPts val="3100"/>
              <a:buFont typeface="Asap"/>
              <a:buNone/>
              <a:defRPr sz="3100" b="1" i="0" u="none" strike="noStrike" cap="none">
                <a:solidFill>
                  <a:schemeClr val="dk1"/>
                </a:solidFill>
                <a:latin typeface="Asap"/>
                <a:ea typeface="Asap"/>
                <a:cs typeface="Asap"/>
                <a:sym typeface="Asap"/>
              </a:defRPr>
            </a:lvl5pPr>
            <a:lvl6pPr marR="0" lvl="5" algn="l" rtl="0">
              <a:lnSpc>
                <a:spcPct val="100000"/>
              </a:lnSpc>
              <a:spcBef>
                <a:spcPts val="0"/>
              </a:spcBef>
              <a:spcAft>
                <a:spcPts val="0"/>
              </a:spcAft>
              <a:buClr>
                <a:schemeClr val="dk1"/>
              </a:buClr>
              <a:buSzPts val="3100"/>
              <a:buFont typeface="Asap"/>
              <a:buNone/>
              <a:defRPr sz="3100" b="1" i="0" u="none" strike="noStrike" cap="none">
                <a:solidFill>
                  <a:schemeClr val="dk1"/>
                </a:solidFill>
                <a:latin typeface="Asap"/>
                <a:ea typeface="Asap"/>
                <a:cs typeface="Asap"/>
                <a:sym typeface="Asap"/>
              </a:defRPr>
            </a:lvl6pPr>
            <a:lvl7pPr marR="0" lvl="6" algn="l" rtl="0">
              <a:lnSpc>
                <a:spcPct val="100000"/>
              </a:lnSpc>
              <a:spcBef>
                <a:spcPts val="0"/>
              </a:spcBef>
              <a:spcAft>
                <a:spcPts val="0"/>
              </a:spcAft>
              <a:buClr>
                <a:schemeClr val="dk1"/>
              </a:buClr>
              <a:buSzPts val="3100"/>
              <a:buFont typeface="Asap"/>
              <a:buNone/>
              <a:defRPr sz="3100" b="1" i="0" u="none" strike="noStrike" cap="none">
                <a:solidFill>
                  <a:schemeClr val="dk1"/>
                </a:solidFill>
                <a:latin typeface="Asap"/>
                <a:ea typeface="Asap"/>
                <a:cs typeface="Asap"/>
                <a:sym typeface="Asap"/>
              </a:defRPr>
            </a:lvl7pPr>
            <a:lvl8pPr marR="0" lvl="7" algn="l" rtl="0">
              <a:lnSpc>
                <a:spcPct val="100000"/>
              </a:lnSpc>
              <a:spcBef>
                <a:spcPts val="0"/>
              </a:spcBef>
              <a:spcAft>
                <a:spcPts val="0"/>
              </a:spcAft>
              <a:buClr>
                <a:schemeClr val="dk1"/>
              </a:buClr>
              <a:buSzPts val="3100"/>
              <a:buFont typeface="Asap"/>
              <a:buNone/>
              <a:defRPr sz="3100" b="1" i="0" u="none" strike="noStrike" cap="none">
                <a:solidFill>
                  <a:schemeClr val="dk1"/>
                </a:solidFill>
                <a:latin typeface="Asap"/>
                <a:ea typeface="Asap"/>
                <a:cs typeface="Asap"/>
                <a:sym typeface="Asap"/>
              </a:defRPr>
            </a:lvl8pPr>
            <a:lvl9pPr marR="0" lvl="8" algn="l" rtl="0">
              <a:lnSpc>
                <a:spcPct val="100000"/>
              </a:lnSpc>
              <a:spcBef>
                <a:spcPts val="0"/>
              </a:spcBef>
              <a:spcAft>
                <a:spcPts val="0"/>
              </a:spcAft>
              <a:buClr>
                <a:schemeClr val="dk1"/>
              </a:buClr>
              <a:buSzPts val="3100"/>
              <a:buFont typeface="Asap"/>
              <a:buNone/>
              <a:defRPr sz="3100" b="1" i="0" u="none" strike="noStrike" cap="none">
                <a:solidFill>
                  <a:schemeClr val="dk1"/>
                </a:solidFill>
                <a:latin typeface="Asap"/>
                <a:ea typeface="Asap"/>
                <a:cs typeface="Asap"/>
                <a:sym typeface="Asap"/>
              </a:defRPr>
            </a:lvl9pPr>
          </a:lstStyle>
          <a:p>
            <a:pPr marL="0" lvl="0" indent="0" algn="ctr" rtl="0">
              <a:spcBef>
                <a:spcPts val="0"/>
              </a:spcBef>
              <a:spcAft>
                <a:spcPts val="0"/>
              </a:spcAft>
              <a:buNone/>
            </a:pPr>
            <a:r>
              <a:rPr lang="az-Latn-AZ" sz="3200" dirty="0"/>
              <a:t>İkiməhçullu Xətti Tənliklər Sisteminin Kramer Qaydası </a:t>
            </a:r>
            <a:r>
              <a:rPr lang="az-Latn-AZ" sz="3200" dirty="0"/>
              <a:t>i</a:t>
            </a:r>
            <a:r>
              <a:rPr lang="az-Latn-AZ" sz="3200" dirty="0" smtClean="0"/>
              <a:t>lə </a:t>
            </a:r>
            <a:r>
              <a:rPr lang="az-Latn-AZ" sz="3200" dirty="0"/>
              <a:t>Həlli </a:t>
            </a:r>
          </a:p>
        </p:txBody>
      </p:sp>
      <p:pic>
        <p:nvPicPr>
          <p:cNvPr id="3" name="Picture 2">
            <a:extLst>
              <a:ext uri="{FF2B5EF4-FFF2-40B4-BE49-F238E27FC236}">
                <a16:creationId xmlns:a16="http://schemas.microsoft.com/office/drawing/2014/main" id="{E88CD8C0-8F4B-7736-C590-C613A34AFB8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709624"/>
            <a:ext cx="4020293" cy="173026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1CE7F1F0-2052-6B51-F94D-406DCB3B013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35067" y="1832995"/>
            <a:ext cx="2769875" cy="148351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1FD360D6-0348-6C89-EE68-8E134263ECB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63046" y="1803113"/>
            <a:ext cx="3587504" cy="124067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999E5552-EACA-1C3A-14EE-37DF6B81BE2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58462" y="4154467"/>
            <a:ext cx="3348841" cy="170930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EA0292EB-AD92-F22D-B5DD-77B75B41315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174419" y="4288347"/>
            <a:ext cx="2780119" cy="14415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40767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782;p44"/>
          <p:cNvSpPr txBox="1">
            <a:spLocks noGrp="1"/>
          </p:cNvSpPr>
          <p:nvPr/>
        </p:nvSpPr>
        <p:spPr>
          <a:xfrm>
            <a:off x="937439" y="154529"/>
            <a:ext cx="9744800" cy="126969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100"/>
              <a:buFont typeface="Asap"/>
              <a:buNone/>
              <a:defRPr sz="3100" b="1" i="0" u="none" strike="noStrike" cap="none">
                <a:solidFill>
                  <a:schemeClr val="dk1"/>
                </a:solidFill>
                <a:latin typeface="Asap"/>
                <a:ea typeface="Asap"/>
                <a:cs typeface="Asap"/>
                <a:sym typeface="Asap"/>
              </a:defRPr>
            </a:lvl1pPr>
            <a:lvl2pPr marR="0" lvl="1" algn="l" rtl="0">
              <a:lnSpc>
                <a:spcPct val="100000"/>
              </a:lnSpc>
              <a:spcBef>
                <a:spcPts val="0"/>
              </a:spcBef>
              <a:spcAft>
                <a:spcPts val="0"/>
              </a:spcAft>
              <a:buClr>
                <a:schemeClr val="dk1"/>
              </a:buClr>
              <a:buSzPts val="3100"/>
              <a:buFont typeface="Asap"/>
              <a:buNone/>
              <a:defRPr sz="3100" b="1" i="0" u="none" strike="noStrike" cap="none">
                <a:solidFill>
                  <a:schemeClr val="dk1"/>
                </a:solidFill>
                <a:latin typeface="Asap"/>
                <a:ea typeface="Asap"/>
                <a:cs typeface="Asap"/>
                <a:sym typeface="Asap"/>
              </a:defRPr>
            </a:lvl2pPr>
            <a:lvl3pPr marR="0" lvl="2" algn="l" rtl="0">
              <a:lnSpc>
                <a:spcPct val="100000"/>
              </a:lnSpc>
              <a:spcBef>
                <a:spcPts val="0"/>
              </a:spcBef>
              <a:spcAft>
                <a:spcPts val="0"/>
              </a:spcAft>
              <a:buClr>
                <a:schemeClr val="dk1"/>
              </a:buClr>
              <a:buSzPts val="3100"/>
              <a:buFont typeface="Asap"/>
              <a:buNone/>
              <a:defRPr sz="3100" b="1" i="0" u="none" strike="noStrike" cap="none">
                <a:solidFill>
                  <a:schemeClr val="dk1"/>
                </a:solidFill>
                <a:latin typeface="Asap"/>
                <a:ea typeface="Asap"/>
                <a:cs typeface="Asap"/>
                <a:sym typeface="Asap"/>
              </a:defRPr>
            </a:lvl3pPr>
            <a:lvl4pPr marR="0" lvl="3" algn="l" rtl="0">
              <a:lnSpc>
                <a:spcPct val="100000"/>
              </a:lnSpc>
              <a:spcBef>
                <a:spcPts val="0"/>
              </a:spcBef>
              <a:spcAft>
                <a:spcPts val="0"/>
              </a:spcAft>
              <a:buClr>
                <a:schemeClr val="dk1"/>
              </a:buClr>
              <a:buSzPts val="3100"/>
              <a:buFont typeface="Asap"/>
              <a:buNone/>
              <a:defRPr sz="3100" b="1" i="0" u="none" strike="noStrike" cap="none">
                <a:solidFill>
                  <a:schemeClr val="dk1"/>
                </a:solidFill>
                <a:latin typeface="Asap"/>
                <a:ea typeface="Asap"/>
                <a:cs typeface="Asap"/>
                <a:sym typeface="Asap"/>
              </a:defRPr>
            </a:lvl4pPr>
            <a:lvl5pPr marR="0" lvl="4" algn="l" rtl="0">
              <a:lnSpc>
                <a:spcPct val="100000"/>
              </a:lnSpc>
              <a:spcBef>
                <a:spcPts val="0"/>
              </a:spcBef>
              <a:spcAft>
                <a:spcPts val="0"/>
              </a:spcAft>
              <a:buClr>
                <a:schemeClr val="dk1"/>
              </a:buClr>
              <a:buSzPts val="3100"/>
              <a:buFont typeface="Asap"/>
              <a:buNone/>
              <a:defRPr sz="3100" b="1" i="0" u="none" strike="noStrike" cap="none">
                <a:solidFill>
                  <a:schemeClr val="dk1"/>
                </a:solidFill>
                <a:latin typeface="Asap"/>
                <a:ea typeface="Asap"/>
                <a:cs typeface="Asap"/>
                <a:sym typeface="Asap"/>
              </a:defRPr>
            </a:lvl5pPr>
            <a:lvl6pPr marR="0" lvl="5" algn="l" rtl="0">
              <a:lnSpc>
                <a:spcPct val="100000"/>
              </a:lnSpc>
              <a:spcBef>
                <a:spcPts val="0"/>
              </a:spcBef>
              <a:spcAft>
                <a:spcPts val="0"/>
              </a:spcAft>
              <a:buClr>
                <a:schemeClr val="dk1"/>
              </a:buClr>
              <a:buSzPts val="3100"/>
              <a:buFont typeface="Asap"/>
              <a:buNone/>
              <a:defRPr sz="3100" b="1" i="0" u="none" strike="noStrike" cap="none">
                <a:solidFill>
                  <a:schemeClr val="dk1"/>
                </a:solidFill>
                <a:latin typeface="Asap"/>
                <a:ea typeface="Asap"/>
                <a:cs typeface="Asap"/>
                <a:sym typeface="Asap"/>
              </a:defRPr>
            </a:lvl6pPr>
            <a:lvl7pPr marR="0" lvl="6" algn="l" rtl="0">
              <a:lnSpc>
                <a:spcPct val="100000"/>
              </a:lnSpc>
              <a:spcBef>
                <a:spcPts val="0"/>
              </a:spcBef>
              <a:spcAft>
                <a:spcPts val="0"/>
              </a:spcAft>
              <a:buClr>
                <a:schemeClr val="dk1"/>
              </a:buClr>
              <a:buSzPts val="3100"/>
              <a:buFont typeface="Asap"/>
              <a:buNone/>
              <a:defRPr sz="3100" b="1" i="0" u="none" strike="noStrike" cap="none">
                <a:solidFill>
                  <a:schemeClr val="dk1"/>
                </a:solidFill>
                <a:latin typeface="Asap"/>
                <a:ea typeface="Asap"/>
                <a:cs typeface="Asap"/>
                <a:sym typeface="Asap"/>
              </a:defRPr>
            </a:lvl7pPr>
            <a:lvl8pPr marR="0" lvl="7" algn="l" rtl="0">
              <a:lnSpc>
                <a:spcPct val="100000"/>
              </a:lnSpc>
              <a:spcBef>
                <a:spcPts val="0"/>
              </a:spcBef>
              <a:spcAft>
                <a:spcPts val="0"/>
              </a:spcAft>
              <a:buClr>
                <a:schemeClr val="dk1"/>
              </a:buClr>
              <a:buSzPts val="3100"/>
              <a:buFont typeface="Asap"/>
              <a:buNone/>
              <a:defRPr sz="3100" b="1" i="0" u="none" strike="noStrike" cap="none">
                <a:solidFill>
                  <a:schemeClr val="dk1"/>
                </a:solidFill>
                <a:latin typeface="Asap"/>
                <a:ea typeface="Asap"/>
                <a:cs typeface="Asap"/>
                <a:sym typeface="Asap"/>
              </a:defRPr>
            </a:lvl8pPr>
            <a:lvl9pPr marR="0" lvl="8" algn="l" rtl="0">
              <a:lnSpc>
                <a:spcPct val="100000"/>
              </a:lnSpc>
              <a:spcBef>
                <a:spcPts val="0"/>
              </a:spcBef>
              <a:spcAft>
                <a:spcPts val="0"/>
              </a:spcAft>
              <a:buClr>
                <a:schemeClr val="dk1"/>
              </a:buClr>
              <a:buSzPts val="3100"/>
              <a:buFont typeface="Asap"/>
              <a:buNone/>
              <a:defRPr sz="3100" b="1" i="0" u="none" strike="noStrike" cap="none">
                <a:solidFill>
                  <a:schemeClr val="dk1"/>
                </a:solidFill>
                <a:latin typeface="Asap"/>
                <a:ea typeface="Asap"/>
                <a:cs typeface="Asap"/>
                <a:sym typeface="Asap"/>
              </a:defRPr>
            </a:lvl9pPr>
          </a:lstStyle>
          <a:p>
            <a:pPr marL="0" lvl="0" indent="0" algn="ctr" rtl="0">
              <a:spcBef>
                <a:spcPts val="0"/>
              </a:spcBef>
              <a:spcAft>
                <a:spcPts val="0"/>
              </a:spcAft>
              <a:buNone/>
            </a:pPr>
            <a:r>
              <a:rPr lang="az-Latn-AZ" sz="3200" dirty="0"/>
              <a:t>Üçməchullu Xətti Tənliklər Sisteminin Kramer Qaydası Ilə Həlli </a:t>
            </a:r>
          </a:p>
        </p:txBody>
      </p:sp>
      <p:pic>
        <p:nvPicPr>
          <p:cNvPr id="3" name="Picture 2" descr="A black background with red letters&#10;&#10;Description automatically generated">
            <a:extLst>
              <a:ext uri="{FF2B5EF4-FFF2-40B4-BE49-F238E27FC236}">
                <a16:creationId xmlns:a16="http://schemas.microsoft.com/office/drawing/2014/main" id="{7A739735-39EA-8CC0-0DF2-C66A668779DD}"/>
              </a:ext>
            </a:extLst>
          </p:cNvPr>
          <p:cNvPicPr>
            <a:picLocks noChangeAspect="1"/>
          </p:cNvPicPr>
          <p:nvPr/>
        </p:nvPicPr>
        <p:blipFill>
          <a:blip r:embed="rId2"/>
          <a:stretch>
            <a:fillRect/>
          </a:stretch>
        </p:blipFill>
        <p:spPr>
          <a:xfrm>
            <a:off x="136258" y="1651496"/>
            <a:ext cx="3702580" cy="1367475"/>
          </a:xfrm>
          <a:prstGeom prst="rect">
            <a:avLst/>
          </a:prstGeom>
        </p:spPr>
      </p:pic>
      <p:pic>
        <p:nvPicPr>
          <p:cNvPr id="4" name="Picture 3" descr="A number on a black background&#10;&#10;Description automatically generated">
            <a:extLst>
              <a:ext uri="{FF2B5EF4-FFF2-40B4-BE49-F238E27FC236}">
                <a16:creationId xmlns:a16="http://schemas.microsoft.com/office/drawing/2014/main" id="{330CAC78-C3BC-1C4A-1E75-D71CF56FF781}"/>
              </a:ext>
            </a:extLst>
          </p:cNvPr>
          <p:cNvPicPr>
            <a:picLocks noChangeAspect="1"/>
          </p:cNvPicPr>
          <p:nvPr/>
        </p:nvPicPr>
        <p:blipFill>
          <a:blip r:embed="rId3"/>
          <a:stretch>
            <a:fillRect/>
          </a:stretch>
        </p:blipFill>
        <p:spPr>
          <a:xfrm>
            <a:off x="4602021" y="1811153"/>
            <a:ext cx="2415636" cy="1207818"/>
          </a:xfrm>
          <a:prstGeom prst="rect">
            <a:avLst/>
          </a:prstGeom>
        </p:spPr>
      </p:pic>
      <p:pic>
        <p:nvPicPr>
          <p:cNvPr id="5" name="Picture 4" descr="A black background with triangles and numbers&#10;&#10;Description automatically generated">
            <a:extLst>
              <a:ext uri="{FF2B5EF4-FFF2-40B4-BE49-F238E27FC236}">
                <a16:creationId xmlns:a16="http://schemas.microsoft.com/office/drawing/2014/main" id="{D88D2F76-0D76-6B91-44CA-3AEE5A5F7779}"/>
              </a:ext>
            </a:extLst>
          </p:cNvPr>
          <p:cNvPicPr>
            <a:picLocks noChangeAspect="1"/>
          </p:cNvPicPr>
          <p:nvPr/>
        </p:nvPicPr>
        <p:blipFill>
          <a:blip r:embed="rId4"/>
          <a:stretch>
            <a:fillRect/>
          </a:stretch>
        </p:blipFill>
        <p:spPr>
          <a:xfrm>
            <a:off x="7383988" y="1939267"/>
            <a:ext cx="4349119" cy="951590"/>
          </a:xfrm>
          <a:prstGeom prst="rect">
            <a:avLst/>
          </a:prstGeom>
        </p:spPr>
      </p:pic>
      <p:pic>
        <p:nvPicPr>
          <p:cNvPr id="6" name="Picture 5" descr="A black background with numbers and symbols&#10;&#10;Description automatically generated">
            <a:extLst>
              <a:ext uri="{FF2B5EF4-FFF2-40B4-BE49-F238E27FC236}">
                <a16:creationId xmlns:a16="http://schemas.microsoft.com/office/drawing/2014/main" id="{A5F94839-926B-CE2F-D458-92670DC169D3}"/>
              </a:ext>
            </a:extLst>
          </p:cNvPr>
          <p:cNvPicPr>
            <a:picLocks noChangeAspect="1"/>
          </p:cNvPicPr>
          <p:nvPr/>
        </p:nvPicPr>
        <p:blipFill>
          <a:blip r:embed="rId5"/>
          <a:stretch>
            <a:fillRect/>
          </a:stretch>
        </p:blipFill>
        <p:spPr>
          <a:xfrm>
            <a:off x="607305" y="3881091"/>
            <a:ext cx="3050493" cy="1837537"/>
          </a:xfrm>
          <a:prstGeom prst="rect">
            <a:avLst/>
          </a:prstGeom>
        </p:spPr>
      </p:pic>
      <p:pic>
        <p:nvPicPr>
          <p:cNvPr id="7" name="Picture 6" descr="A black background with numbers and symbols&#10;&#10;Description automatically generated">
            <a:extLst>
              <a:ext uri="{FF2B5EF4-FFF2-40B4-BE49-F238E27FC236}">
                <a16:creationId xmlns:a16="http://schemas.microsoft.com/office/drawing/2014/main" id="{413D111D-10A9-DDD3-C8B2-1E19A782E650}"/>
              </a:ext>
            </a:extLst>
          </p:cNvPr>
          <p:cNvPicPr>
            <a:picLocks noChangeAspect="1"/>
          </p:cNvPicPr>
          <p:nvPr/>
        </p:nvPicPr>
        <p:blipFill>
          <a:blip r:embed="rId6"/>
          <a:stretch>
            <a:fillRect/>
          </a:stretch>
        </p:blipFill>
        <p:spPr>
          <a:xfrm>
            <a:off x="4264905" y="4004740"/>
            <a:ext cx="2642485" cy="1590238"/>
          </a:xfrm>
          <a:prstGeom prst="rect">
            <a:avLst/>
          </a:prstGeom>
        </p:spPr>
      </p:pic>
      <p:pic>
        <p:nvPicPr>
          <p:cNvPr id="8" name="Picture 7" descr="A black background with numbers and symbols&#10;&#10;Description automatically generated">
            <a:extLst>
              <a:ext uri="{FF2B5EF4-FFF2-40B4-BE49-F238E27FC236}">
                <a16:creationId xmlns:a16="http://schemas.microsoft.com/office/drawing/2014/main" id="{30A2BC91-CCA4-0557-CFE0-6F952E8C677E}"/>
              </a:ext>
            </a:extLst>
          </p:cNvPr>
          <p:cNvPicPr>
            <a:picLocks noChangeAspect="1"/>
          </p:cNvPicPr>
          <p:nvPr/>
        </p:nvPicPr>
        <p:blipFill>
          <a:blip r:embed="rId7"/>
          <a:stretch>
            <a:fillRect/>
          </a:stretch>
        </p:blipFill>
        <p:spPr>
          <a:xfrm>
            <a:off x="8205336" y="4013607"/>
            <a:ext cx="2706422" cy="1614071"/>
          </a:xfrm>
          <a:prstGeom prst="rect">
            <a:avLst/>
          </a:prstGeom>
        </p:spPr>
      </p:pic>
    </p:spTree>
    <p:extLst>
      <p:ext uri="{BB962C8B-B14F-4D97-AF65-F5344CB8AC3E}">
        <p14:creationId xmlns:p14="http://schemas.microsoft.com/office/powerpoint/2010/main" val="41326736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800;p45"/>
          <p:cNvSpPr txBox="1">
            <a:spLocks noGrp="1"/>
          </p:cNvSpPr>
          <p:nvPr/>
        </p:nvSpPr>
        <p:spPr>
          <a:xfrm>
            <a:off x="1692456" y="105388"/>
            <a:ext cx="7843429" cy="90683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100"/>
              <a:buFont typeface="Asap"/>
              <a:buNone/>
              <a:defRPr sz="3100" b="1" i="0" u="none" strike="noStrike" cap="none">
                <a:solidFill>
                  <a:schemeClr val="dk1"/>
                </a:solidFill>
                <a:latin typeface="Asap"/>
                <a:ea typeface="Asap"/>
                <a:cs typeface="Asap"/>
                <a:sym typeface="Asap"/>
              </a:defRPr>
            </a:lvl1pPr>
            <a:lvl2pPr marR="0" lvl="1" algn="l" rtl="0">
              <a:lnSpc>
                <a:spcPct val="100000"/>
              </a:lnSpc>
              <a:spcBef>
                <a:spcPts val="0"/>
              </a:spcBef>
              <a:spcAft>
                <a:spcPts val="0"/>
              </a:spcAft>
              <a:buClr>
                <a:schemeClr val="dk1"/>
              </a:buClr>
              <a:buSzPts val="3100"/>
              <a:buFont typeface="Asap"/>
              <a:buNone/>
              <a:defRPr sz="3100" b="1" i="0" u="none" strike="noStrike" cap="none">
                <a:solidFill>
                  <a:schemeClr val="dk1"/>
                </a:solidFill>
                <a:latin typeface="Asap"/>
                <a:ea typeface="Asap"/>
                <a:cs typeface="Asap"/>
                <a:sym typeface="Asap"/>
              </a:defRPr>
            </a:lvl2pPr>
            <a:lvl3pPr marR="0" lvl="2" algn="l" rtl="0">
              <a:lnSpc>
                <a:spcPct val="100000"/>
              </a:lnSpc>
              <a:spcBef>
                <a:spcPts val="0"/>
              </a:spcBef>
              <a:spcAft>
                <a:spcPts val="0"/>
              </a:spcAft>
              <a:buClr>
                <a:schemeClr val="dk1"/>
              </a:buClr>
              <a:buSzPts val="3100"/>
              <a:buFont typeface="Asap"/>
              <a:buNone/>
              <a:defRPr sz="3100" b="1" i="0" u="none" strike="noStrike" cap="none">
                <a:solidFill>
                  <a:schemeClr val="dk1"/>
                </a:solidFill>
                <a:latin typeface="Asap"/>
                <a:ea typeface="Asap"/>
                <a:cs typeface="Asap"/>
                <a:sym typeface="Asap"/>
              </a:defRPr>
            </a:lvl3pPr>
            <a:lvl4pPr marR="0" lvl="3" algn="l" rtl="0">
              <a:lnSpc>
                <a:spcPct val="100000"/>
              </a:lnSpc>
              <a:spcBef>
                <a:spcPts val="0"/>
              </a:spcBef>
              <a:spcAft>
                <a:spcPts val="0"/>
              </a:spcAft>
              <a:buClr>
                <a:schemeClr val="dk1"/>
              </a:buClr>
              <a:buSzPts val="3100"/>
              <a:buFont typeface="Asap"/>
              <a:buNone/>
              <a:defRPr sz="3100" b="1" i="0" u="none" strike="noStrike" cap="none">
                <a:solidFill>
                  <a:schemeClr val="dk1"/>
                </a:solidFill>
                <a:latin typeface="Asap"/>
                <a:ea typeface="Asap"/>
                <a:cs typeface="Asap"/>
                <a:sym typeface="Asap"/>
              </a:defRPr>
            </a:lvl4pPr>
            <a:lvl5pPr marR="0" lvl="4" algn="l" rtl="0">
              <a:lnSpc>
                <a:spcPct val="100000"/>
              </a:lnSpc>
              <a:spcBef>
                <a:spcPts val="0"/>
              </a:spcBef>
              <a:spcAft>
                <a:spcPts val="0"/>
              </a:spcAft>
              <a:buClr>
                <a:schemeClr val="dk1"/>
              </a:buClr>
              <a:buSzPts val="3100"/>
              <a:buFont typeface="Asap"/>
              <a:buNone/>
              <a:defRPr sz="3100" b="1" i="0" u="none" strike="noStrike" cap="none">
                <a:solidFill>
                  <a:schemeClr val="dk1"/>
                </a:solidFill>
                <a:latin typeface="Asap"/>
                <a:ea typeface="Asap"/>
                <a:cs typeface="Asap"/>
                <a:sym typeface="Asap"/>
              </a:defRPr>
            </a:lvl5pPr>
            <a:lvl6pPr marR="0" lvl="5" algn="l" rtl="0">
              <a:lnSpc>
                <a:spcPct val="100000"/>
              </a:lnSpc>
              <a:spcBef>
                <a:spcPts val="0"/>
              </a:spcBef>
              <a:spcAft>
                <a:spcPts val="0"/>
              </a:spcAft>
              <a:buClr>
                <a:schemeClr val="dk1"/>
              </a:buClr>
              <a:buSzPts val="3100"/>
              <a:buFont typeface="Asap"/>
              <a:buNone/>
              <a:defRPr sz="3100" b="1" i="0" u="none" strike="noStrike" cap="none">
                <a:solidFill>
                  <a:schemeClr val="dk1"/>
                </a:solidFill>
                <a:latin typeface="Asap"/>
                <a:ea typeface="Asap"/>
                <a:cs typeface="Asap"/>
                <a:sym typeface="Asap"/>
              </a:defRPr>
            </a:lvl6pPr>
            <a:lvl7pPr marR="0" lvl="6" algn="l" rtl="0">
              <a:lnSpc>
                <a:spcPct val="100000"/>
              </a:lnSpc>
              <a:spcBef>
                <a:spcPts val="0"/>
              </a:spcBef>
              <a:spcAft>
                <a:spcPts val="0"/>
              </a:spcAft>
              <a:buClr>
                <a:schemeClr val="dk1"/>
              </a:buClr>
              <a:buSzPts val="3100"/>
              <a:buFont typeface="Asap"/>
              <a:buNone/>
              <a:defRPr sz="3100" b="1" i="0" u="none" strike="noStrike" cap="none">
                <a:solidFill>
                  <a:schemeClr val="dk1"/>
                </a:solidFill>
                <a:latin typeface="Asap"/>
                <a:ea typeface="Asap"/>
                <a:cs typeface="Asap"/>
                <a:sym typeface="Asap"/>
              </a:defRPr>
            </a:lvl7pPr>
            <a:lvl8pPr marR="0" lvl="7" algn="l" rtl="0">
              <a:lnSpc>
                <a:spcPct val="100000"/>
              </a:lnSpc>
              <a:spcBef>
                <a:spcPts val="0"/>
              </a:spcBef>
              <a:spcAft>
                <a:spcPts val="0"/>
              </a:spcAft>
              <a:buClr>
                <a:schemeClr val="dk1"/>
              </a:buClr>
              <a:buSzPts val="3100"/>
              <a:buFont typeface="Asap"/>
              <a:buNone/>
              <a:defRPr sz="3100" b="1" i="0" u="none" strike="noStrike" cap="none">
                <a:solidFill>
                  <a:schemeClr val="dk1"/>
                </a:solidFill>
                <a:latin typeface="Asap"/>
                <a:ea typeface="Asap"/>
                <a:cs typeface="Asap"/>
                <a:sym typeface="Asap"/>
              </a:defRPr>
            </a:lvl8pPr>
            <a:lvl9pPr marR="0" lvl="8" algn="l" rtl="0">
              <a:lnSpc>
                <a:spcPct val="100000"/>
              </a:lnSpc>
              <a:spcBef>
                <a:spcPts val="0"/>
              </a:spcBef>
              <a:spcAft>
                <a:spcPts val="0"/>
              </a:spcAft>
              <a:buClr>
                <a:schemeClr val="dk1"/>
              </a:buClr>
              <a:buSzPts val="3100"/>
              <a:buFont typeface="Asap"/>
              <a:buNone/>
              <a:defRPr sz="3100" b="1" i="0" u="none" strike="noStrike" cap="none">
                <a:solidFill>
                  <a:schemeClr val="dk1"/>
                </a:solidFill>
                <a:latin typeface="Asap"/>
                <a:ea typeface="Asap"/>
                <a:cs typeface="Asap"/>
                <a:sym typeface="Asap"/>
              </a:defRPr>
            </a:lvl9pPr>
          </a:lstStyle>
          <a:p>
            <a:pPr marL="0" lvl="0" indent="0" algn="ctr" rtl="0">
              <a:spcBef>
                <a:spcPts val="0"/>
              </a:spcBef>
              <a:spcAft>
                <a:spcPts val="0"/>
              </a:spcAft>
              <a:buNone/>
            </a:pPr>
            <a:r>
              <a:rPr lang="en" sz="4000" dirty="0"/>
              <a:t>Kramer Qaydas</a:t>
            </a:r>
            <a:r>
              <a:rPr lang="az-Latn-AZ" sz="4000" dirty="0"/>
              <a:t>ına Aid </a:t>
            </a:r>
            <a:r>
              <a:rPr lang="az-Latn-AZ" sz="4000" dirty="0" smtClean="0"/>
              <a:t>Sual</a:t>
            </a:r>
            <a:endParaRPr sz="4000" dirty="0"/>
          </a:p>
        </p:txBody>
      </p:sp>
      <mc:AlternateContent xmlns:mc="http://schemas.openxmlformats.org/markup-compatibility/2006">
        <mc:Choice xmlns:a14="http://schemas.microsoft.com/office/drawing/2010/main" Requires="a14">
          <p:sp>
            <p:nvSpPr>
              <p:cNvPr id="5" name="Rectangle 4"/>
              <p:cNvSpPr/>
              <p:nvPr/>
            </p:nvSpPr>
            <p:spPr>
              <a:xfrm>
                <a:off x="331519" y="1448303"/>
                <a:ext cx="2063338" cy="916148"/>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d>
                        <m:dPr>
                          <m:begChr m:val="{"/>
                          <m:endChr m:val=""/>
                          <m:ctrlPr>
                            <a:rPr lang="en-US" sz="2400" b="1" i="1">
                              <a:latin typeface="Cambria Math" panose="02040503050406030204" pitchFamily="18" charset="0"/>
                            </a:rPr>
                          </m:ctrlPr>
                        </m:dPr>
                        <m:e>
                          <m:eqArr>
                            <m:eqArrPr>
                              <m:ctrlPr>
                                <a:rPr lang="en-US" sz="2400" b="1" i="1">
                                  <a:latin typeface="Cambria Math" panose="02040503050406030204" pitchFamily="18" charset="0"/>
                                </a:rPr>
                              </m:ctrlPr>
                            </m:eqArrPr>
                            <m:e>
                              <m:r>
                                <a:rPr lang="en-US" sz="2400" b="1" i="1">
                                  <a:latin typeface="Cambria Math" panose="02040503050406030204" pitchFamily="18" charset="0"/>
                                </a:rPr>
                                <m:t>𝟐</m:t>
                              </m:r>
                              <m:r>
                                <a:rPr lang="en-US" sz="2400" b="1" i="1">
                                  <a:latin typeface="Cambria Math" panose="02040503050406030204" pitchFamily="18" charset="0"/>
                                </a:rPr>
                                <m:t>𝒙</m:t>
                              </m:r>
                              <m:r>
                                <a:rPr lang="en-US" sz="2400" b="1" i="1">
                                  <a:latin typeface="Cambria Math" panose="02040503050406030204" pitchFamily="18" charset="0"/>
                                </a:rPr>
                                <m:t>+</m:t>
                              </m:r>
                              <m:r>
                                <a:rPr lang="en-US" sz="2400" b="1" i="1">
                                  <a:latin typeface="Cambria Math" panose="02040503050406030204" pitchFamily="18" charset="0"/>
                                </a:rPr>
                                <m:t>𝟑</m:t>
                              </m:r>
                              <m:r>
                                <a:rPr lang="en-US" sz="2400" b="1" i="1">
                                  <a:latin typeface="Cambria Math" panose="02040503050406030204" pitchFamily="18" charset="0"/>
                                </a:rPr>
                                <m:t>𝒛</m:t>
                              </m:r>
                              <m:r>
                                <a:rPr lang="en-US" sz="2400" b="1" i="1">
                                  <a:latin typeface="Cambria Math" panose="02040503050406030204" pitchFamily="18" charset="0"/>
                                </a:rPr>
                                <m:t>=</m:t>
                              </m:r>
                              <m:r>
                                <a:rPr lang="en-US" sz="2400" b="1" i="1">
                                  <a:latin typeface="Cambria Math" panose="02040503050406030204" pitchFamily="18" charset="0"/>
                                </a:rPr>
                                <m:t>𝟔</m:t>
                              </m:r>
                            </m:e>
                            <m:e>
                              <m:r>
                                <a:rPr lang="en-US" sz="2400" b="1" i="1">
                                  <a:latin typeface="Cambria Math" panose="02040503050406030204" pitchFamily="18" charset="0"/>
                                </a:rPr>
                                <m:t>𝟒</m:t>
                              </m:r>
                              <m:r>
                                <a:rPr lang="en-US" sz="2400" b="1" i="1">
                                  <a:latin typeface="Cambria Math" panose="02040503050406030204" pitchFamily="18" charset="0"/>
                                </a:rPr>
                                <m:t>𝒙</m:t>
                              </m:r>
                              <m:r>
                                <a:rPr lang="en-US" sz="2400" b="1" i="1">
                                  <a:latin typeface="Cambria Math" panose="02040503050406030204" pitchFamily="18" charset="0"/>
                                </a:rPr>
                                <m:t>−</m:t>
                              </m:r>
                              <m:r>
                                <a:rPr lang="en-US" sz="2400" b="1" i="1">
                                  <a:latin typeface="Cambria Math" panose="02040503050406030204" pitchFamily="18" charset="0"/>
                                </a:rPr>
                                <m:t>𝒛</m:t>
                              </m:r>
                              <m:r>
                                <a:rPr lang="en-US" sz="2400" b="1" i="1">
                                  <a:latin typeface="Cambria Math" panose="02040503050406030204" pitchFamily="18" charset="0"/>
                                </a:rPr>
                                <m:t>  =</m:t>
                              </m:r>
                              <m:r>
                                <a:rPr lang="en-US" sz="2400" b="1" i="1">
                                  <a:latin typeface="Cambria Math" panose="02040503050406030204" pitchFamily="18" charset="0"/>
                                </a:rPr>
                                <m:t>𝟓</m:t>
                              </m:r>
                            </m:e>
                          </m:eqArr>
                        </m:e>
                      </m:d>
                    </m:oMath>
                  </m:oMathPara>
                </a14:m>
                <a:endParaRPr lang="ru-RU" sz="2400" b="1" dirty="0"/>
              </a:p>
            </p:txBody>
          </p:sp>
        </mc:Choice>
        <mc:Fallback>
          <p:sp>
            <p:nvSpPr>
              <p:cNvPr id="5" name="Rectangle 4"/>
              <p:cNvSpPr>
                <a:spLocks noRot="1" noChangeAspect="1" noMove="1" noResize="1" noEditPoints="1" noAdjustHandles="1" noChangeArrowheads="1" noChangeShapeType="1" noTextEdit="1"/>
              </p:cNvSpPr>
              <p:nvPr/>
            </p:nvSpPr>
            <p:spPr>
              <a:xfrm>
                <a:off x="331519" y="1448303"/>
                <a:ext cx="2063338" cy="916148"/>
              </a:xfrm>
              <a:prstGeom prst="rect">
                <a:avLst/>
              </a:prstGeom>
              <a:blipFill>
                <a:blip r:embed="rId2"/>
                <a:stretch>
                  <a:fillRect/>
                </a:stretch>
              </a:blipFill>
            </p:spPr>
            <p:txBody>
              <a:bodyPr/>
              <a:lstStyle/>
              <a:p>
                <a:r>
                  <a:rPr lang="ru-RU">
                    <a:noFill/>
                  </a:rPr>
                  <a:t> </a:t>
                </a:r>
              </a:p>
            </p:txBody>
          </p:sp>
        </mc:Fallback>
      </mc:AlternateContent>
      <p:sp>
        <p:nvSpPr>
          <p:cNvPr id="6" name="Rectangle 5"/>
          <p:cNvSpPr/>
          <p:nvPr/>
        </p:nvSpPr>
        <p:spPr>
          <a:xfrm>
            <a:off x="2859314" y="1461440"/>
            <a:ext cx="8665027" cy="707886"/>
          </a:xfrm>
          <a:prstGeom prst="rect">
            <a:avLst/>
          </a:prstGeom>
        </p:spPr>
        <p:txBody>
          <a:bodyPr wrap="square">
            <a:spAutoFit/>
          </a:bodyPr>
          <a:lstStyle/>
          <a:p>
            <a:r>
              <a:rPr lang="az-Latn-AZ" sz="2000" b="1" dirty="0" smtClean="0"/>
              <a:t>Tutaq ki bu bizim</a:t>
            </a:r>
            <a:r>
              <a:rPr lang="en-US" sz="2000" b="1" dirty="0" smtClean="0"/>
              <a:t> </a:t>
            </a:r>
            <a:r>
              <a:rPr lang="en-US" sz="2000" b="1" dirty="0"/>
              <a:t>n</a:t>
            </a:r>
            <a:r>
              <a:rPr lang="az-Latn-AZ" sz="2000" b="1" dirty="0"/>
              <a:t>ümünə üçün sistemimizdir gəlin onu Kramer Qaydası ilə həll edək</a:t>
            </a:r>
            <a:endParaRPr lang="en-US" sz="2000" b="1" dirty="0"/>
          </a:p>
        </p:txBody>
      </p:sp>
      <mc:AlternateContent xmlns:mc="http://schemas.openxmlformats.org/markup-compatibility/2006">
        <mc:Choice xmlns:a14="http://schemas.microsoft.com/office/drawing/2010/main" Requires="a14">
          <p:sp>
            <p:nvSpPr>
              <p:cNvPr id="7" name="Rectangle 6"/>
              <p:cNvSpPr/>
              <p:nvPr/>
            </p:nvSpPr>
            <p:spPr>
              <a:xfrm>
                <a:off x="134305" y="3037347"/>
                <a:ext cx="5986767" cy="705771"/>
              </a:xfrm>
              <a:prstGeom prst="rect">
                <a:avLst/>
              </a:prstGeom>
            </p:spPr>
            <p:txBody>
              <a:bodyPr wrap="none">
                <a:spAutoFit/>
              </a:bodyPr>
              <a:lstStyle/>
              <a:p>
                <a14:m>
                  <m:oMath xmlns:m="http://schemas.openxmlformats.org/officeDocument/2006/math">
                    <m:r>
                      <a:rPr lang="en-US" sz="2400" i="1">
                        <a:latin typeface="Cambria Math" panose="02040503050406030204" pitchFamily="18" charset="0"/>
                        <a:ea typeface="Cambria Math" panose="02040503050406030204" pitchFamily="18" charset="0"/>
                      </a:rPr>
                      <m:t>∆</m:t>
                    </m:r>
                    <m:r>
                      <a:rPr lang="az-Latn-AZ" sz="2400" b="1" i="1">
                        <a:latin typeface="Cambria Math" panose="02040503050406030204" pitchFamily="18" charset="0"/>
                        <a:ea typeface="Cambria Math" panose="02040503050406030204" pitchFamily="18" charset="0"/>
                      </a:rPr>
                      <m:t>=</m:t>
                    </m:r>
                    <m:d>
                      <m:dPr>
                        <m:begChr m:val="|"/>
                        <m:endChr m:val="|"/>
                        <m:ctrlPr>
                          <a:rPr lang="az-Latn-AZ" sz="2400" b="1" i="1">
                            <a:latin typeface="Cambria Math" panose="02040503050406030204" pitchFamily="18" charset="0"/>
                            <a:ea typeface="Cambria Math" panose="02040503050406030204" pitchFamily="18" charset="0"/>
                          </a:rPr>
                        </m:ctrlPr>
                      </m:dPr>
                      <m:e>
                        <m:m>
                          <m:mPr>
                            <m:mcs>
                              <m:mc>
                                <m:mcPr>
                                  <m:count m:val="2"/>
                                  <m:mcJc m:val="center"/>
                                </m:mcPr>
                              </m:mc>
                            </m:mcs>
                            <m:ctrlPr>
                              <a:rPr lang="az-Latn-AZ" sz="2400" b="1" i="1">
                                <a:latin typeface="Cambria Math" panose="02040503050406030204" pitchFamily="18" charset="0"/>
                                <a:ea typeface="Cambria Math" panose="02040503050406030204" pitchFamily="18" charset="0"/>
                              </a:rPr>
                            </m:ctrlPr>
                          </m:mPr>
                          <m:mr>
                            <m:e>
                              <m:r>
                                <m:rPr>
                                  <m:brk m:alnAt="7"/>
                                </m:rPr>
                                <a:rPr lang="az-Latn-AZ" sz="2400" b="1" i="1">
                                  <a:latin typeface="Cambria Math" panose="02040503050406030204" pitchFamily="18" charset="0"/>
                                  <a:ea typeface="Cambria Math" panose="02040503050406030204" pitchFamily="18" charset="0"/>
                                </a:rPr>
                                <m:t>𝟐</m:t>
                              </m:r>
                            </m:e>
                            <m:e>
                              <m:r>
                                <a:rPr lang="az-Latn-AZ" sz="2400" b="1" i="1">
                                  <a:latin typeface="Cambria Math" panose="02040503050406030204" pitchFamily="18" charset="0"/>
                                  <a:ea typeface="Cambria Math" panose="02040503050406030204" pitchFamily="18" charset="0"/>
                                </a:rPr>
                                <m:t>𝟑</m:t>
                              </m:r>
                            </m:e>
                          </m:mr>
                          <m:mr>
                            <m:e>
                              <m:r>
                                <a:rPr lang="az-Latn-AZ" sz="2400" b="1" i="1">
                                  <a:latin typeface="Cambria Math" panose="02040503050406030204" pitchFamily="18" charset="0"/>
                                  <a:ea typeface="Cambria Math" panose="02040503050406030204" pitchFamily="18" charset="0"/>
                                </a:rPr>
                                <m:t>𝟒</m:t>
                              </m:r>
                            </m:e>
                            <m:e>
                              <m:r>
                                <a:rPr lang="az-Latn-AZ" sz="2400" b="1" i="1">
                                  <a:latin typeface="Cambria Math" panose="02040503050406030204" pitchFamily="18" charset="0"/>
                                  <a:ea typeface="Cambria Math" panose="02040503050406030204" pitchFamily="18" charset="0"/>
                                </a:rPr>
                                <m:t>−</m:t>
                              </m:r>
                              <m:r>
                                <a:rPr lang="az-Latn-AZ" sz="2400" b="1" i="1">
                                  <a:latin typeface="Cambria Math" panose="02040503050406030204" pitchFamily="18" charset="0"/>
                                  <a:ea typeface="Cambria Math" panose="02040503050406030204" pitchFamily="18" charset="0"/>
                                </a:rPr>
                                <m:t>𝟏</m:t>
                              </m:r>
                            </m:e>
                          </m:mr>
                        </m:m>
                      </m:e>
                    </m:d>
                  </m:oMath>
                </a14:m>
                <a:r>
                  <a:rPr lang="az-Latn-AZ" sz="2400" b="1" dirty="0"/>
                  <a:t> = 2 * (-1)  - 3 * 4 = -2 -12 = -14</a:t>
                </a:r>
                <a:endParaRPr lang="en-US" b="1" dirty="0"/>
              </a:p>
            </p:txBody>
          </p:sp>
        </mc:Choice>
        <mc:Fallback>
          <p:sp>
            <p:nvSpPr>
              <p:cNvPr id="7" name="Rectangle 6"/>
              <p:cNvSpPr>
                <a:spLocks noRot="1" noChangeAspect="1" noMove="1" noResize="1" noEditPoints="1" noAdjustHandles="1" noChangeArrowheads="1" noChangeShapeType="1" noTextEdit="1"/>
              </p:cNvSpPr>
              <p:nvPr/>
            </p:nvSpPr>
            <p:spPr>
              <a:xfrm>
                <a:off x="134305" y="3037347"/>
                <a:ext cx="5986767" cy="705771"/>
              </a:xfrm>
              <a:prstGeom prst="rect">
                <a:avLst/>
              </a:prstGeom>
              <a:blipFill>
                <a:blip r:embed="rId3"/>
                <a:stretch>
                  <a:fillRect r="-1222" b="-1724"/>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8" name="Rectangle 7"/>
              <p:cNvSpPr/>
              <p:nvPr/>
            </p:nvSpPr>
            <p:spPr>
              <a:xfrm>
                <a:off x="134305" y="4078920"/>
                <a:ext cx="6145657" cy="605487"/>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sz="2000" b="1" i="1">
                              <a:latin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m:t>
                          </m:r>
                        </m:e>
                        <m:sub>
                          <m:r>
                            <a:rPr lang="az-Latn-AZ" sz="2000" b="1" i="1">
                              <a:latin typeface="Cambria Math" panose="02040503050406030204" pitchFamily="18" charset="0"/>
                            </a:rPr>
                            <m:t>𝒙</m:t>
                          </m:r>
                        </m:sub>
                      </m:sSub>
                      <m:r>
                        <a:rPr lang="az-Latn-AZ" sz="2000" b="1" i="1">
                          <a:latin typeface="Cambria Math" panose="02040503050406030204" pitchFamily="18" charset="0"/>
                        </a:rPr>
                        <m:t>= </m:t>
                      </m:r>
                      <m:d>
                        <m:dPr>
                          <m:begChr m:val="|"/>
                          <m:endChr m:val="|"/>
                          <m:ctrlPr>
                            <a:rPr lang="az-Latn-AZ" sz="2000" b="1" i="1">
                              <a:latin typeface="Cambria Math" panose="02040503050406030204" pitchFamily="18" charset="0"/>
                            </a:rPr>
                          </m:ctrlPr>
                        </m:dPr>
                        <m:e>
                          <m:m>
                            <m:mPr>
                              <m:mcs>
                                <m:mc>
                                  <m:mcPr>
                                    <m:count m:val="2"/>
                                    <m:mcJc m:val="center"/>
                                  </m:mcPr>
                                </m:mc>
                              </m:mcs>
                              <m:ctrlPr>
                                <a:rPr lang="az-Latn-AZ" sz="2000" b="1" i="1">
                                  <a:latin typeface="Cambria Math" panose="02040503050406030204" pitchFamily="18" charset="0"/>
                                </a:rPr>
                              </m:ctrlPr>
                            </m:mPr>
                            <m:mr>
                              <m:e>
                                <m:r>
                                  <m:rPr>
                                    <m:brk m:alnAt="7"/>
                                  </m:rPr>
                                  <a:rPr lang="az-Latn-AZ" sz="2000" b="1" i="1">
                                    <a:solidFill>
                                      <a:srgbClr val="FF0000"/>
                                    </a:solidFill>
                                    <a:latin typeface="Cambria Math" panose="02040503050406030204" pitchFamily="18" charset="0"/>
                                  </a:rPr>
                                  <m:t>𝟔</m:t>
                                </m:r>
                              </m:e>
                              <m:e>
                                <m:r>
                                  <a:rPr lang="az-Latn-AZ" sz="2000" b="1" i="1">
                                    <a:latin typeface="Cambria Math" panose="02040503050406030204" pitchFamily="18" charset="0"/>
                                  </a:rPr>
                                  <m:t>𝟑</m:t>
                                </m:r>
                              </m:e>
                            </m:mr>
                            <m:mr>
                              <m:e>
                                <m:r>
                                  <a:rPr lang="az-Latn-AZ" sz="2000" b="1" i="1">
                                    <a:solidFill>
                                      <a:srgbClr val="FF0000"/>
                                    </a:solidFill>
                                    <a:latin typeface="Cambria Math" panose="02040503050406030204" pitchFamily="18" charset="0"/>
                                  </a:rPr>
                                  <m:t>𝟓</m:t>
                                </m:r>
                              </m:e>
                              <m:e>
                                <m:r>
                                  <a:rPr lang="az-Latn-AZ" sz="2000" b="1" i="1">
                                    <a:latin typeface="Cambria Math" panose="02040503050406030204" pitchFamily="18" charset="0"/>
                                  </a:rPr>
                                  <m:t>−</m:t>
                                </m:r>
                                <m:r>
                                  <a:rPr lang="az-Latn-AZ" sz="2000" b="1" i="1">
                                    <a:latin typeface="Cambria Math" panose="02040503050406030204" pitchFamily="18" charset="0"/>
                                  </a:rPr>
                                  <m:t>𝟏</m:t>
                                </m:r>
                              </m:e>
                            </m:mr>
                          </m:m>
                        </m:e>
                      </m:d>
                      <m:r>
                        <a:rPr lang="az-Latn-AZ" sz="2000" b="1" i="1">
                          <a:latin typeface="Cambria Math" panose="02040503050406030204" pitchFamily="18" charset="0"/>
                        </a:rPr>
                        <m:t>=</m:t>
                      </m:r>
                      <m:r>
                        <a:rPr lang="az-Latn-AZ" sz="2000" b="1" i="1">
                          <a:latin typeface="Cambria Math" panose="02040503050406030204" pitchFamily="18" charset="0"/>
                        </a:rPr>
                        <m:t>𝟔</m:t>
                      </m:r>
                      <m:r>
                        <a:rPr lang="az-Latn-AZ" sz="2000" b="1" i="1">
                          <a:latin typeface="Cambria Math" panose="02040503050406030204" pitchFamily="18" charset="0"/>
                        </a:rPr>
                        <m:t> ∗</m:t>
                      </m:r>
                      <m:d>
                        <m:dPr>
                          <m:ctrlPr>
                            <a:rPr lang="az-Latn-AZ" sz="2000" b="1" i="1">
                              <a:latin typeface="Cambria Math" panose="02040503050406030204" pitchFamily="18" charset="0"/>
                            </a:rPr>
                          </m:ctrlPr>
                        </m:dPr>
                        <m:e>
                          <m:r>
                            <a:rPr lang="az-Latn-AZ" sz="2000" b="1" i="1">
                              <a:latin typeface="Cambria Math" panose="02040503050406030204" pitchFamily="18" charset="0"/>
                            </a:rPr>
                            <m:t>−</m:t>
                          </m:r>
                          <m:r>
                            <a:rPr lang="az-Latn-AZ" sz="2000" b="1" i="1">
                              <a:latin typeface="Cambria Math" panose="02040503050406030204" pitchFamily="18" charset="0"/>
                            </a:rPr>
                            <m:t>𝟏</m:t>
                          </m:r>
                        </m:e>
                      </m:d>
                      <m:r>
                        <a:rPr lang="az-Latn-AZ" sz="2000" b="1" i="1">
                          <a:latin typeface="Cambria Math" panose="02040503050406030204" pitchFamily="18" charset="0"/>
                        </a:rPr>
                        <m:t>−</m:t>
                      </m:r>
                      <m:r>
                        <a:rPr lang="az-Latn-AZ" sz="2000" b="1" i="1">
                          <a:latin typeface="Cambria Math" panose="02040503050406030204" pitchFamily="18" charset="0"/>
                        </a:rPr>
                        <m:t>𝟑</m:t>
                      </m:r>
                      <m:r>
                        <a:rPr lang="az-Latn-AZ" sz="2000" b="1" i="1">
                          <a:latin typeface="Cambria Math" panose="02040503050406030204" pitchFamily="18" charset="0"/>
                        </a:rPr>
                        <m:t> ∗</m:t>
                      </m:r>
                      <m:r>
                        <a:rPr lang="az-Latn-AZ" sz="2000" b="1" i="1">
                          <a:latin typeface="Cambria Math" panose="02040503050406030204" pitchFamily="18" charset="0"/>
                        </a:rPr>
                        <m:t>𝟓</m:t>
                      </m:r>
                      <m:r>
                        <a:rPr lang="az-Latn-AZ" sz="2000" b="1" i="1">
                          <a:latin typeface="Cambria Math" panose="02040503050406030204" pitchFamily="18" charset="0"/>
                        </a:rPr>
                        <m:t>=−</m:t>
                      </m:r>
                      <m:r>
                        <a:rPr lang="az-Latn-AZ" sz="2000" b="1" i="1">
                          <a:latin typeface="Cambria Math" panose="02040503050406030204" pitchFamily="18" charset="0"/>
                        </a:rPr>
                        <m:t>𝟔</m:t>
                      </m:r>
                      <m:r>
                        <a:rPr lang="az-Latn-AZ" sz="2000" b="1" i="1">
                          <a:latin typeface="Cambria Math" panose="02040503050406030204" pitchFamily="18" charset="0"/>
                        </a:rPr>
                        <m:t>−</m:t>
                      </m:r>
                      <m:r>
                        <a:rPr lang="az-Latn-AZ" sz="2000" b="1" i="1">
                          <a:latin typeface="Cambria Math" panose="02040503050406030204" pitchFamily="18" charset="0"/>
                        </a:rPr>
                        <m:t>𝟏𝟓</m:t>
                      </m:r>
                      <m:r>
                        <a:rPr lang="az-Latn-AZ" sz="2000" b="1" i="1">
                          <a:latin typeface="Cambria Math" panose="02040503050406030204" pitchFamily="18" charset="0"/>
                        </a:rPr>
                        <m:t>=−</m:t>
                      </m:r>
                      <m:r>
                        <a:rPr lang="az-Latn-AZ" sz="2000" b="1" i="1">
                          <a:latin typeface="Cambria Math" panose="02040503050406030204" pitchFamily="18" charset="0"/>
                        </a:rPr>
                        <m:t>𝟐𝟏</m:t>
                      </m:r>
                    </m:oMath>
                  </m:oMathPara>
                </a14:m>
                <a:endParaRPr lang="ru-RU" sz="2000" b="1" dirty="0"/>
              </a:p>
            </p:txBody>
          </p:sp>
        </mc:Choice>
        <mc:Fallback>
          <p:sp>
            <p:nvSpPr>
              <p:cNvPr id="8" name="Rectangle 7"/>
              <p:cNvSpPr>
                <a:spLocks noRot="1" noChangeAspect="1" noMove="1" noResize="1" noEditPoints="1" noAdjustHandles="1" noChangeArrowheads="1" noChangeShapeType="1" noTextEdit="1"/>
              </p:cNvSpPr>
              <p:nvPr/>
            </p:nvSpPr>
            <p:spPr>
              <a:xfrm>
                <a:off x="134305" y="4078920"/>
                <a:ext cx="6145657" cy="605487"/>
              </a:xfrm>
              <a:prstGeom prst="rect">
                <a:avLst/>
              </a:prstGeom>
              <a:blipFill>
                <a:blip r:embed="rId4"/>
                <a:stretch>
                  <a:fillRect/>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FC6BD869-924C-50EE-B8C7-15065839467A}"/>
                  </a:ext>
                </a:extLst>
              </p:cNvPr>
              <p:cNvSpPr txBox="1"/>
              <p:nvPr/>
            </p:nvSpPr>
            <p:spPr>
              <a:xfrm>
                <a:off x="331519" y="5256828"/>
                <a:ext cx="5482014" cy="5131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m:t>
                          </m:r>
                        </m:e>
                        <m:sub>
                          <m:r>
                            <a:rPr lang="az-Latn-AZ" sz="2000" b="1" i="1" smtClean="0">
                              <a:latin typeface="Cambria Math" panose="02040503050406030204" pitchFamily="18" charset="0"/>
                            </a:rPr>
                            <m:t>𝒛</m:t>
                          </m:r>
                        </m:sub>
                      </m:sSub>
                      <m:r>
                        <a:rPr lang="az-Latn-AZ" sz="2000" b="1" i="1" smtClean="0">
                          <a:latin typeface="Cambria Math" panose="02040503050406030204" pitchFamily="18" charset="0"/>
                        </a:rPr>
                        <m:t>= </m:t>
                      </m:r>
                      <m:d>
                        <m:dPr>
                          <m:begChr m:val="|"/>
                          <m:endChr m:val="|"/>
                          <m:ctrlPr>
                            <a:rPr lang="az-Latn-AZ" sz="2000" b="1" i="1" smtClean="0">
                              <a:latin typeface="Cambria Math" panose="02040503050406030204" pitchFamily="18" charset="0"/>
                            </a:rPr>
                          </m:ctrlPr>
                        </m:dPr>
                        <m:e>
                          <m:m>
                            <m:mPr>
                              <m:mcs>
                                <m:mc>
                                  <m:mcPr>
                                    <m:count m:val="2"/>
                                    <m:mcJc m:val="center"/>
                                  </m:mcPr>
                                </m:mc>
                              </m:mcs>
                              <m:ctrlPr>
                                <a:rPr lang="az-Latn-AZ" sz="2000" b="1" i="1" smtClean="0">
                                  <a:latin typeface="Cambria Math" panose="02040503050406030204" pitchFamily="18" charset="0"/>
                                </a:rPr>
                              </m:ctrlPr>
                            </m:mPr>
                            <m:mr>
                              <m:e>
                                <m:r>
                                  <m:rPr>
                                    <m:brk m:alnAt="7"/>
                                  </m:rPr>
                                  <a:rPr lang="az-Latn-AZ" sz="2000" b="1" i="1" smtClean="0">
                                    <a:latin typeface="Cambria Math" panose="02040503050406030204" pitchFamily="18" charset="0"/>
                                  </a:rPr>
                                  <m:t>𝟐</m:t>
                                </m:r>
                              </m:e>
                              <m:e>
                                <m:r>
                                  <a:rPr lang="az-Latn-AZ" sz="2000" b="1" i="1" smtClean="0">
                                    <a:solidFill>
                                      <a:srgbClr val="FF0000"/>
                                    </a:solidFill>
                                    <a:latin typeface="Cambria Math" panose="02040503050406030204" pitchFamily="18" charset="0"/>
                                  </a:rPr>
                                  <m:t>𝟔</m:t>
                                </m:r>
                              </m:e>
                            </m:mr>
                            <m:mr>
                              <m:e>
                                <m:r>
                                  <a:rPr lang="az-Latn-AZ" sz="2000" b="1" i="1" smtClean="0">
                                    <a:latin typeface="Cambria Math" panose="02040503050406030204" pitchFamily="18" charset="0"/>
                                  </a:rPr>
                                  <m:t>𝟒</m:t>
                                </m:r>
                              </m:e>
                              <m:e>
                                <m:r>
                                  <a:rPr lang="az-Latn-AZ" sz="2000" b="1" i="1" smtClean="0">
                                    <a:solidFill>
                                      <a:srgbClr val="FF0000"/>
                                    </a:solidFill>
                                    <a:latin typeface="Cambria Math" panose="02040503050406030204" pitchFamily="18" charset="0"/>
                                  </a:rPr>
                                  <m:t>𝟓</m:t>
                                </m:r>
                              </m:e>
                            </m:mr>
                          </m:m>
                        </m:e>
                      </m:d>
                      <m:r>
                        <a:rPr lang="az-Latn-AZ" sz="2000" b="1" i="1" smtClean="0">
                          <a:latin typeface="Cambria Math" panose="02040503050406030204" pitchFamily="18" charset="0"/>
                        </a:rPr>
                        <m:t>=</m:t>
                      </m:r>
                      <m:r>
                        <a:rPr lang="az-Latn-AZ" sz="2000" b="1" i="1" smtClean="0">
                          <a:latin typeface="Cambria Math" panose="02040503050406030204" pitchFamily="18" charset="0"/>
                        </a:rPr>
                        <m:t>𝟐</m:t>
                      </m:r>
                      <m:r>
                        <a:rPr lang="az-Latn-AZ" sz="2000" b="1" i="1" smtClean="0">
                          <a:latin typeface="Cambria Math" panose="02040503050406030204" pitchFamily="18" charset="0"/>
                        </a:rPr>
                        <m:t> ∗</m:t>
                      </m:r>
                      <m:r>
                        <a:rPr lang="az-Latn-AZ" sz="2000" b="1" i="1" smtClean="0">
                          <a:latin typeface="Cambria Math" panose="02040503050406030204" pitchFamily="18" charset="0"/>
                        </a:rPr>
                        <m:t>𝟓</m:t>
                      </m:r>
                      <m:r>
                        <a:rPr lang="az-Latn-AZ" sz="2000" b="1" i="1" smtClean="0">
                          <a:latin typeface="Cambria Math" panose="02040503050406030204" pitchFamily="18" charset="0"/>
                        </a:rPr>
                        <m:t> −</m:t>
                      </m:r>
                      <m:r>
                        <a:rPr lang="az-Latn-AZ" sz="2000" b="1" i="1" smtClean="0">
                          <a:latin typeface="Cambria Math" panose="02040503050406030204" pitchFamily="18" charset="0"/>
                        </a:rPr>
                        <m:t>𝟔</m:t>
                      </m:r>
                      <m:r>
                        <a:rPr lang="az-Latn-AZ" sz="2000" b="1" i="1" smtClean="0">
                          <a:latin typeface="Cambria Math" panose="02040503050406030204" pitchFamily="18" charset="0"/>
                        </a:rPr>
                        <m:t> ∗</m:t>
                      </m:r>
                      <m:r>
                        <a:rPr lang="az-Latn-AZ" sz="2000" b="1" i="1" smtClean="0">
                          <a:latin typeface="Cambria Math" panose="02040503050406030204" pitchFamily="18" charset="0"/>
                        </a:rPr>
                        <m:t>𝟒</m:t>
                      </m:r>
                      <m:r>
                        <a:rPr lang="az-Latn-AZ" sz="2000" b="1" i="1" smtClean="0">
                          <a:latin typeface="Cambria Math" panose="02040503050406030204" pitchFamily="18" charset="0"/>
                        </a:rPr>
                        <m:t>=</m:t>
                      </m:r>
                      <m:r>
                        <a:rPr lang="az-Latn-AZ" sz="2000" b="1" i="1" smtClean="0">
                          <a:latin typeface="Cambria Math" panose="02040503050406030204" pitchFamily="18" charset="0"/>
                        </a:rPr>
                        <m:t>𝟏𝟎</m:t>
                      </m:r>
                      <m:r>
                        <a:rPr lang="az-Latn-AZ" sz="2000" b="1" i="1" smtClean="0">
                          <a:latin typeface="Cambria Math" panose="02040503050406030204" pitchFamily="18" charset="0"/>
                        </a:rPr>
                        <m:t> − </m:t>
                      </m:r>
                      <m:r>
                        <a:rPr lang="az-Latn-AZ" sz="2000" b="1" i="1" smtClean="0">
                          <a:latin typeface="Cambria Math" panose="02040503050406030204" pitchFamily="18" charset="0"/>
                        </a:rPr>
                        <m:t>𝟐𝟒</m:t>
                      </m:r>
                      <m:r>
                        <a:rPr lang="az-Latn-AZ" sz="2000" b="1" i="1" smtClean="0">
                          <a:latin typeface="Cambria Math" panose="02040503050406030204" pitchFamily="18" charset="0"/>
                        </a:rPr>
                        <m:t>=−</m:t>
                      </m:r>
                      <m:r>
                        <a:rPr lang="az-Latn-AZ" sz="2000" b="1" i="1" smtClean="0">
                          <a:latin typeface="Cambria Math" panose="02040503050406030204" pitchFamily="18" charset="0"/>
                        </a:rPr>
                        <m:t>𝟏𝟒</m:t>
                      </m:r>
                    </m:oMath>
                  </m:oMathPara>
                </a14:m>
                <a:endParaRPr lang="en-US" sz="2000" b="1" dirty="0"/>
              </a:p>
            </p:txBody>
          </p:sp>
        </mc:Choice>
        <mc:Fallback>
          <p:sp>
            <p:nvSpPr>
              <p:cNvPr id="9" name="TextBox 8">
                <a:extLst>
                  <a:ext uri="{FF2B5EF4-FFF2-40B4-BE49-F238E27FC236}">
                    <a16:creationId xmlns:a16="http://schemas.microsoft.com/office/drawing/2014/main" id="{FC6BD869-924C-50EE-B8C7-15065839467A}"/>
                  </a:ext>
                </a:extLst>
              </p:cNvPr>
              <p:cNvSpPr txBox="1">
                <a:spLocks noRot="1" noChangeAspect="1" noMove="1" noResize="1" noEditPoints="1" noAdjustHandles="1" noChangeArrowheads="1" noChangeShapeType="1" noTextEdit="1"/>
              </p:cNvSpPr>
              <p:nvPr/>
            </p:nvSpPr>
            <p:spPr>
              <a:xfrm>
                <a:off x="331519" y="5256828"/>
                <a:ext cx="5482014" cy="513154"/>
              </a:xfrm>
              <a:prstGeom prst="rect">
                <a:avLst/>
              </a:prstGeom>
              <a:blipFill>
                <a:blip r:embed="rId5"/>
                <a:stretch>
                  <a:fillRect/>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0C0A5AC3-E30C-503D-C5CF-EB6E32362422}"/>
                  </a:ext>
                </a:extLst>
              </p:cNvPr>
              <p:cNvSpPr txBox="1"/>
              <p:nvPr/>
            </p:nvSpPr>
            <p:spPr>
              <a:xfrm>
                <a:off x="7675198" y="3041484"/>
                <a:ext cx="2586401" cy="57618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az-Latn-AZ" sz="2000" b="1" i="1" smtClean="0">
                          <a:latin typeface="Cambria Math" panose="02040503050406030204" pitchFamily="18" charset="0"/>
                        </a:rPr>
                        <m:t>𝒙</m:t>
                      </m:r>
                      <m:r>
                        <a:rPr lang="az-Latn-AZ" sz="2000" b="1" i="1" smtClean="0">
                          <a:latin typeface="Cambria Math" panose="02040503050406030204" pitchFamily="18" charset="0"/>
                        </a:rPr>
                        <m:t>=</m:t>
                      </m:r>
                      <m:f>
                        <m:fPr>
                          <m:ctrlPr>
                            <a:rPr lang="az-Latn-AZ" sz="2000" b="1" i="1" smtClean="0">
                              <a:latin typeface="Cambria Math" panose="02040503050406030204" pitchFamily="18" charset="0"/>
                            </a:rPr>
                          </m:ctrlPr>
                        </m:fPr>
                        <m:num>
                          <m:sSub>
                            <m:sSubPr>
                              <m:ctrlPr>
                                <a:rPr lang="az-Latn-AZ" sz="2000" b="1" i="1" smtClean="0">
                                  <a:latin typeface="Cambria Math" panose="02040503050406030204" pitchFamily="18" charset="0"/>
                                </a:rPr>
                              </m:ctrlPr>
                            </m:sSubPr>
                            <m:e>
                              <m:r>
                                <a:rPr lang="az-Latn-AZ" sz="2000" b="1" i="1" smtClean="0">
                                  <a:latin typeface="Cambria Math" panose="02040503050406030204" pitchFamily="18" charset="0"/>
                                  <a:ea typeface="Cambria Math" panose="02040503050406030204" pitchFamily="18" charset="0"/>
                                </a:rPr>
                                <m:t>∆</m:t>
                              </m:r>
                            </m:e>
                            <m:sub>
                              <m:r>
                                <a:rPr lang="az-Latn-AZ" sz="2000" b="1" i="1" smtClean="0">
                                  <a:latin typeface="Cambria Math" panose="02040503050406030204" pitchFamily="18" charset="0"/>
                                </a:rPr>
                                <m:t>𝒙</m:t>
                              </m:r>
                            </m:sub>
                          </m:sSub>
                        </m:num>
                        <m:den>
                          <m:r>
                            <a:rPr lang="az-Latn-AZ" sz="2000" b="1" i="1" smtClean="0">
                              <a:latin typeface="Cambria Math" panose="02040503050406030204" pitchFamily="18" charset="0"/>
                              <a:ea typeface="Cambria Math" panose="02040503050406030204" pitchFamily="18" charset="0"/>
                            </a:rPr>
                            <m:t>∆</m:t>
                          </m:r>
                        </m:den>
                      </m:f>
                      <m:r>
                        <a:rPr lang="az-Latn-AZ" sz="2000" b="1" i="1" smtClean="0">
                          <a:latin typeface="Cambria Math" panose="02040503050406030204" pitchFamily="18" charset="0"/>
                        </a:rPr>
                        <m:t>= </m:t>
                      </m:r>
                      <m:f>
                        <m:fPr>
                          <m:ctrlPr>
                            <a:rPr lang="az-Latn-AZ" sz="2000" b="1" i="1" smtClean="0">
                              <a:latin typeface="Cambria Math" panose="02040503050406030204" pitchFamily="18" charset="0"/>
                            </a:rPr>
                          </m:ctrlPr>
                        </m:fPr>
                        <m:num>
                          <m:r>
                            <a:rPr lang="az-Latn-AZ" sz="2000" b="1" i="1" smtClean="0">
                              <a:latin typeface="Cambria Math" panose="02040503050406030204" pitchFamily="18" charset="0"/>
                            </a:rPr>
                            <m:t>−</m:t>
                          </m:r>
                          <m:r>
                            <a:rPr lang="az-Latn-AZ" sz="2000" b="1" i="1" smtClean="0">
                              <a:latin typeface="Cambria Math" panose="02040503050406030204" pitchFamily="18" charset="0"/>
                            </a:rPr>
                            <m:t>𝟐𝟏</m:t>
                          </m:r>
                        </m:num>
                        <m:den>
                          <m:r>
                            <a:rPr lang="az-Latn-AZ" sz="2000" b="1" i="1" smtClean="0">
                              <a:latin typeface="Cambria Math" panose="02040503050406030204" pitchFamily="18" charset="0"/>
                            </a:rPr>
                            <m:t>−</m:t>
                          </m:r>
                          <m:r>
                            <a:rPr lang="az-Latn-AZ" sz="2000" b="1" i="1" smtClean="0">
                              <a:latin typeface="Cambria Math" panose="02040503050406030204" pitchFamily="18" charset="0"/>
                            </a:rPr>
                            <m:t>𝟏𝟒</m:t>
                          </m:r>
                        </m:den>
                      </m:f>
                      <m:r>
                        <a:rPr lang="az-Latn-AZ" sz="2000" b="1" i="1" smtClean="0">
                          <a:latin typeface="Cambria Math" panose="02040503050406030204" pitchFamily="18" charset="0"/>
                        </a:rPr>
                        <m:t>= </m:t>
                      </m:r>
                      <m:f>
                        <m:fPr>
                          <m:ctrlPr>
                            <a:rPr lang="az-Latn-AZ" sz="2000" b="1" i="1" smtClean="0">
                              <a:latin typeface="Cambria Math" panose="02040503050406030204" pitchFamily="18" charset="0"/>
                            </a:rPr>
                          </m:ctrlPr>
                        </m:fPr>
                        <m:num>
                          <m:r>
                            <a:rPr lang="az-Latn-AZ" sz="2000" b="1" i="1" smtClean="0">
                              <a:latin typeface="Cambria Math" panose="02040503050406030204" pitchFamily="18" charset="0"/>
                            </a:rPr>
                            <m:t>𝟑</m:t>
                          </m:r>
                        </m:num>
                        <m:den>
                          <m:r>
                            <a:rPr lang="az-Latn-AZ" sz="2000" b="1" i="1" smtClean="0">
                              <a:latin typeface="Cambria Math" panose="02040503050406030204" pitchFamily="18" charset="0"/>
                            </a:rPr>
                            <m:t>𝟐</m:t>
                          </m:r>
                        </m:den>
                      </m:f>
                    </m:oMath>
                  </m:oMathPara>
                </a14:m>
                <a:endParaRPr lang="en-US" sz="2000" b="1" dirty="0"/>
              </a:p>
            </p:txBody>
          </p:sp>
        </mc:Choice>
        <mc:Fallback>
          <p:sp>
            <p:nvSpPr>
              <p:cNvPr id="10" name="TextBox 9">
                <a:extLst>
                  <a:ext uri="{FF2B5EF4-FFF2-40B4-BE49-F238E27FC236}">
                    <a16:creationId xmlns:a16="http://schemas.microsoft.com/office/drawing/2014/main" id="{0C0A5AC3-E30C-503D-C5CF-EB6E32362422}"/>
                  </a:ext>
                </a:extLst>
              </p:cNvPr>
              <p:cNvSpPr txBox="1">
                <a:spLocks noRot="1" noChangeAspect="1" noMove="1" noResize="1" noEditPoints="1" noAdjustHandles="1" noChangeArrowheads="1" noChangeShapeType="1" noTextEdit="1"/>
              </p:cNvSpPr>
              <p:nvPr/>
            </p:nvSpPr>
            <p:spPr>
              <a:xfrm>
                <a:off x="7675198" y="3041484"/>
                <a:ext cx="2586401" cy="576183"/>
              </a:xfrm>
              <a:prstGeom prst="rect">
                <a:avLst/>
              </a:prstGeom>
              <a:blipFill>
                <a:blip r:embed="rId6"/>
                <a:stretch>
                  <a:fillRect/>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919425E1-D0D5-BF19-7AB7-CE8B5341C17B}"/>
                  </a:ext>
                </a:extLst>
              </p:cNvPr>
              <p:cNvSpPr txBox="1"/>
              <p:nvPr/>
            </p:nvSpPr>
            <p:spPr>
              <a:xfrm>
                <a:off x="8968398" y="4067578"/>
                <a:ext cx="2127782" cy="57618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az-Latn-AZ" sz="2000" b="0" i="1" smtClean="0">
                          <a:latin typeface="Cambria Math" panose="02040503050406030204" pitchFamily="18" charset="0"/>
                        </a:rPr>
                        <m:t>𝑧</m:t>
                      </m:r>
                      <m:r>
                        <a:rPr lang="az-Latn-AZ" sz="2000" b="1" i="1" smtClean="0">
                          <a:latin typeface="Cambria Math" panose="02040503050406030204" pitchFamily="18" charset="0"/>
                        </a:rPr>
                        <m:t>=</m:t>
                      </m:r>
                      <m:f>
                        <m:fPr>
                          <m:ctrlPr>
                            <a:rPr lang="az-Latn-AZ" sz="2000" b="1" i="1" smtClean="0">
                              <a:latin typeface="Cambria Math" panose="02040503050406030204" pitchFamily="18" charset="0"/>
                            </a:rPr>
                          </m:ctrlPr>
                        </m:fPr>
                        <m:num>
                          <m:sSub>
                            <m:sSubPr>
                              <m:ctrlPr>
                                <a:rPr lang="az-Latn-AZ" sz="2000" b="1" i="1" smtClean="0">
                                  <a:latin typeface="Cambria Math" panose="02040503050406030204" pitchFamily="18" charset="0"/>
                                </a:rPr>
                              </m:ctrlPr>
                            </m:sSubPr>
                            <m:e>
                              <m:r>
                                <a:rPr lang="az-Latn-AZ" sz="2000" b="1" i="1" smtClean="0">
                                  <a:latin typeface="Cambria Math" panose="02040503050406030204" pitchFamily="18" charset="0"/>
                                  <a:ea typeface="Cambria Math" panose="02040503050406030204" pitchFamily="18" charset="0"/>
                                </a:rPr>
                                <m:t>∆</m:t>
                              </m:r>
                            </m:e>
                            <m:sub>
                              <m:r>
                                <a:rPr lang="az-Latn-AZ" sz="2000" b="1" i="1" smtClean="0">
                                  <a:latin typeface="Cambria Math" panose="02040503050406030204" pitchFamily="18" charset="0"/>
                                </a:rPr>
                                <m:t>𝒛</m:t>
                              </m:r>
                            </m:sub>
                          </m:sSub>
                        </m:num>
                        <m:den>
                          <m:r>
                            <a:rPr lang="az-Latn-AZ" sz="2000" b="1" i="1" smtClean="0">
                              <a:latin typeface="Cambria Math" panose="02040503050406030204" pitchFamily="18" charset="0"/>
                              <a:ea typeface="Cambria Math" panose="02040503050406030204" pitchFamily="18" charset="0"/>
                            </a:rPr>
                            <m:t>∆</m:t>
                          </m:r>
                        </m:den>
                      </m:f>
                      <m:r>
                        <a:rPr lang="az-Latn-AZ" sz="2000" b="1" i="1" smtClean="0">
                          <a:latin typeface="Cambria Math" panose="02040503050406030204" pitchFamily="18" charset="0"/>
                        </a:rPr>
                        <m:t>=</m:t>
                      </m:r>
                      <m:f>
                        <m:fPr>
                          <m:ctrlPr>
                            <a:rPr lang="az-Latn-AZ" sz="2000" b="1" i="1" smtClean="0">
                              <a:latin typeface="Cambria Math" panose="02040503050406030204" pitchFamily="18" charset="0"/>
                            </a:rPr>
                          </m:ctrlPr>
                        </m:fPr>
                        <m:num>
                          <m:r>
                            <a:rPr lang="az-Latn-AZ" sz="2000" b="1" i="1" smtClean="0">
                              <a:latin typeface="Cambria Math" panose="02040503050406030204" pitchFamily="18" charset="0"/>
                            </a:rPr>
                            <m:t>−</m:t>
                          </m:r>
                          <m:r>
                            <a:rPr lang="az-Latn-AZ" sz="2000" b="1" i="1" smtClean="0">
                              <a:latin typeface="Cambria Math" panose="02040503050406030204" pitchFamily="18" charset="0"/>
                            </a:rPr>
                            <m:t>𝟏𝟒</m:t>
                          </m:r>
                        </m:num>
                        <m:den>
                          <m:r>
                            <a:rPr lang="az-Latn-AZ" sz="2000" b="1" i="1" smtClean="0">
                              <a:latin typeface="Cambria Math" panose="02040503050406030204" pitchFamily="18" charset="0"/>
                            </a:rPr>
                            <m:t>−</m:t>
                          </m:r>
                          <m:r>
                            <a:rPr lang="az-Latn-AZ" sz="2000" b="1" i="1" smtClean="0">
                              <a:latin typeface="Cambria Math" panose="02040503050406030204" pitchFamily="18" charset="0"/>
                            </a:rPr>
                            <m:t>𝟏𝟒</m:t>
                          </m:r>
                        </m:den>
                      </m:f>
                      <m:r>
                        <a:rPr lang="az-Latn-AZ" sz="2000" b="1" i="1" smtClean="0">
                          <a:latin typeface="Cambria Math" panose="02040503050406030204" pitchFamily="18" charset="0"/>
                        </a:rPr>
                        <m:t>=</m:t>
                      </m:r>
                      <m:r>
                        <a:rPr lang="az-Latn-AZ" sz="2000" b="1" i="1" smtClean="0">
                          <a:latin typeface="Cambria Math" panose="02040503050406030204" pitchFamily="18" charset="0"/>
                        </a:rPr>
                        <m:t>𝟏</m:t>
                      </m:r>
                    </m:oMath>
                  </m:oMathPara>
                </a14:m>
                <a:endParaRPr lang="en-US" sz="2000" b="1" dirty="0"/>
              </a:p>
            </p:txBody>
          </p:sp>
        </mc:Choice>
        <mc:Fallback>
          <p:sp>
            <p:nvSpPr>
              <p:cNvPr id="11" name="TextBox 10">
                <a:extLst>
                  <a:ext uri="{FF2B5EF4-FFF2-40B4-BE49-F238E27FC236}">
                    <a16:creationId xmlns:a16="http://schemas.microsoft.com/office/drawing/2014/main" id="{919425E1-D0D5-BF19-7AB7-CE8B5341C17B}"/>
                  </a:ext>
                </a:extLst>
              </p:cNvPr>
              <p:cNvSpPr txBox="1">
                <a:spLocks noRot="1" noChangeAspect="1" noMove="1" noResize="1" noEditPoints="1" noAdjustHandles="1" noChangeArrowheads="1" noChangeShapeType="1" noTextEdit="1"/>
              </p:cNvSpPr>
              <p:nvPr/>
            </p:nvSpPr>
            <p:spPr>
              <a:xfrm>
                <a:off x="8968398" y="4067578"/>
                <a:ext cx="2127782" cy="576183"/>
              </a:xfrm>
              <a:prstGeom prst="rect">
                <a:avLst/>
              </a:prstGeom>
              <a:blipFill>
                <a:blip r:embed="rId7"/>
                <a:stretch>
                  <a:fillRect/>
                </a:stretch>
              </a:blipFill>
            </p:spPr>
            <p:txBody>
              <a:bodyPr/>
              <a:lstStyle/>
              <a:p>
                <a:r>
                  <a:rPr lang="ru-RU">
                    <a:noFill/>
                  </a:rPr>
                  <a:t> </a:t>
                </a:r>
              </a:p>
            </p:txBody>
          </p:sp>
        </mc:Fallback>
      </mc:AlternateContent>
      <p:sp>
        <p:nvSpPr>
          <p:cNvPr id="12" name="Rectangle 11"/>
          <p:cNvSpPr/>
          <p:nvPr/>
        </p:nvSpPr>
        <p:spPr>
          <a:xfrm>
            <a:off x="6473371" y="5256828"/>
            <a:ext cx="5486398" cy="830997"/>
          </a:xfrm>
          <a:prstGeom prst="rect">
            <a:avLst/>
          </a:prstGeom>
        </p:spPr>
        <p:txBody>
          <a:bodyPr wrap="square">
            <a:spAutoFit/>
          </a:bodyPr>
          <a:lstStyle/>
          <a:p>
            <a:r>
              <a:rPr lang="az-Latn-AZ" sz="2400" b="1" dirty="0"/>
              <a:t>Və beləliklə Kramer Qaydasını tətbiq edərək həllərimizi tapmış olduq</a:t>
            </a:r>
            <a:endParaRPr lang="en-US" sz="2400" b="1" dirty="0"/>
          </a:p>
        </p:txBody>
      </p:sp>
    </p:spTree>
    <p:extLst>
      <p:ext uri="{BB962C8B-B14F-4D97-AF65-F5344CB8AC3E}">
        <p14:creationId xmlns:p14="http://schemas.microsoft.com/office/powerpoint/2010/main" val="974446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ətn Qutusu 20">
            <a:extLst>
              <a:ext uri="{FF2B5EF4-FFF2-40B4-BE49-F238E27FC236}">
                <a16:creationId xmlns:a16="http://schemas.microsoft.com/office/drawing/2014/main" id="{D5608DBB-EEDC-0812-5E9F-E0357A36A18B}"/>
              </a:ext>
            </a:extLst>
          </p:cNvPr>
          <p:cNvSpPr txBox="1"/>
          <p:nvPr/>
        </p:nvSpPr>
        <p:spPr>
          <a:xfrm>
            <a:off x="308021" y="128814"/>
            <a:ext cx="11666264" cy="810478"/>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ts val="5550"/>
              </a:lnSpc>
              <a:spcBef>
                <a:spcPts val="0"/>
              </a:spcBef>
              <a:spcAft>
                <a:spcPts val="0"/>
              </a:spcAft>
              <a:buClrTx/>
              <a:buSzTx/>
              <a:buFontTx/>
              <a:buNone/>
              <a:tabLst/>
              <a:defRPr/>
            </a:pPr>
            <a:r>
              <a:rPr kumimoji="0" lang="az-Latn-AZ" sz="4000" b="1" i="0" u="none" strike="noStrike" kern="1200" cap="none" spc="0" normalizeH="0" baseline="0" noProof="0" dirty="0">
                <a:ln>
                  <a:noFill/>
                </a:ln>
                <a:solidFill>
                  <a:srgbClr val="282824"/>
                </a:solidFill>
                <a:effectLst/>
                <a:uLnTx/>
                <a:uFillTx/>
                <a:ea typeface="Lato Bold" pitchFamily="34" charset="-122"/>
                <a:cs typeface="Lato Bold" pitchFamily="34" charset="-120"/>
              </a:rPr>
              <a:t>Xətti tənliklər sisteminin </a:t>
            </a:r>
            <a:r>
              <a:rPr kumimoji="0" lang="az-Latn-AZ" sz="4000" b="1" i="0" u="none" strike="noStrike" kern="1200" cap="none" spc="0" normalizeH="0" baseline="0" noProof="0" dirty="0" err="1">
                <a:ln>
                  <a:noFill/>
                </a:ln>
                <a:solidFill>
                  <a:srgbClr val="282824"/>
                </a:solidFill>
                <a:effectLst/>
                <a:uLnTx/>
                <a:uFillTx/>
                <a:ea typeface="Lato Bold" pitchFamily="34" charset="-122"/>
                <a:cs typeface="Lato Bold" pitchFamily="34" charset="-120"/>
              </a:rPr>
              <a:t>Qauss</a:t>
            </a:r>
            <a:r>
              <a:rPr kumimoji="0" lang="az-Latn-AZ" sz="4000" b="1" i="0" u="none" strike="noStrike" kern="1200" cap="none" spc="0" normalizeH="0" baseline="0" noProof="0" dirty="0">
                <a:ln>
                  <a:noFill/>
                </a:ln>
                <a:solidFill>
                  <a:srgbClr val="282824"/>
                </a:solidFill>
                <a:effectLst/>
                <a:uLnTx/>
                <a:uFillTx/>
                <a:ea typeface="Lato Bold" pitchFamily="34" charset="-122"/>
                <a:cs typeface="Lato Bold" pitchFamily="34" charset="-120"/>
              </a:rPr>
              <a:t> üsulu ilə həlli</a:t>
            </a:r>
            <a:r>
              <a:rPr kumimoji="0" lang="en-US" sz="4000" b="1" i="0" u="none" strike="noStrike" kern="1200" cap="none" spc="0" normalizeH="0" baseline="0" noProof="0" dirty="0">
                <a:ln>
                  <a:noFill/>
                </a:ln>
                <a:solidFill>
                  <a:srgbClr val="282824"/>
                </a:solidFill>
                <a:effectLst/>
                <a:uLnTx/>
                <a:uFillTx/>
                <a:ea typeface="Lato Bold" pitchFamily="34" charset="-122"/>
                <a:cs typeface="Lato Bold" pitchFamily="34" charset="-120"/>
              </a:rPr>
              <a:t>:</a:t>
            </a:r>
            <a:endParaRPr kumimoji="0" lang="en-US" sz="4000" b="0" i="0" u="none" strike="noStrike" kern="1200" cap="none" spc="0" normalizeH="0" baseline="0" noProof="0" dirty="0">
              <a:ln>
                <a:noFill/>
              </a:ln>
              <a:solidFill>
                <a:prstClr val="black"/>
              </a:solidFill>
              <a:effectLst/>
              <a:uLnTx/>
              <a:uFillTx/>
            </a:endParaRPr>
          </a:p>
        </p:txBody>
      </p:sp>
      <p:sp>
        <p:nvSpPr>
          <p:cNvPr id="4" name="TextBox 3">
            <a:extLst>
              <a:ext uri="{FF2B5EF4-FFF2-40B4-BE49-F238E27FC236}">
                <a16:creationId xmlns:a16="http://schemas.microsoft.com/office/drawing/2014/main" id="{FF1E7FF5-277F-9A2D-446E-3B8C0CFE447D}"/>
              </a:ext>
            </a:extLst>
          </p:cNvPr>
          <p:cNvSpPr txBox="1"/>
          <p:nvPr/>
        </p:nvSpPr>
        <p:spPr>
          <a:xfrm>
            <a:off x="843516" y="1166160"/>
            <a:ext cx="10317970" cy="2554545"/>
          </a:xfrm>
          <a:prstGeom prst="rect">
            <a:avLst/>
          </a:prstGeom>
          <a:noFill/>
        </p:spPr>
        <p:txBody>
          <a:bodyPr wrap="square">
            <a:spAutoFit/>
          </a:bodyPr>
          <a:lstStyle/>
          <a:p>
            <a:r>
              <a:rPr lang="az-Latn-AZ" sz="2000" dirty="0" smtClean="0"/>
              <a:t>Xətti cəbri tənliklər sisteminin ən universal və effektli həll üsullarından biri </a:t>
            </a:r>
            <a:r>
              <a:rPr lang="az-Latn-AZ" sz="2000" b="1" dirty="0" smtClean="0"/>
              <a:t>Qauss</a:t>
            </a:r>
            <a:r>
              <a:rPr lang="az-Latn-AZ" sz="2000" dirty="0" smtClean="0"/>
              <a:t> üsuludur. Bu üsula bəzən məchulları ardıcıl yoxetmə üsulu da deyirlər. Xətti tənliklər sisteminin Qauss üsulu ilə həllində tənliklər sisteminin ekvivalentliyi (eynigüclüyü) nəzəriyyəsinin bu üsul ilə bağlı olan bəzi məsələlərini qeyd edək. Yəni verilmiş xətti tənliklər sisteminin həlli və araşdırılması zamanı verilən sistem üzərində elə çevirmələr aparmaq olar ki, alınmış sistem əvvəlki sistemə nəzərən daha sadə şəkildə olur. Eyni zamanda əvvəlki sistemlə eynigüclü olur. Təniklər üzərində aparılan çevirmələrə </a:t>
            </a:r>
            <a:r>
              <a:rPr lang="az-Latn-AZ" sz="2000" b="1" dirty="0" smtClean="0"/>
              <a:t>elementar çevirmələr </a:t>
            </a:r>
            <a:r>
              <a:rPr lang="az-Latn-AZ" sz="2000" dirty="0" smtClean="0"/>
              <a:t>deyilir. Bu çevirmələr aşağıdakılardır:</a:t>
            </a:r>
            <a:endParaRPr lang="az-Latn-AZ" sz="2000" dirty="0"/>
          </a:p>
        </p:txBody>
      </p:sp>
      <p:sp>
        <p:nvSpPr>
          <p:cNvPr id="5" name="TextBox 4">
            <a:extLst>
              <a:ext uri="{FF2B5EF4-FFF2-40B4-BE49-F238E27FC236}">
                <a16:creationId xmlns:a16="http://schemas.microsoft.com/office/drawing/2014/main" id="{BB3C5305-631C-E5FB-B299-AF3173FF1C9A}"/>
              </a:ext>
            </a:extLst>
          </p:cNvPr>
          <p:cNvSpPr txBox="1"/>
          <p:nvPr/>
        </p:nvSpPr>
        <p:spPr>
          <a:xfrm>
            <a:off x="1874030" y="3947573"/>
            <a:ext cx="7865055" cy="2585323"/>
          </a:xfrm>
          <a:prstGeom prst="rect">
            <a:avLst/>
          </a:prstGeom>
          <a:noFill/>
        </p:spPr>
        <p:txBody>
          <a:bodyPr wrap="square">
            <a:spAutoFit/>
          </a:bodyPr>
          <a:lstStyle/>
          <a:p>
            <a:pPr marL="342900" indent="-342900">
              <a:lnSpc>
                <a:spcPct val="150000"/>
              </a:lnSpc>
              <a:buAutoNum type="arabicPeriod"/>
            </a:pPr>
            <a:r>
              <a:rPr lang="az-Latn-AZ" dirty="0" smtClean="0"/>
              <a:t>Sistemin tənliklərindən bir və ya bir neçəsinin hər iki tərəfindəki bütün </a:t>
            </a:r>
            <a:r>
              <a:rPr lang="en-US" dirty="0" err="1" smtClean="0"/>
              <a:t>hədlərini</a:t>
            </a:r>
            <a:r>
              <a:rPr lang="en-US" dirty="0" smtClean="0"/>
              <a:t> </a:t>
            </a:r>
            <a:r>
              <a:rPr lang="en-US" dirty="0"/>
              <a:t>∀ </a:t>
            </a:r>
            <a:r>
              <a:rPr lang="el-GR" dirty="0"/>
              <a:t>γ ≠ 0 </a:t>
            </a:r>
            <a:r>
              <a:rPr lang="en-US" dirty="0" err="1"/>
              <a:t>ədədinə</a:t>
            </a:r>
            <a:r>
              <a:rPr lang="en-US" dirty="0"/>
              <a:t> </a:t>
            </a:r>
            <a:r>
              <a:rPr lang="en-US" dirty="0" err="1"/>
              <a:t>vurmaq</a:t>
            </a:r>
            <a:r>
              <a:rPr lang="en-US" dirty="0"/>
              <a:t> </a:t>
            </a:r>
            <a:r>
              <a:rPr lang="en-US" dirty="0" err="1"/>
              <a:t>və</a:t>
            </a:r>
            <a:r>
              <a:rPr lang="en-US" dirty="0"/>
              <a:t> </a:t>
            </a:r>
            <a:r>
              <a:rPr lang="en-US" dirty="0" err="1"/>
              <a:t>ya</a:t>
            </a:r>
            <a:r>
              <a:rPr lang="en-US" dirty="0"/>
              <a:t> </a:t>
            </a:r>
            <a:r>
              <a:rPr lang="en-US" dirty="0" err="1"/>
              <a:t>bölmək</a:t>
            </a:r>
            <a:r>
              <a:rPr lang="en-US" dirty="0"/>
              <a:t>.</a:t>
            </a:r>
            <a:endParaRPr lang="az-Latn-AZ" dirty="0"/>
          </a:p>
          <a:p>
            <a:pPr marL="342900" indent="-342900">
              <a:lnSpc>
                <a:spcPct val="150000"/>
              </a:lnSpc>
              <a:buAutoNum type="arabicPeriod"/>
            </a:pPr>
            <a:r>
              <a:rPr lang="en-US" dirty="0" err="1"/>
              <a:t>Sistemin</a:t>
            </a:r>
            <a:r>
              <a:rPr lang="en-US" dirty="0"/>
              <a:t> </a:t>
            </a:r>
            <a:r>
              <a:rPr lang="en-US" dirty="0" err="1"/>
              <a:t>tənliklərində</a:t>
            </a:r>
            <a:r>
              <a:rPr lang="en-US" dirty="0"/>
              <a:t> </a:t>
            </a:r>
            <a:r>
              <a:rPr lang="en-US" dirty="0" err="1"/>
              <a:t>hədlərin</a:t>
            </a:r>
            <a:r>
              <a:rPr lang="en-US" dirty="0"/>
              <a:t> </a:t>
            </a:r>
            <a:r>
              <a:rPr lang="en-US" dirty="0" err="1"/>
              <a:t>yerini</a:t>
            </a:r>
            <a:r>
              <a:rPr lang="en-US" dirty="0"/>
              <a:t> </a:t>
            </a:r>
            <a:r>
              <a:rPr lang="en-US" dirty="0" err="1"/>
              <a:t>dəyişmək</a:t>
            </a:r>
            <a:r>
              <a:rPr lang="en-US" dirty="0"/>
              <a:t>.</a:t>
            </a:r>
            <a:endParaRPr lang="az-Latn-AZ" dirty="0"/>
          </a:p>
          <a:p>
            <a:pPr marL="342900" indent="-342900">
              <a:lnSpc>
                <a:spcPct val="150000"/>
              </a:lnSpc>
              <a:buAutoNum type="arabicPeriod"/>
            </a:pPr>
            <a:r>
              <a:rPr lang="en-US" dirty="0" err="1"/>
              <a:t>Sistemin</a:t>
            </a:r>
            <a:r>
              <a:rPr lang="en-US" dirty="0"/>
              <a:t> </a:t>
            </a:r>
            <a:r>
              <a:rPr lang="en-US" dirty="0" err="1"/>
              <a:t>tənliklərinin</a:t>
            </a:r>
            <a:r>
              <a:rPr lang="en-US" dirty="0"/>
              <a:t> </a:t>
            </a:r>
            <a:r>
              <a:rPr lang="en-US" dirty="0" err="1"/>
              <a:t>yerini</a:t>
            </a:r>
            <a:r>
              <a:rPr lang="en-US" dirty="0"/>
              <a:t> </a:t>
            </a:r>
            <a:r>
              <a:rPr lang="en-US" dirty="0" err="1"/>
              <a:t>istənilən</a:t>
            </a:r>
            <a:r>
              <a:rPr lang="en-US" dirty="0"/>
              <a:t> </a:t>
            </a:r>
            <a:r>
              <a:rPr lang="en-US" dirty="0" err="1"/>
              <a:t>qayda</a:t>
            </a:r>
            <a:r>
              <a:rPr lang="en-US" dirty="0"/>
              <a:t> </a:t>
            </a:r>
            <a:r>
              <a:rPr lang="en-US" dirty="0" err="1"/>
              <a:t>ilə</a:t>
            </a:r>
            <a:r>
              <a:rPr lang="en-US" dirty="0"/>
              <a:t> </a:t>
            </a:r>
            <a:r>
              <a:rPr lang="en-US" dirty="0" err="1"/>
              <a:t>dəyişmək</a:t>
            </a:r>
            <a:r>
              <a:rPr lang="en-US" dirty="0"/>
              <a:t>.</a:t>
            </a:r>
            <a:endParaRPr lang="az-Latn-AZ" dirty="0"/>
          </a:p>
          <a:p>
            <a:pPr marL="342900" indent="-342900">
              <a:lnSpc>
                <a:spcPct val="150000"/>
              </a:lnSpc>
              <a:buAutoNum type="arabicPeriod"/>
            </a:pPr>
            <a:r>
              <a:rPr lang="en-US" dirty="0" err="1"/>
              <a:t>Sistemin</a:t>
            </a:r>
            <a:r>
              <a:rPr lang="en-US" dirty="0"/>
              <a:t> </a:t>
            </a:r>
            <a:r>
              <a:rPr lang="en-US" dirty="0" err="1"/>
              <a:t>ixtiyari</a:t>
            </a:r>
            <a:r>
              <a:rPr lang="en-US" dirty="0"/>
              <a:t> </a:t>
            </a:r>
            <a:r>
              <a:rPr lang="en-US" dirty="0" err="1"/>
              <a:t>bir</a:t>
            </a:r>
            <a:r>
              <a:rPr lang="en-US" dirty="0"/>
              <a:t> </a:t>
            </a:r>
            <a:r>
              <a:rPr lang="en-US" dirty="0" err="1"/>
              <a:t>tənliyini</a:t>
            </a:r>
            <a:r>
              <a:rPr lang="en-US" dirty="0"/>
              <a:t> </a:t>
            </a:r>
            <a:r>
              <a:rPr lang="en-US" dirty="0" err="1"/>
              <a:t>hər</a:t>
            </a:r>
            <a:r>
              <a:rPr lang="en-US" dirty="0"/>
              <a:t> </a:t>
            </a:r>
            <a:r>
              <a:rPr lang="en-US" dirty="0" err="1"/>
              <a:t>hansı</a:t>
            </a:r>
            <a:r>
              <a:rPr lang="en-US" dirty="0"/>
              <a:t> </a:t>
            </a:r>
            <a:r>
              <a:rPr lang="en-US" dirty="0" err="1"/>
              <a:t>bir</a:t>
            </a:r>
            <a:r>
              <a:rPr lang="en-US" dirty="0"/>
              <a:t> </a:t>
            </a:r>
            <a:r>
              <a:rPr lang="en-US" dirty="0" err="1"/>
              <a:t>ədədə</a:t>
            </a:r>
            <a:r>
              <a:rPr lang="en-US" dirty="0"/>
              <a:t> </a:t>
            </a:r>
            <a:r>
              <a:rPr lang="en-US" dirty="0" err="1"/>
              <a:t>vurub</a:t>
            </a:r>
            <a:r>
              <a:rPr lang="en-US" dirty="0"/>
              <a:t>, </a:t>
            </a:r>
            <a:r>
              <a:rPr lang="en-US" dirty="0" err="1"/>
              <a:t>nəticəni</a:t>
            </a:r>
            <a:r>
              <a:rPr lang="en-US" dirty="0"/>
              <a:t> </a:t>
            </a:r>
            <a:r>
              <a:rPr lang="en-US" dirty="0" err="1"/>
              <a:t>sistemin</a:t>
            </a:r>
            <a:r>
              <a:rPr lang="en-US" dirty="0"/>
              <a:t> </a:t>
            </a:r>
            <a:r>
              <a:rPr lang="en-US" dirty="0" err="1"/>
              <a:t>başqa</a:t>
            </a:r>
            <a:r>
              <a:rPr lang="en-US" dirty="0"/>
              <a:t> </a:t>
            </a:r>
            <a:r>
              <a:rPr lang="en-US" dirty="0" err="1"/>
              <a:t>bir</a:t>
            </a:r>
            <a:r>
              <a:rPr lang="en-US" dirty="0"/>
              <a:t> </a:t>
            </a:r>
            <a:r>
              <a:rPr lang="en-US" dirty="0" err="1"/>
              <a:t>tənliyi</a:t>
            </a:r>
            <a:r>
              <a:rPr lang="en-US" dirty="0"/>
              <a:t> </a:t>
            </a:r>
            <a:r>
              <a:rPr lang="en-US" dirty="0" err="1"/>
              <a:t>ilə</a:t>
            </a:r>
            <a:r>
              <a:rPr lang="en-US" dirty="0"/>
              <a:t> </a:t>
            </a:r>
            <a:r>
              <a:rPr lang="en-US" dirty="0" err="1"/>
              <a:t>toplamaq</a:t>
            </a:r>
            <a:r>
              <a:rPr lang="en-US" dirty="0"/>
              <a:t> </a:t>
            </a:r>
            <a:r>
              <a:rPr lang="en-US" dirty="0" err="1"/>
              <a:t>və</a:t>
            </a:r>
            <a:r>
              <a:rPr lang="en-US" dirty="0"/>
              <a:t> </a:t>
            </a:r>
            <a:r>
              <a:rPr lang="en-US" dirty="0" err="1"/>
              <a:t>ya</a:t>
            </a:r>
            <a:r>
              <a:rPr lang="en-US" dirty="0"/>
              <a:t> </a:t>
            </a:r>
            <a:r>
              <a:rPr lang="en-US" dirty="0" err="1"/>
              <a:t>çıxmaq</a:t>
            </a:r>
            <a:r>
              <a:rPr lang="en-US" dirty="0"/>
              <a:t>.</a:t>
            </a:r>
          </a:p>
        </p:txBody>
      </p:sp>
    </p:spTree>
    <p:extLst>
      <p:ext uri="{BB962C8B-B14F-4D97-AF65-F5344CB8AC3E}">
        <p14:creationId xmlns:p14="http://schemas.microsoft.com/office/powerpoint/2010/main" val="949123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ətn Qutusu 20">
            <a:extLst>
              <a:ext uri="{FF2B5EF4-FFF2-40B4-BE49-F238E27FC236}">
                <a16:creationId xmlns:a16="http://schemas.microsoft.com/office/drawing/2014/main" id="{B8F79AE4-C1E0-E845-5B24-49FBCC47856F}"/>
              </a:ext>
            </a:extLst>
          </p:cNvPr>
          <p:cNvSpPr txBox="1"/>
          <p:nvPr/>
        </p:nvSpPr>
        <p:spPr>
          <a:xfrm>
            <a:off x="130628" y="16873"/>
            <a:ext cx="11654971" cy="132343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spcBef>
                <a:spcPts val="0"/>
              </a:spcBef>
              <a:spcAft>
                <a:spcPts val="0"/>
              </a:spcAft>
              <a:buClrTx/>
              <a:buSzTx/>
              <a:buFontTx/>
              <a:buNone/>
              <a:tabLst/>
              <a:defRPr/>
            </a:pPr>
            <a:r>
              <a:rPr lang="az-Latn-AZ" sz="4000" b="1" dirty="0">
                <a:solidFill>
                  <a:srgbClr val="282824"/>
                </a:solidFill>
                <a:latin typeface="Montserrat Black" pitchFamily="2" charset="0"/>
                <a:ea typeface="Lato Bold" pitchFamily="34" charset="-122"/>
                <a:cs typeface="Lato Bold" pitchFamily="34" charset="-120"/>
              </a:rPr>
              <a:t>Xətti tənliklər sisteminin matris şəkli və onun həlli</a:t>
            </a:r>
            <a:endParaRPr kumimoji="0" lang="en-US" sz="4000" b="0" i="0" u="none" strike="noStrike" kern="1200" cap="none" spc="0" normalizeH="0" baseline="0" noProof="0" dirty="0">
              <a:ln>
                <a:noFill/>
              </a:ln>
              <a:solidFill>
                <a:prstClr val="black"/>
              </a:solidFill>
              <a:effectLst/>
              <a:uLnTx/>
              <a:uFillTx/>
              <a:latin typeface="Calibri" panose="020F0502020204030204"/>
            </a:endParaRPr>
          </a:p>
        </p:txBody>
      </p:sp>
      <p:sp>
        <p:nvSpPr>
          <p:cNvPr id="3" name="Mətn Qutusu 4">
            <a:extLst>
              <a:ext uri="{FF2B5EF4-FFF2-40B4-BE49-F238E27FC236}">
                <a16:creationId xmlns:a16="http://schemas.microsoft.com/office/drawing/2014/main" id="{658E895E-9F06-B9E9-39BE-310BB841CDFE}"/>
              </a:ext>
            </a:extLst>
          </p:cNvPr>
          <p:cNvSpPr txBox="1"/>
          <p:nvPr/>
        </p:nvSpPr>
        <p:spPr>
          <a:xfrm>
            <a:off x="621931" y="1591274"/>
            <a:ext cx="11570069" cy="1208023"/>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ts val="2850"/>
              </a:lnSpc>
              <a:defRPr/>
            </a:pPr>
            <a:r>
              <a:rPr lang="az-Latn-AZ" sz="2800" b="1" dirty="0">
                <a:solidFill>
                  <a:srgbClr val="4A4A45"/>
                </a:solidFill>
                <a:latin typeface="Montserrat Black" pitchFamily="2" charset="0"/>
                <a:ea typeface="Lato" pitchFamily="34" charset="-122"/>
                <a:cs typeface="Lato" pitchFamily="34" charset="-120"/>
              </a:rPr>
              <a:t>Tutaqki, n məchullu n </a:t>
            </a:r>
            <a:r>
              <a:rPr lang="az-Latn-AZ" sz="2800" b="1" dirty="0" smtClean="0">
                <a:solidFill>
                  <a:srgbClr val="4A4A45"/>
                </a:solidFill>
                <a:latin typeface="Montserrat Black" pitchFamily="2" charset="0"/>
                <a:ea typeface="Lato" pitchFamily="34" charset="-122"/>
                <a:cs typeface="Lato" pitchFamily="34" charset="-120"/>
              </a:rPr>
              <a:t>xətti tənliklər </a:t>
            </a:r>
            <a:r>
              <a:rPr lang="az-Latn-AZ" sz="2800" b="1" dirty="0">
                <a:solidFill>
                  <a:srgbClr val="4A4A45"/>
                </a:solidFill>
                <a:latin typeface="Montserrat Black" pitchFamily="2" charset="0"/>
                <a:ea typeface="Lato" pitchFamily="34" charset="-122"/>
                <a:cs typeface="Lato" pitchFamily="34" charset="-120"/>
              </a:rPr>
              <a:t>sistemi verilmişdir və məchulların əmsallarından düzəlmiş əsas matrisin determinantı sıfırdan fərqlidir</a:t>
            </a:r>
          </a:p>
        </p:txBody>
      </p:sp>
      <p:pic>
        <p:nvPicPr>
          <p:cNvPr id="4" name="Şəkil 9">
            <a:extLst>
              <a:ext uri="{FF2B5EF4-FFF2-40B4-BE49-F238E27FC236}">
                <a16:creationId xmlns:a16="http://schemas.microsoft.com/office/drawing/2014/main" id="{B2201810-4476-8B08-3824-C7D0ED98ABA1}"/>
              </a:ext>
            </a:extLst>
          </p:cNvPr>
          <p:cNvPicPr>
            <a:picLocks noChangeAspect="1"/>
          </p:cNvPicPr>
          <p:nvPr/>
        </p:nvPicPr>
        <p:blipFill>
          <a:blip r:embed="rId2"/>
          <a:stretch>
            <a:fillRect/>
          </a:stretch>
        </p:blipFill>
        <p:spPr>
          <a:xfrm>
            <a:off x="304800" y="3308799"/>
            <a:ext cx="5167086" cy="2216244"/>
          </a:xfrm>
          <a:prstGeom prst="rect">
            <a:avLst/>
          </a:prstGeom>
        </p:spPr>
      </p:pic>
      <p:sp>
        <p:nvSpPr>
          <p:cNvPr id="5" name="Mətn Qutusu 18">
            <a:extLst>
              <a:ext uri="{FF2B5EF4-FFF2-40B4-BE49-F238E27FC236}">
                <a16:creationId xmlns:a16="http://schemas.microsoft.com/office/drawing/2014/main" id="{C5CE73FC-3BF3-F60F-21BC-054614E8E63B}"/>
              </a:ext>
            </a:extLst>
          </p:cNvPr>
          <p:cNvSpPr txBox="1"/>
          <p:nvPr/>
        </p:nvSpPr>
        <p:spPr>
          <a:xfrm>
            <a:off x="6529391" y="3439428"/>
            <a:ext cx="5662609" cy="83612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ts val="2850"/>
              </a:lnSpc>
              <a:defRPr/>
            </a:pPr>
            <a:r>
              <a:rPr lang="az-Latn-AZ" sz="3200" dirty="0">
                <a:solidFill>
                  <a:srgbClr val="4A4A45"/>
                </a:solidFill>
                <a:latin typeface="Montserrat Black" pitchFamily="2" charset="0"/>
                <a:ea typeface="Lato" pitchFamily="34" charset="-122"/>
                <a:cs typeface="Lato" pitchFamily="34" charset="-120"/>
              </a:rPr>
              <a:t>Bu tənliklər matris formasında aşağıdakı kimi yazıla bilər:</a:t>
            </a:r>
          </a:p>
        </p:txBody>
      </p:sp>
      <p:pic>
        <p:nvPicPr>
          <p:cNvPr id="6" name="Şəkil 16">
            <a:extLst>
              <a:ext uri="{FF2B5EF4-FFF2-40B4-BE49-F238E27FC236}">
                <a16:creationId xmlns:a16="http://schemas.microsoft.com/office/drawing/2014/main" id="{8B65D102-C6E8-70F7-2F93-E0B2E12E7A0E}"/>
              </a:ext>
            </a:extLst>
          </p:cNvPr>
          <p:cNvPicPr>
            <a:picLocks noChangeAspect="1"/>
          </p:cNvPicPr>
          <p:nvPr/>
        </p:nvPicPr>
        <p:blipFill>
          <a:blip r:embed="rId3"/>
          <a:stretch>
            <a:fillRect/>
          </a:stretch>
        </p:blipFill>
        <p:spPr>
          <a:xfrm>
            <a:off x="8247156" y="4470990"/>
            <a:ext cx="2614993" cy="1050885"/>
          </a:xfrm>
          <a:prstGeom prst="rect">
            <a:avLst/>
          </a:prstGeom>
        </p:spPr>
      </p:pic>
    </p:spTree>
    <p:extLst>
      <p:ext uri="{BB962C8B-B14F-4D97-AF65-F5344CB8AC3E}">
        <p14:creationId xmlns:p14="http://schemas.microsoft.com/office/powerpoint/2010/main" val="23638885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16A4AB5-2107-EFEF-4404-10D7AC5ABAFD}"/>
              </a:ext>
            </a:extLst>
          </p:cNvPr>
          <p:cNvSpPr/>
          <p:nvPr/>
        </p:nvSpPr>
        <p:spPr>
          <a:xfrm>
            <a:off x="1083404" y="244324"/>
            <a:ext cx="10368367" cy="708779"/>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5550"/>
              </a:lnSpc>
              <a:buNone/>
            </a:pPr>
            <a:r>
              <a:rPr lang="az-Latn-AZ" sz="4400" b="1" dirty="0" smtClean="0">
                <a:solidFill>
                  <a:srgbClr val="282824"/>
                </a:solidFill>
                <a:latin typeface="Montserrat Black" pitchFamily="2" charset="0"/>
                <a:ea typeface="Lato Bold" pitchFamily="34" charset="-122"/>
                <a:cs typeface="Lato Bold" pitchFamily="34" charset="-120"/>
              </a:rPr>
              <a:t>Xətti Və Xətti Asılı Olmayan Vektorlar</a:t>
            </a:r>
            <a:endParaRPr lang="az-Latn-AZ" sz="4400" b="1" dirty="0">
              <a:solidFill>
                <a:srgbClr val="282824"/>
              </a:solidFill>
              <a:latin typeface="Montserrat Black" pitchFamily="2" charset="0"/>
              <a:ea typeface="Lato Bold" pitchFamily="34" charset="-122"/>
              <a:cs typeface="Lato Bold" pitchFamily="34" charset="-120"/>
            </a:endParaRPr>
          </a:p>
        </p:txBody>
      </p:sp>
      <mc:AlternateContent xmlns:mc="http://schemas.openxmlformats.org/markup-compatibility/2006">
        <mc:Choice xmlns:a14="http://schemas.microsoft.com/office/drawing/2010/main" Requires="a14">
          <p:sp>
            <p:nvSpPr>
              <p:cNvPr id="3" name="Rectangle 2"/>
              <p:cNvSpPr/>
              <p:nvPr/>
            </p:nvSpPr>
            <p:spPr>
              <a:xfrm>
                <a:off x="870857" y="1420950"/>
                <a:ext cx="8781143" cy="2092881"/>
              </a:xfrm>
              <a:prstGeom prst="rect">
                <a:avLst/>
              </a:prstGeom>
            </p:spPr>
            <p:txBody>
              <a:bodyPr wrap="square">
                <a:spAutoFit/>
              </a:bodyPr>
              <a:lstStyle/>
              <a:p>
                <a:r>
                  <a:rPr lang="az-Latn-AZ" sz="2800" b="1" dirty="0" smtClean="0">
                    <a:solidFill>
                      <a:srgbClr val="4A4A45"/>
                    </a:solidFill>
                    <a:latin typeface="Montserrat Black" pitchFamily="2" charset="0"/>
                    <a:ea typeface="Lato" pitchFamily="34" charset="-122"/>
                    <a:cs typeface="Lato" pitchFamily="34" charset="-120"/>
                  </a:rPr>
                  <a:t>Vektorların</a:t>
                </a:r>
                <a:r>
                  <a:rPr lang="az-Latn-AZ" sz="2800" b="1" dirty="0">
                    <a:solidFill>
                      <a:srgbClr val="4A4A45"/>
                    </a:solidFill>
                    <a:latin typeface="Montserrat Black" pitchFamily="2" charset="0"/>
                    <a:ea typeface="Lato" pitchFamily="34" charset="-122"/>
                    <a:cs typeface="Lato" pitchFamily="34" charset="-120"/>
                  </a:rPr>
                  <a:t> xətti asılılığı: Verilmiş vektorları və həqiqi ədədləri vasitəsilə düzəldilmiş </a:t>
                </a:r>
                <a14:m>
                  <m:oMath xmlns:m="http://schemas.openxmlformats.org/officeDocument/2006/math">
                    <m:sSub>
                      <m:sSubPr>
                        <m:ctrlPr>
                          <a:rPr lang="az-Latn-AZ" sz="2800" b="1" i="1">
                            <a:latin typeface="Cambria Math" panose="02040503050406030204" pitchFamily="18" charset="0"/>
                          </a:rPr>
                        </m:ctrlPr>
                      </m:sSubPr>
                      <m:e>
                        <m:r>
                          <a:rPr lang="az-Latn-AZ" sz="2800" b="1">
                            <a:latin typeface="Cambria Math" panose="02040503050406030204" pitchFamily="18" charset="0"/>
                            <a:ea typeface="Cambria Math" panose="02040503050406030204" pitchFamily="18" charset="0"/>
                          </a:rPr>
                          <m:t>𝛂</m:t>
                        </m:r>
                      </m:e>
                      <m:sub>
                        <m:r>
                          <a:rPr lang="az-Latn-AZ" sz="2800" b="1">
                            <a:latin typeface="Cambria Math" panose="02040503050406030204" pitchFamily="18" charset="0"/>
                          </a:rPr>
                          <m:t>𝟏</m:t>
                        </m:r>
                      </m:sub>
                    </m:sSub>
                    <m:acc>
                      <m:accPr>
                        <m:chr m:val="⃑"/>
                        <m:ctrlPr>
                          <a:rPr lang="az-Latn-AZ" sz="2800" b="1" i="1">
                            <a:latin typeface="Cambria Math" panose="02040503050406030204" pitchFamily="18" charset="0"/>
                          </a:rPr>
                        </m:ctrlPr>
                      </m:accPr>
                      <m:e>
                        <m:sSub>
                          <m:sSubPr>
                            <m:ctrlPr>
                              <a:rPr lang="az-Latn-AZ" sz="2800" b="1" i="1">
                                <a:latin typeface="Cambria Math" panose="02040503050406030204" pitchFamily="18" charset="0"/>
                              </a:rPr>
                            </m:ctrlPr>
                          </m:sSubPr>
                          <m:e>
                            <m:r>
                              <a:rPr lang="az-Latn-AZ" sz="2800" b="1">
                                <a:latin typeface="Cambria Math" panose="02040503050406030204" pitchFamily="18" charset="0"/>
                              </a:rPr>
                              <m:t>𝐚</m:t>
                            </m:r>
                          </m:e>
                          <m:sub>
                            <m:r>
                              <a:rPr lang="az-Latn-AZ" sz="2800" b="1">
                                <a:latin typeface="Cambria Math" panose="02040503050406030204" pitchFamily="18" charset="0"/>
                              </a:rPr>
                              <m:t>𝟏</m:t>
                            </m:r>
                          </m:sub>
                        </m:sSub>
                      </m:e>
                    </m:acc>
                    <m:r>
                      <a:rPr lang="az-Latn-AZ" sz="2800" b="1">
                        <a:latin typeface="Cambria Math" panose="02040503050406030204" pitchFamily="18" charset="0"/>
                      </a:rPr>
                      <m:t>+ </m:t>
                    </m:r>
                    <m:sSub>
                      <m:sSubPr>
                        <m:ctrlPr>
                          <a:rPr lang="az-Latn-AZ" sz="2800" b="1" i="1">
                            <a:latin typeface="Cambria Math" panose="02040503050406030204" pitchFamily="18" charset="0"/>
                          </a:rPr>
                        </m:ctrlPr>
                      </m:sSubPr>
                      <m:e>
                        <m:r>
                          <a:rPr lang="az-Latn-AZ" sz="2800" b="1">
                            <a:latin typeface="Cambria Math" panose="02040503050406030204" pitchFamily="18" charset="0"/>
                            <a:ea typeface="Cambria Math" panose="02040503050406030204" pitchFamily="18" charset="0"/>
                          </a:rPr>
                          <m:t>𝛂</m:t>
                        </m:r>
                      </m:e>
                      <m:sub>
                        <m:r>
                          <a:rPr lang="az-Latn-AZ" sz="2800" b="1">
                            <a:latin typeface="Cambria Math" panose="02040503050406030204" pitchFamily="18" charset="0"/>
                          </a:rPr>
                          <m:t>𝟐</m:t>
                        </m:r>
                      </m:sub>
                    </m:sSub>
                    <m:acc>
                      <m:accPr>
                        <m:chr m:val="⃑"/>
                        <m:ctrlPr>
                          <a:rPr lang="az-Latn-AZ" sz="2800" b="1" i="1">
                            <a:latin typeface="Cambria Math" panose="02040503050406030204" pitchFamily="18" charset="0"/>
                          </a:rPr>
                        </m:ctrlPr>
                      </m:accPr>
                      <m:e>
                        <m:sSub>
                          <m:sSubPr>
                            <m:ctrlPr>
                              <a:rPr lang="az-Latn-AZ" sz="2800" b="1" i="1">
                                <a:latin typeface="Cambria Math" panose="02040503050406030204" pitchFamily="18" charset="0"/>
                              </a:rPr>
                            </m:ctrlPr>
                          </m:sSubPr>
                          <m:e>
                            <m:r>
                              <a:rPr lang="az-Latn-AZ" sz="2800" b="1">
                                <a:latin typeface="Cambria Math" panose="02040503050406030204" pitchFamily="18" charset="0"/>
                              </a:rPr>
                              <m:t>𝐚</m:t>
                            </m:r>
                          </m:e>
                          <m:sub>
                            <m:r>
                              <a:rPr lang="az-Latn-AZ" sz="2800" b="1">
                                <a:latin typeface="Cambria Math" panose="02040503050406030204" pitchFamily="18" charset="0"/>
                              </a:rPr>
                              <m:t>𝟐</m:t>
                            </m:r>
                          </m:sub>
                        </m:sSub>
                      </m:e>
                    </m:acc>
                    <m:r>
                      <a:rPr lang="az-Latn-AZ" sz="2800" b="1">
                        <a:latin typeface="Cambria Math" panose="02040503050406030204" pitchFamily="18" charset="0"/>
                      </a:rPr>
                      <m:t>+ …+ </m:t>
                    </m:r>
                    <m:sSub>
                      <m:sSubPr>
                        <m:ctrlPr>
                          <a:rPr lang="az-Latn-AZ" sz="2800" b="1" i="1">
                            <a:latin typeface="Cambria Math" panose="02040503050406030204" pitchFamily="18" charset="0"/>
                          </a:rPr>
                        </m:ctrlPr>
                      </m:sSubPr>
                      <m:e>
                        <m:r>
                          <a:rPr lang="az-Latn-AZ" sz="2800" b="1">
                            <a:latin typeface="Cambria Math" panose="02040503050406030204" pitchFamily="18" charset="0"/>
                            <a:ea typeface="Cambria Math" panose="02040503050406030204" pitchFamily="18" charset="0"/>
                          </a:rPr>
                          <m:t>𝛂</m:t>
                        </m:r>
                      </m:e>
                      <m:sub>
                        <m:r>
                          <a:rPr lang="az-Latn-AZ" sz="2800" b="1">
                            <a:latin typeface="Cambria Math" panose="02040503050406030204" pitchFamily="18" charset="0"/>
                          </a:rPr>
                          <m:t>𝐧</m:t>
                        </m:r>
                      </m:sub>
                    </m:sSub>
                    <m:acc>
                      <m:accPr>
                        <m:chr m:val="⃑"/>
                        <m:ctrlPr>
                          <a:rPr lang="az-Latn-AZ" sz="2800" b="1" i="1">
                            <a:latin typeface="Cambria Math" panose="02040503050406030204" pitchFamily="18" charset="0"/>
                          </a:rPr>
                        </m:ctrlPr>
                      </m:accPr>
                      <m:e>
                        <m:sSub>
                          <m:sSubPr>
                            <m:ctrlPr>
                              <a:rPr lang="az-Latn-AZ" sz="2800" b="1" i="1">
                                <a:latin typeface="Cambria Math" panose="02040503050406030204" pitchFamily="18" charset="0"/>
                              </a:rPr>
                            </m:ctrlPr>
                          </m:sSubPr>
                          <m:e>
                            <m:r>
                              <a:rPr lang="az-Latn-AZ" sz="2800" b="1">
                                <a:latin typeface="Cambria Math" panose="02040503050406030204" pitchFamily="18" charset="0"/>
                              </a:rPr>
                              <m:t>𝐚</m:t>
                            </m:r>
                          </m:e>
                          <m:sub>
                            <m:r>
                              <a:rPr lang="az-Latn-AZ" sz="2800" b="1">
                                <a:latin typeface="Cambria Math" panose="02040503050406030204" pitchFamily="18" charset="0"/>
                              </a:rPr>
                              <m:t>𝐧</m:t>
                            </m:r>
                          </m:sub>
                        </m:sSub>
                      </m:e>
                    </m:acc>
                  </m:oMath>
                </a14:m>
                <a:r>
                  <a:rPr lang="az-Latn-AZ" sz="2000" b="1" dirty="0"/>
                  <a:t> </a:t>
                </a:r>
                <a:r>
                  <a:rPr lang="az-Latn-AZ" sz="2800" b="1" dirty="0">
                    <a:solidFill>
                      <a:srgbClr val="4A4A45"/>
                    </a:solidFill>
                    <a:latin typeface="Montserrat Black" pitchFamily="2" charset="0"/>
                    <a:ea typeface="Lato" pitchFamily="34" charset="-122"/>
                    <a:cs typeface="Lato" pitchFamily="34" charset="-120"/>
                  </a:rPr>
                  <a:t>ifadəsinə həmin vektorların xətti kombinasiyası deyilir.</a:t>
                </a:r>
              </a:p>
              <a:p>
                <a:endParaRPr lang="az-Latn-AZ" dirty="0">
                  <a:solidFill>
                    <a:srgbClr val="4A4A45"/>
                  </a:solidFill>
                  <a:latin typeface="Montserrat Black" pitchFamily="2" charset="0"/>
                  <a:ea typeface="Lato" pitchFamily="34" charset="-122"/>
                  <a:cs typeface="Lato" pitchFamily="34" charset="-120"/>
                </a:endParaRPr>
              </a:p>
            </p:txBody>
          </p:sp>
        </mc:Choice>
        <mc:Fallback>
          <p:sp>
            <p:nvSpPr>
              <p:cNvPr id="3" name="Rectangle 2"/>
              <p:cNvSpPr>
                <a:spLocks noRot="1" noChangeAspect="1" noMove="1" noResize="1" noEditPoints="1" noAdjustHandles="1" noChangeArrowheads="1" noChangeShapeType="1" noTextEdit="1"/>
              </p:cNvSpPr>
              <p:nvPr/>
            </p:nvSpPr>
            <p:spPr>
              <a:xfrm>
                <a:off x="870857" y="1420950"/>
                <a:ext cx="8781143" cy="2092881"/>
              </a:xfrm>
              <a:prstGeom prst="rect">
                <a:avLst/>
              </a:prstGeom>
              <a:blipFill>
                <a:blip r:embed="rId2"/>
                <a:stretch>
                  <a:fillRect l="-1458" t="-2915" r="-69"/>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4" name="Rectangle 3"/>
              <p:cNvSpPr/>
              <p:nvPr/>
            </p:nvSpPr>
            <p:spPr>
              <a:xfrm>
                <a:off x="870857" y="3749450"/>
                <a:ext cx="8476342" cy="2135393"/>
              </a:xfrm>
              <a:prstGeom prst="rect">
                <a:avLst/>
              </a:prstGeom>
            </p:spPr>
            <p:txBody>
              <a:bodyPr wrap="square">
                <a:spAutoFit/>
              </a:bodyPr>
              <a:lstStyle/>
              <a:p>
                <a:r>
                  <a:rPr lang="en-US" sz="3200" b="1" dirty="0">
                    <a:solidFill>
                      <a:srgbClr val="4A4A45"/>
                    </a:solidFill>
                    <a:latin typeface="Montserrat Black" pitchFamily="2" charset="0"/>
                    <a:ea typeface="Lato" pitchFamily="34" charset="-122"/>
                    <a:cs typeface="Lato" pitchFamily="34" charset="-120"/>
                  </a:rPr>
                  <a:t>Əgər</a:t>
                </a:r>
                <a:r>
                  <a:rPr lang="en-US" sz="3200" b="1" dirty="0">
                    <a:solidFill>
                      <a:srgbClr val="4A4A45"/>
                    </a:solidFill>
                    <a:latin typeface="Montserrat Black" pitchFamily="2" charset="0"/>
                    <a:ea typeface="Lato" pitchFamily="34" charset="-122"/>
                    <a:cs typeface="Lato" pitchFamily="34" charset="-120"/>
                  </a:rPr>
                  <a:t> </a:t>
                </a:r>
                <a14:m>
                  <m:oMath xmlns:m="http://schemas.openxmlformats.org/officeDocument/2006/math">
                    <m:acc>
                      <m:accPr>
                        <m:chr m:val="⃑"/>
                        <m:ctrlPr>
                          <a:rPr lang="az-Latn-AZ" sz="3200" b="1" i="1">
                            <a:latin typeface="Cambria Math" panose="02040503050406030204" pitchFamily="18" charset="0"/>
                          </a:rPr>
                        </m:ctrlPr>
                      </m:accPr>
                      <m:e>
                        <m:r>
                          <a:rPr lang="az-Latn-AZ" sz="3200" b="1" i="1">
                            <a:latin typeface="Cambria Math" panose="02040503050406030204" pitchFamily="18" charset="0"/>
                          </a:rPr>
                          <m:t>𝒃</m:t>
                        </m:r>
                      </m:e>
                    </m:acc>
                    <m:r>
                      <a:rPr lang="az-Latn-AZ" sz="3200" b="1" i="1">
                        <a:latin typeface="Cambria Math" panose="02040503050406030204" pitchFamily="18" charset="0"/>
                      </a:rPr>
                      <m:t>= </m:t>
                    </m:r>
                    <m:sSub>
                      <m:sSubPr>
                        <m:ctrlPr>
                          <a:rPr lang="az-Latn-AZ" sz="3200" b="1" i="1">
                            <a:latin typeface="Cambria Math" panose="02040503050406030204" pitchFamily="18" charset="0"/>
                          </a:rPr>
                        </m:ctrlPr>
                      </m:sSubPr>
                      <m:e>
                        <m:r>
                          <a:rPr lang="az-Latn-AZ" sz="3200" b="1" i="1">
                            <a:latin typeface="Cambria Math" panose="02040503050406030204" pitchFamily="18" charset="0"/>
                            <a:ea typeface="Cambria Math" panose="02040503050406030204" pitchFamily="18" charset="0"/>
                          </a:rPr>
                          <m:t>𝜶</m:t>
                        </m:r>
                      </m:e>
                      <m:sub>
                        <m:r>
                          <a:rPr lang="az-Latn-AZ" sz="3200" b="1" i="1">
                            <a:latin typeface="Cambria Math" panose="02040503050406030204" pitchFamily="18" charset="0"/>
                          </a:rPr>
                          <m:t>𝟏</m:t>
                        </m:r>
                      </m:sub>
                    </m:sSub>
                    <m:acc>
                      <m:accPr>
                        <m:chr m:val="⃑"/>
                        <m:ctrlPr>
                          <a:rPr lang="az-Latn-AZ" sz="3200" b="1" i="1">
                            <a:latin typeface="Cambria Math" panose="02040503050406030204" pitchFamily="18" charset="0"/>
                          </a:rPr>
                        </m:ctrlPr>
                      </m:accPr>
                      <m:e>
                        <m:sSub>
                          <m:sSubPr>
                            <m:ctrlPr>
                              <a:rPr lang="az-Latn-AZ" sz="3200" b="1" i="1">
                                <a:latin typeface="Cambria Math" panose="02040503050406030204" pitchFamily="18" charset="0"/>
                              </a:rPr>
                            </m:ctrlPr>
                          </m:sSubPr>
                          <m:e>
                            <m:r>
                              <a:rPr lang="az-Latn-AZ" sz="3200" b="1" i="1">
                                <a:latin typeface="Cambria Math" panose="02040503050406030204" pitchFamily="18" charset="0"/>
                              </a:rPr>
                              <m:t>𝒂</m:t>
                            </m:r>
                          </m:e>
                          <m:sub>
                            <m:r>
                              <a:rPr lang="az-Latn-AZ" sz="3200" b="1" i="1">
                                <a:latin typeface="Cambria Math" panose="02040503050406030204" pitchFamily="18" charset="0"/>
                              </a:rPr>
                              <m:t>𝟏</m:t>
                            </m:r>
                          </m:sub>
                        </m:sSub>
                      </m:e>
                    </m:acc>
                    <m:r>
                      <a:rPr lang="az-Latn-AZ" sz="3200" b="1" i="1">
                        <a:latin typeface="Cambria Math" panose="02040503050406030204" pitchFamily="18" charset="0"/>
                      </a:rPr>
                      <m:t> +</m:t>
                    </m:r>
                    <m:sSub>
                      <m:sSubPr>
                        <m:ctrlPr>
                          <a:rPr lang="az-Latn-AZ" sz="3200" b="1" i="1">
                            <a:latin typeface="Cambria Math" panose="02040503050406030204" pitchFamily="18" charset="0"/>
                          </a:rPr>
                        </m:ctrlPr>
                      </m:sSubPr>
                      <m:e>
                        <m:r>
                          <a:rPr lang="az-Latn-AZ" sz="3200" b="1" i="1">
                            <a:latin typeface="Cambria Math" panose="02040503050406030204" pitchFamily="18" charset="0"/>
                            <a:ea typeface="Cambria Math" panose="02040503050406030204" pitchFamily="18" charset="0"/>
                          </a:rPr>
                          <m:t>𝜶</m:t>
                        </m:r>
                      </m:e>
                      <m:sub>
                        <m:r>
                          <a:rPr lang="en-US" sz="3200" b="1" i="1">
                            <a:latin typeface="Cambria Math" panose="02040503050406030204" pitchFamily="18" charset="0"/>
                            <a:ea typeface="Cambria Math" panose="02040503050406030204" pitchFamily="18" charset="0"/>
                          </a:rPr>
                          <m:t>𝟐</m:t>
                        </m:r>
                      </m:sub>
                    </m:sSub>
                    <m:acc>
                      <m:accPr>
                        <m:chr m:val="⃑"/>
                        <m:ctrlPr>
                          <a:rPr lang="az-Latn-AZ" sz="3200" b="1" i="1">
                            <a:latin typeface="Cambria Math" panose="02040503050406030204" pitchFamily="18" charset="0"/>
                          </a:rPr>
                        </m:ctrlPr>
                      </m:accPr>
                      <m:e>
                        <m:sSub>
                          <m:sSubPr>
                            <m:ctrlPr>
                              <a:rPr lang="az-Latn-AZ" sz="3200" b="1" i="1">
                                <a:latin typeface="Cambria Math" panose="02040503050406030204" pitchFamily="18" charset="0"/>
                              </a:rPr>
                            </m:ctrlPr>
                          </m:sSubPr>
                          <m:e>
                            <m:r>
                              <a:rPr lang="az-Latn-AZ" sz="3200" b="1" i="1">
                                <a:latin typeface="Cambria Math" panose="02040503050406030204" pitchFamily="18" charset="0"/>
                              </a:rPr>
                              <m:t>𝒂</m:t>
                            </m:r>
                          </m:e>
                          <m:sub>
                            <m:r>
                              <a:rPr lang="en-US" sz="3200" b="1" i="1">
                                <a:latin typeface="Cambria Math" panose="02040503050406030204" pitchFamily="18" charset="0"/>
                              </a:rPr>
                              <m:t>𝟐</m:t>
                            </m:r>
                          </m:sub>
                        </m:sSub>
                      </m:e>
                    </m:acc>
                  </m:oMath>
                </a14:m>
                <a:r>
                  <a:rPr lang="az-Latn-AZ" sz="3200" b="1" dirty="0"/>
                  <a:t> + </a:t>
                </a:r>
                <a:r>
                  <a:rPr lang="en-US" sz="3200" b="1" dirty="0"/>
                  <a:t>… + </a:t>
                </a:r>
                <a14:m>
                  <m:oMath xmlns:m="http://schemas.openxmlformats.org/officeDocument/2006/math">
                    <m:sSub>
                      <m:sSubPr>
                        <m:ctrlPr>
                          <a:rPr lang="az-Latn-AZ" sz="3200" b="1" i="1">
                            <a:latin typeface="Cambria Math" panose="02040503050406030204" pitchFamily="18" charset="0"/>
                          </a:rPr>
                        </m:ctrlPr>
                      </m:sSubPr>
                      <m:e>
                        <m:r>
                          <a:rPr lang="az-Latn-AZ" sz="3200" b="1" i="1">
                            <a:latin typeface="Cambria Math" panose="02040503050406030204" pitchFamily="18" charset="0"/>
                            <a:ea typeface="Cambria Math" panose="02040503050406030204" pitchFamily="18" charset="0"/>
                          </a:rPr>
                          <m:t>𝜶</m:t>
                        </m:r>
                      </m:e>
                      <m:sub>
                        <m:r>
                          <a:rPr lang="en-US" sz="3200" b="1" i="1">
                            <a:latin typeface="Cambria Math" panose="02040503050406030204" pitchFamily="18" charset="0"/>
                            <a:ea typeface="Cambria Math" panose="02040503050406030204" pitchFamily="18" charset="0"/>
                          </a:rPr>
                          <m:t>𝒏</m:t>
                        </m:r>
                      </m:sub>
                    </m:sSub>
                    <m:acc>
                      <m:accPr>
                        <m:chr m:val="⃑"/>
                        <m:ctrlPr>
                          <a:rPr lang="az-Latn-AZ" sz="3200" b="1" i="1">
                            <a:latin typeface="Cambria Math" panose="02040503050406030204" pitchFamily="18" charset="0"/>
                          </a:rPr>
                        </m:ctrlPr>
                      </m:accPr>
                      <m:e>
                        <m:sSub>
                          <m:sSubPr>
                            <m:ctrlPr>
                              <a:rPr lang="az-Latn-AZ" sz="3200" b="1" i="1">
                                <a:latin typeface="Cambria Math" panose="02040503050406030204" pitchFamily="18" charset="0"/>
                              </a:rPr>
                            </m:ctrlPr>
                          </m:sSubPr>
                          <m:e>
                            <m:r>
                              <a:rPr lang="az-Latn-AZ" sz="3200" b="1" i="1">
                                <a:latin typeface="Cambria Math" panose="02040503050406030204" pitchFamily="18" charset="0"/>
                              </a:rPr>
                              <m:t>𝒂</m:t>
                            </m:r>
                          </m:e>
                          <m:sub>
                            <m:r>
                              <a:rPr lang="en-US" sz="3200" b="1" i="1">
                                <a:latin typeface="Cambria Math" panose="02040503050406030204" pitchFamily="18" charset="0"/>
                              </a:rPr>
                              <m:t>𝒏</m:t>
                            </m:r>
                          </m:sub>
                        </m:sSub>
                      </m:e>
                    </m:acc>
                  </m:oMath>
                </a14:m>
                <a:r>
                  <a:rPr lang="en-US" sz="3200" b="1" dirty="0"/>
                  <a:t>  </a:t>
                </a:r>
                <a:r>
                  <a:rPr lang="az-Latn-AZ" sz="3200" b="1" dirty="0" smtClean="0">
                    <a:solidFill>
                      <a:srgbClr val="4A4A45"/>
                    </a:solidFill>
                    <a:latin typeface="Montserrat Black" pitchFamily="2" charset="0"/>
                    <a:ea typeface="Lato" pitchFamily="34" charset="-122"/>
                    <a:cs typeface="Lato" pitchFamily="34" charset="-120"/>
                  </a:rPr>
                  <a:t>olarsa, onda deyirlər </a:t>
                </a:r>
                <a:r>
                  <a:rPr lang="en-US" sz="3200" b="1" dirty="0" smtClean="0">
                    <a:solidFill>
                      <a:srgbClr val="4A4A45"/>
                    </a:solidFill>
                    <a:latin typeface="Montserrat Black" pitchFamily="2" charset="0"/>
                    <a:ea typeface="Lato" pitchFamily="34" charset="-122"/>
                    <a:cs typeface="Lato" pitchFamily="34" charset="-120"/>
                  </a:rPr>
                  <a:t>ki </a:t>
                </a:r>
                <a:r>
                  <a:rPr lang="en-US" sz="3200" b="1" dirty="0">
                    <a:solidFill>
                      <a:srgbClr val="4A4A45"/>
                    </a:solidFill>
                    <a:latin typeface="Montserrat Black" pitchFamily="2" charset="0"/>
                    <a:ea typeface="Lato" pitchFamily="34" charset="-122"/>
                    <a:cs typeface="Lato" pitchFamily="34" charset="-120"/>
                  </a:rPr>
                  <a:t>b </a:t>
                </a:r>
                <a:r>
                  <a:rPr lang="az-Latn-AZ" sz="3200" b="1" dirty="0" smtClean="0">
                    <a:solidFill>
                      <a:srgbClr val="4A4A45"/>
                    </a:solidFill>
                    <a:latin typeface="Montserrat Black" pitchFamily="2" charset="0"/>
                    <a:ea typeface="Lato" pitchFamily="34" charset="-122"/>
                    <a:cs typeface="Lato" pitchFamily="34" charset="-120"/>
                  </a:rPr>
                  <a:t>vektoru vektorların xətti kombinasiyasıdır (və ya bu vektorlar üzərində ayrılmışdır)</a:t>
                </a:r>
                <a:endParaRPr lang="az-Latn-AZ" sz="2400" b="1" dirty="0">
                  <a:solidFill>
                    <a:srgbClr val="4A4A45"/>
                  </a:solidFill>
                  <a:latin typeface="Montserrat Black" pitchFamily="2" charset="0"/>
                  <a:ea typeface="Lato" pitchFamily="34" charset="-122"/>
                  <a:cs typeface="Lato" pitchFamily="34" charset="-120"/>
                </a:endParaRPr>
              </a:p>
            </p:txBody>
          </p:sp>
        </mc:Choice>
        <mc:Fallback>
          <p:sp>
            <p:nvSpPr>
              <p:cNvPr id="4" name="Rectangle 3"/>
              <p:cNvSpPr>
                <a:spLocks noRot="1" noChangeAspect="1" noMove="1" noResize="1" noEditPoints="1" noAdjustHandles="1" noChangeArrowheads="1" noChangeShapeType="1" noTextEdit="1"/>
              </p:cNvSpPr>
              <p:nvPr/>
            </p:nvSpPr>
            <p:spPr>
              <a:xfrm>
                <a:off x="870857" y="3749450"/>
                <a:ext cx="8476342" cy="2135393"/>
              </a:xfrm>
              <a:prstGeom prst="rect">
                <a:avLst/>
              </a:prstGeom>
              <a:blipFill>
                <a:blip r:embed="rId3"/>
                <a:stretch>
                  <a:fillRect l="-1871" t="-571" r="-1655" b="-8286"/>
                </a:stretch>
              </a:blipFill>
            </p:spPr>
            <p:txBody>
              <a:bodyPr/>
              <a:lstStyle/>
              <a:p>
                <a:r>
                  <a:rPr lang="ru-RU">
                    <a:noFill/>
                  </a:rPr>
                  <a:t> </a:t>
                </a:r>
              </a:p>
            </p:txBody>
          </p:sp>
        </mc:Fallback>
      </mc:AlternateContent>
    </p:spTree>
    <p:extLst>
      <p:ext uri="{BB962C8B-B14F-4D97-AF65-F5344CB8AC3E}">
        <p14:creationId xmlns:p14="http://schemas.microsoft.com/office/powerpoint/2010/main" val="23097550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CAEBD2-82E8-3054-3801-BC02BA1FF6C1}"/>
              </a:ext>
            </a:extLst>
          </p:cNvPr>
          <p:cNvSpPr txBox="1"/>
          <p:nvPr/>
        </p:nvSpPr>
        <p:spPr>
          <a:xfrm>
            <a:off x="1473734" y="182187"/>
            <a:ext cx="9020093" cy="830997"/>
          </a:xfrm>
          <a:prstGeom prst="rect">
            <a:avLst/>
          </a:prstGeom>
          <a:noFill/>
        </p:spPr>
        <p:txBody>
          <a:bodyPr wrap="square">
            <a:spAutoFit/>
          </a:bodyPr>
          <a:lstStyle/>
          <a:p>
            <a:r>
              <a:rPr lang="az-Latn-AZ" sz="4800" b="1" dirty="0"/>
              <a:t>Vektorun Bazis Üzrə Anlayışı</a:t>
            </a:r>
            <a:endParaRPr lang="en-US" sz="4800" b="1" dirty="0"/>
          </a:p>
        </p:txBody>
      </p:sp>
      <mc:AlternateContent xmlns:mc="http://schemas.openxmlformats.org/markup-compatibility/2006">
        <mc:Choice xmlns:a14="http://schemas.microsoft.com/office/drawing/2010/main" Requires="a14">
          <p:sp>
            <p:nvSpPr>
              <p:cNvPr id="3" name="Rectangle 2"/>
              <p:cNvSpPr/>
              <p:nvPr/>
            </p:nvSpPr>
            <p:spPr>
              <a:xfrm>
                <a:off x="914933" y="1345293"/>
                <a:ext cx="10137694" cy="1929054"/>
              </a:xfrm>
              <a:prstGeom prst="rect">
                <a:avLst/>
              </a:prstGeom>
            </p:spPr>
            <p:txBody>
              <a:bodyPr wrap="square">
                <a:spAutoFit/>
              </a:bodyPr>
              <a:lstStyle/>
              <a:p>
                <a:r>
                  <a:rPr lang="en-US" sz="2000" b="1" dirty="0">
                    <a:solidFill>
                      <a:srgbClr val="4A4A45"/>
                    </a:solidFill>
                    <a:latin typeface="Montserrat Black" pitchFamily="2" charset="0"/>
                    <a:ea typeface="Lato" pitchFamily="34" charset="-122"/>
                    <a:cs typeface="Lato" pitchFamily="34" charset="-120"/>
                  </a:rPr>
                  <a:t>Müstəvi </a:t>
                </a:r>
                <a:r>
                  <a:rPr lang="az-Latn-AZ" sz="2000" b="1" dirty="0" smtClean="0">
                    <a:solidFill>
                      <a:srgbClr val="4A4A45"/>
                    </a:solidFill>
                    <a:latin typeface="Montserrat Black" pitchFamily="2" charset="0"/>
                    <a:ea typeface="Lato" pitchFamily="34" charset="-122"/>
                    <a:cs typeface="Lato" pitchFamily="34" charset="-120"/>
                  </a:rPr>
                  <a:t>üzərində müəyyən ardıcıllıqla götürülmüş 2 kollianar olmayan vektorlara həmin müstəvi üzrəindəki bazis vektorlar deyilir.</a:t>
                </a:r>
                <a:r>
                  <a:rPr lang="az-Latn-AZ" sz="2000" b="1" dirty="0">
                    <a:solidFill>
                      <a:srgbClr val="C00000"/>
                    </a:solidFill>
                    <a:latin typeface="Montserrat Black" pitchFamily="2" charset="0"/>
                    <a:ea typeface="Lato" pitchFamily="34" charset="-122"/>
                    <a:cs typeface="Lato" pitchFamily="34" charset="-120"/>
                  </a:rPr>
                  <a:t> </a:t>
                </a:r>
                <a14:m>
                  <m:oMath xmlns:m="http://schemas.openxmlformats.org/officeDocument/2006/math">
                    <m:sSub>
                      <m:sSubPr>
                        <m:ctrlPr>
                          <a:rPr lang="az-Latn-AZ" sz="2800" b="1" i="1">
                            <a:solidFill>
                              <a:srgbClr val="C00000"/>
                            </a:solidFill>
                            <a:latin typeface="Cambria Math" panose="02040503050406030204" pitchFamily="18" charset="0"/>
                          </a:rPr>
                        </m:ctrlPr>
                      </m:sSubPr>
                      <m:e>
                        <m:r>
                          <a:rPr lang="az-Latn-AZ" sz="2800" b="1" i="1">
                            <a:solidFill>
                              <a:srgbClr val="C00000"/>
                            </a:solidFill>
                            <a:latin typeface="Cambria Math" panose="02040503050406030204" pitchFamily="18" charset="0"/>
                          </a:rPr>
                          <m:t>𝒆</m:t>
                        </m:r>
                      </m:e>
                      <m:sub>
                        <m:r>
                          <a:rPr lang="az-Latn-AZ" sz="2800" b="1" i="1">
                            <a:solidFill>
                              <a:srgbClr val="C00000"/>
                            </a:solidFill>
                            <a:latin typeface="Cambria Math" panose="02040503050406030204" pitchFamily="18" charset="0"/>
                          </a:rPr>
                          <m:t>𝟏</m:t>
                        </m:r>
                      </m:sub>
                    </m:sSub>
                    <m:r>
                      <a:rPr lang="az-Latn-AZ" sz="2800" b="1">
                        <a:solidFill>
                          <a:srgbClr val="C00000"/>
                        </a:solidFill>
                        <a:latin typeface="Cambria Math" panose="02040503050406030204" pitchFamily="18" charset="0"/>
                      </a:rPr>
                      <m:t>,</m:t>
                    </m:r>
                    <m:sSub>
                      <m:sSubPr>
                        <m:ctrlPr>
                          <a:rPr lang="az-Latn-AZ" sz="2800" b="1" i="1">
                            <a:solidFill>
                              <a:srgbClr val="C00000"/>
                            </a:solidFill>
                            <a:latin typeface="Cambria Math" panose="02040503050406030204" pitchFamily="18" charset="0"/>
                          </a:rPr>
                        </m:ctrlPr>
                      </m:sSubPr>
                      <m:e>
                        <m:r>
                          <a:rPr lang="az-Latn-AZ" sz="2800" b="1" i="1">
                            <a:solidFill>
                              <a:srgbClr val="C00000"/>
                            </a:solidFill>
                            <a:latin typeface="Cambria Math" panose="02040503050406030204" pitchFamily="18" charset="0"/>
                          </a:rPr>
                          <m:t>𝒆</m:t>
                        </m:r>
                      </m:e>
                      <m:sub>
                        <m:r>
                          <a:rPr lang="az-Latn-AZ" sz="2800" b="1" i="1">
                            <a:solidFill>
                              <a:srgbClr val="C00000"/>
                            </a:solidFill>
                            <a:latin typeface="Cambria Math" panose="02040503050406030204" pitchFamily="18" charset="0"/>
                          </a:rPr>
                          <m:t>𝟐</m:t>
                        </m:r>
                      </m:sub>
                    </m:sSub>
                  </m:oMath>
                </a14:m>
                <a:r>
                  <a:rPr lang="az-Latn-AZ" sz="2800" b="1" dirty="0">
                    <a:solidFill>
                      <a:srgbClr val="C00000"/>
                    </a:solidFill>
                  </a:rPr>
                  <a:t> </a:t>
                </a:r>
                <a:r>
                  <a:rPr lang="az-Latn-AZ" sz="2000" b="1" dirty="0">
                    <a:solidFill>
                      <a:srgbClr val="4A4A45"/>
                    </a:solidFill>
                    <a:latin typeface="Montserrat Black" pitchFamily="2" charset="0"/>
                    <a:ea typeface="Lato" pitchFamily="34" charset="-122"/>
                    <a:cs typeface="Lato" pitchFamily="34" charset="-120"/>
                  </a:rPr>
                  <a:t>kimi işarə edilir. Müstəvi üzərindəki ixtiyarı vektorunun bu müstəvi üzrəindəki istənilən </a:t>
                </a:r>
                <a14:m>
                  <m:oMath xmlns:m="http://schemas.openxmlformats.org/officeDocument/2006/math">
                    <m:sSub>
                      <m:sSubPr>
                        <m:ctrlPr>
                          <a:rPr lang="az-Latn-AZ" sz="2800" b="1" i="1">
                            <a:solidFill>
                              <a:srgbClr val="C00000"/>
                            </a:solidFill>
                            <a:latin typeface="Cambria Math" panose="02040503050406030204" pitchFamily="18" charset="0"/>
                          </a:rPr>
                        </m:ctrlPr>
                      </m:sSubPr>
                      <m:e>
                        <m:r>
                          <a:rPr lang="az-Latn-AZ" sz="2800" b="1" i="1">
                            <a:solidFill>
                              <a:srgbClr val="C00000"/>
                            </a:solidFill>
                            <a:latin typeface="Cambria Math" panose="02040503050406030204" pitchFamily="18" charset="0"/>
                          </a:rPr>
                          <m:t>𝒆</m:t>
                        </m:r>
                      </m:e>
                      <m:sub>
                        <m:r>
                          <a:rPr lang="az-Latn-AZ" sz="2800" b="1" i="1">
                            <a:solidFill>
                              <a:srgbClr val="C00000"/>
                            </a:solidFill>
                            <a:latin typeface="Cambria Math" panose="02040503050406030204" pitchFamily="18" charset="0"/>
                          </a:rPr>
                          <m:t>𝟏</m:t>
                        </m:r>
                      </m:sub>
                    </m:sSub>
                    <m:r>
                      <a:rPr lang="az-Latn-AZ" sz="2800" b="1">
                        <a:solidFill>
                          <a:srgbClr val="C00000"/>
                        </a:solidFill>
                        <a:latin typeface="Cambria Math" panose="02040503050406030204" pitchFamily="18" charset="0"/>
                      </a:rPr>
                      <m:t>,</m:t>
                    </m:r>
                    <m:sSub>
                      <m:sSubPr>
                        <m:ctrlPr>
                          <a:rPr lang="az-Latn-AZ" sz="2800" b="1" i="1">
                            <a:solidFill>
                              <a:srgbClr val="C00000"/>
                            </a:solidFill>
                            <a:latin typeface="Cambria Math" panose="02040503050406030204" pitchFamily="18" charset="0"/>
                          </a:rPr>
                        </m:ctrlPr>
                      </m:sSubPr>
                      <m:e>
                        <m:r>
                          <a:rPr lang="az-Latn-AZ" sz="2800" b="1" i="1">
                            <a:solidFill>
                              <a:srgbClr val="C00000"/>
                            </a:solidFill>
                            <a:latin typeface="Cambria Math" panose="02040503050406030204" pitchFamily="18" charset="0"/>
                          </a:rPr>
                          <m:t>𝒆</m:t>
                        </m:r>
                      </m:e>
                      <m:sub>
                        <m:r>
                          <a:rPr lang="az-Latn-AZ" sz="2800" b="1" i="1">
                            <a:solidFill>
                              <a:srgbClr val="C00000"/>
                            </a:solidFill>
                            <a:latin typeface="Cambria Math" panose="02040503050406030204" pitchFamily="18" charset="0"/>
                          </a:rPr>
                          <m:t>𝟐</m:t>
                        </m:r>
                      </m:sub>
                    </m:sSub>
                    <m:r>
                      <a:rPr lang="az-Latn-AZ" sz="2800" b="1">
                        <a:solidFill>
                          <a:srgbClr val="C00000"/>
                        </a:solidFill>
                        <a:latin typeface="Cambria Math" panose="02040503050406030204" pitchFamily="18" charset="0"/>
                      </a:rPr>
                      <m:t> </m:t>
                    </m:r>
                  </m:oMath>
                </a14:m>
                <a:r>
                  <a:rPr lang="az-Latn-AZ" sz="2000" b="1" dirty="0">
                    <a:solidFill>
                      <a:srgbClr val="4A4A45"/>
                    </a:solidFill>
                    <a:latin typeface="Montserrat Black" pitchFamily="2" charset="0"/>
                    <a:ea typeface="Lato" pitchFamily="34" charset="-122"/>
                    <a:cs typeface="Lato" pitchFamily="34" charset="-120"/>
                  </a:rPr>
                  <a:t>bazisi üzrə yeganə qayda ilə</a:t>
                </a:r>
              </a:p>
              <a:p>
                <a:r>
                  <a:rPr lang="az-Latn-AZ" sz="2400" b="1" dirty="0">
                    <a:solidFill>
                      <a:srgbClr val="C00000"/>
                    </a:solidFill>
                  </a:rPr>
                  <a:t> </a:t>
                </a:r>
                <a14:m>
                  <m:oMath xmlns:m="http://schemas.openxmlformats.org/officeDocument/2006/math">
                    <m:r>
                      <a:rPr lang="az-Latn-AZ" sz="2400" b="1" i="1">
                        <a:solidFill>
                          <a:srgbClr val="C00000"/>
                        </a:solidFill>
                        <a:latin typeface="Cambria Math" panose="02040503050406030204" pitchFamily="18" charset="0"/>
                      </a:rPr>
                      <m:t>𝒂</m:t>
                    </m:r>
                    <m:r>
                      <a:rPr lang="az-Latn-AZ" sz="2400" b="1" i="1">
                        <a:solidFill>
                          <a:srgbClr val="C00000"/>
                        </a:solidFill>
                        <a:latin typeface="Cambria Math" panose="02040503050406030204" pitchFamily="18" charset="0"/>
                      </a:rPr>
                      <m:t>=</m:t>
                    </m:r>
                    <m:sSub>
                      <m:sSubPr>
                        <m:ctrlPr>
                          <a:rPr lang="az-Latn-AZ" sz="2400" b="1" i="1">
                            <a:solidFill>
                              <a:srgbClr val="C00000"/>
                            </a:solidFill>
                            <a:latin typeface="Cambria Math" panose="02040503050406030204" pitchFamily="18" charset="0"/>
                          </a:rPr>
                        </m:ctrlPr>
                      </m:sSubPr>
                      <m:e>
                        <m:r>
                          <a:rPr lang="az-Latn-AZ" sz="2400" b="1" i="1">
                            <a:solidFill>
                              <a:srgbClr val="C00000"/>
                            </a:solidFill>
                            <a:latin typeface="Cambria Math" panose="02040503050406030204" pitchFamily="18" charset="0"/>
                            <a:ea typeface="Cambria Math" panose="02040503050406030204" pitchFamily="18" charset="0"/>
                          </a:rPr>
                          <m:t>𝜶</m:t>
                        </m:r>
                      </m:e>
                      <m:sub>
                        <m:r>
                          <a:rPr lang="az-Latn-AZ" sz="2400" b="1" i="1">
                            <a:solidFill>
                              <a:srgbClr val="C00000"/>
                            </a:solidFill>
                            <a:latin typeface="Cambria Math" panose="02040503050406030204" pitchFamily="18" charset="0"/>
                          </a:rPr>
                          <m:t>𝟏</m:t>
                        </m:r>
                      </m:sub>
                    </m:sSub>
                    <m:sSub>
                      <m:sSubPr>
                        <m:ctrlPr>
                          <a:rPr lang="az-Latn-AZ" sz="2400" b="1" i="1">
                            <a:solidFill>
                              <a:srgbClr val="C00000"/>
                            </a:solidFill>
                            <a:latin typeface="Cambria Math" panose="02040503050406030204" pitchFamily="18" charset="0"/>
                          </a:rPr>
                        </m:ctrlPr>
                      </m:sSubPr>
                      <m:e>
                        <m:r>
                          <a:rPr lang="az-Latn-AZ" sz="2400" b="1" i="1">
                            <a:solidFill>
                              <a:srgbClr val="C00000"/>
                            </a:solidFill>
                            <a:latin typeface="Cambria Math" panose="02040503050406030204" pitchFamily="18" charset="0"/>
                          </a:rPr>
                          <m:t>𝒆</m:t>
                        </m:r>
                      </m:e>
                      <m:sub>
                        <m:r>
                          <a:rPr lang="az-Latn-AZ" sz="2400" b="1" i="1">
                            <a:solidFill>
                              <a:srgbClr val="C00000"/>
                            </a:solidFill>
                            <a:latin typeface="Cambria Math" panose="02040503050406030204" pitchFamily="18" charset="0"/>
                          </a:rPr>
                          <m:t>𝟏</m:t>
                        </m:r>
                      </m:sub>
                    </m:sSub>
                    <m:r>
                      <a:rPr lang="az-Latn-AZ" sz="2400" b="1" i="1">
                        <a:solidFill>
                          <a:srgbClr val="C00000"/>
                        </a:solidFill>
                        <a:latin typeface="Cambria Math" panose="02040503050406030204" pitchFamily="18" charset="0"/>
                      </a:rPr>
                      <m:t>+</m:t>
                    </m:r>
                    <m:sSub>
                      <m:sSubPr>
                        <m:ctrlPr>
                          <a:rPr lang="az-Latn-AZ" sz="2400" b="1" i="1">
                            <a:solidFill>
                              <a:srgbClr val="C00000"/>
                            </a:solidFill>
                            <a:latin typeface="Cambria Math" panose="02040503050406030204" pitchFamily="18" charset="0"/>
                          </a:rPr>
                        </m:ctrlPr>
                      </m:sSubPr>
                      <m:e>
                        <m:r>
                          <a:rPr lang="az-Latn-AZ" sz="2400" b="1" i="1">
                            <a:solidFill>
                              <a:srgbClr val="C00000"/>
                            </a:solidFill>
                            <a:latin typeface="Cambria Math" panose="02040503050406030204" pitchFamily="18" charset="0"/>
                            <a:ea typeface="Cambria Math" panose="02040503050406030204" pitchFamily="18" charset="0"/>
                          </a:rPr>
                          <m:t>𝜶</m:t>
                        </m:r>
                      </m:e>
                      <m:sub>
                        <m:r>
                          <a:rPr lang="az-Latn-AZ" sz="2400" b="1" i="1">
                            <a:solidFill>
                              <a:srgbClr val="C00000"/>
                            </a:solidFill>
                            <a:latin typeface="Cambria Math" panose="02040503050406030204" pitchFamily="18" charset="0"/>
                          </a:rPr>
                          <m:t>𝟐</m:t>
                        </m:r>
                      </m:sub>
                    </m:sSub>
                    <m:sSub>
                      <m:sSubPr>
                        <m:ctrlPr>
                          <a:rPr lang="az-Latn-AZ" sz="2400" b="1" i="1">
                            <a:solidFill>
                              <a:srgbClr val="C00000"/>
                            </a:solidFill>
                            <a:latin typeface="Cambria Math" panose="02040503050406030204" pitchFamily="18" charset="0"/>
                          </a:rPr>
                        </m:ctrlPr>
                      </m:sSubPr>
                      <m:e>
                        <m:r>
                          <a:rPr lang="az-Latn-AZ" sz="2400" b="1" i="1">
                            <a:solidFill>
                              <a:srgbClr val="C00000"/>
                            </a:solidFill>
                            <a:latin typeface="Cambria Math" panose="02040503050406030204" pitchFamily="18" charset="0"/>
                          </a:rPr>
                          <m:t>𝒆</m:t>
                        </m:r>
                      </m:e>
                      <m:sub>
                        <m:r>
                          <a:rPr lang="az-Latn-AZ" sz="2400" b="1" i="1">
                            <a:solidFill>
                              <a:srgbClr val="C00000"/>
                            </a:solidFill>
                            <a:latin typeface="Cambria Math" panose="02040503050406030204" pitchFamily="18" charset="0"/>
                          </a:rPr>
                          <m:t>𝟐</m:t>
                        </m:r>
                      </m:sub>
                    </m:sSub>
                  </m:oMath>
                </a14:m>
                <a:r>
                  <a:rPr lang="az-Latn-AZ" sz="2400" b="1" dirty="0">
                    <a:solidFill>
                      <a:srgbClr val="C00000"/>
                    </a:solidFill>
                  </a:rPr>
                  <a:t> </a:t>
                </a:r>
                <a:r>
                  <a:rPr lang="az-Latn-AZ" sz="2000" b="1" dirty="0" smtClean="0">
                    <a:solidFill>
                      <a:srgbClr val="4A4A45"/>
                    </a:solidFill>
                    <a:latin typeface="Montserrat Black" pitchFamily="2" charset="0"/>
                    <a:ea typeface="Lato" pitchFamily="34" charset="-122"/>
                    <a:cs typeface="Lato" pitchFamily="34" charset="-120"/>
                  </a:rPr>
                  <a:t>şəklində ayırmaq olar.</a:t>
                </a:r>
                <a:endParaRPr lang="az-Latn-AZ" sz="2000" b="1" dirty="0">
                  <a:solidFill>
                    <a:srgbClr val="4A4A45"/>
                  </a:solidFill>
                  <a:latin typeface="Montserrat Black" pitchFamily="2" charset="0"/>
                  <a:ea typeface="Lato" pitchFamily="34" charset="-122"/>
                  <a:cs typeface="Lato" pitchFamily="34" charset="-120"/>
                </a:endParaRPr>
              </a:p>
            </p:txBody>
          </p:sp>
        </mc:Choice>
        <mc:Fallback>
          <p:sp>
            <p:nvSpPr>
              <p:cNvPr id="3" name="Rectangle 2"/>
              <p:cNvSpPr>
                <a:spLocks noRot="1" noChangeAspect="1" noMove="1" noResize="1" noEditPoints="1" noAdjustHandles="1" noChangeArrowheads="1" noChangeShapeType="1" noTextEdit="1"/>
              </p:cNvSpPr>
              <p:nvPr/>
            </p:nvSpPr>
            <p:spPr>
              <a:xfrm>
                <a:off x="914933" y="1345293"/>
                <a:ext cx="10137694" cy="1929054"/>
              </a:xfrm>
              <a:prstGeom prst="rect">
                <a:avLst/>
              </a:prstGeom>
              <a:blipFill>
                <a:blip r:embed="rId2"/>
                <a:stretch>
                  <a:fillRect l="-601" t="-1899" b="-4430"/>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4" name="Rectangle 3"/>
              <p:cNvSpPr/>
              <p:nvPr/>
            </p:nvSpPr>
            <p:spPr>
              <a:xfrm>
                <a:off x="809703" y="3953080"/>
                <a:ext cx="10348154" cy="1569660"/>
              </a:xfrm>
              <a:prstGeom prst="rect">
                <a:avLst/>
              </a:prstGeom>
            </p:spPr>
            <p:txBody>
              <a:bodyPr wrap="square">
                <a:spAutoFit/>
              </a:bodyPr>
              <a:lstStyle/>
              <a:p>
                <a14:m>
                  <m:oMath xmlns:m="http://schemas.openxmlformats.org/officeDocument/2006/math">
                    <m:sSub>
                      <m:sSubPr>
                        <m:ctrlPr>
                          <a:rPr lang="en-US" sz="2400" b="1" i="1">
                            <a:solidFill>
                              <a:srgbClr val="C00000"/>
                            </a:solidFill>
                            <a:latin typeface="Cambria Math" panose="02040503050406030204" pitchFamily="18" charset="0"/>
                          </a:rPr>
                        </m:ctrlPr>
                      </m:sSubPr>
                      <m:e>
                        <m:r>
                          <a:rPr lang="en-US" sz="2400" b="1" i="1">
                            <a:solidFill>
                              <a:srgbClr val="C00000"/>
                            </a:solidFill>
                            <a:latin typeface="Cambria Math" panose="02040503050406030204" pitchFamily="18" charset="0"/>
                            <a:ea typeface="Cambria Math" panose="02040503050406030204" pitchFamily="18" charset="0"/>
                          </a:rPr>
                          <m:t>𝜶</m:t>
                        </m:r>
                      </m:e>
                      <m:sub>
                        <m:r>
                          <a:rPr lang="en-US" sz="2400" b="1" i="1">
                            <a:solidFill>
                              <a:srgbClr val="C00000"/>
                            </a:solidFill>
                            <a:latin typeface="Cambria Math" panose="02040503050406030204" pitchFamily="18" charset="0"/>
                          </a:rPr>
                          <m:t>𝟏</m:t>
                        </m:r>
                      </m:sub>
                    </m:sSub>
                    <m:r>
                      <a:rPr lang="az-Latn-AZ" sz="2400" b="1" i="1">
                        <a:solidFill>
                          <a:srgbClr val="C00000"/>
                        </a:solidFill>
                        <a:latin typeface="Cambria Math" panose="02040503050406030204" pitchFamily="18" charset="0"/>
                      </a:rPr>
                      <m:t> </m:t>
                    </m:r>
                    <m:r>
                      <a:rPr lang="az-Latn-AZ" sz="2400" b="1" i="1">
                        <a:solidFill>
                          <a:srgbClr val="C00000"/>
                        </a:solidFill>
                        <a:latin typeface="Cambria Math" panose="02040503050406030204" pitchFamily="18" charset="0"/>
                      </a:rPr>
                      <m:t>𝒗</m:t>
                    </m:r>
                    <m:r>
                      <a:rPr lang="az-Latn-AZ" sz="2400" b="1" i="1">
                        <a:solidFill>
                          <a:srgbClr val="C00000"/>
                        </a:solidFill>
                        <a:latin typeface="Cambria Math" panose="02040503050406030204" pitchFamily="18" charset="0"/>
                      </a:rPr>
                      <m:t>ə </m:t>
                    </m:r>
                    <m:sSub>
                      <m:sSubPr>
                        <m:ctrlPr>
                          <a:rPr lang="az-Latn-AZ" sz="2400" b="1" i="1">
                            <a:solidFill>
                              <a:srgbClr val="C00000"/>
                            </a:solidFill>
                            <a:latin typeface="Cambria Math" panose="02040503050406030204" pitchFamily="18" charset="0"/>
                          </a:rPr>
                        </m:ctrlPr>
                      </m:sSubPr>
                      <m:e>
                        <m:r>
                          <a:rPr lang="az-Latn-AZ" sz="2400" b="1" i="1">
                            <a:solidFill>
                              <a:srgbClr val="C00000"/>
                            </a:solidFill>
                            <a:latin typeface="Cambria Math" panose="02040503050406030204" pitchFamily="18" charset="0"/>
                            <a:ea typeface="Cambria Math" panose="02040503050406030204" pitchFamily="18" charset="0"/>
                          </a:rPr>
                          <m:t>𝜶</m:t>
                        </m:r>
                      </m:e>
                      <m:sub>
                        <m:r>
                          <a:rPr lang="az-Latn-AZ" sz="2400" b="1" i="1">
                            <a:solidFill>
                              <a:srgbClr val="C00000"/>
                            </a:solidFill>
                            <a:latin typeface="Cambria Math" panose="02040503050406030204" pitchFamily="18" charset="0"/>
                          </a:rPr>
                          <m:t>𝟐</m:t>
                        </m:r>
                      </m:sub>
                    </m:sSub>
                  </m:oMath>
                </a14:m>
                <a:r>
                  <a:rPr lang="az-Latn-AZ" sz="2400" b="1" dirty="0">
                    <a:solidFill>
                      <a:srgbClr val="C00000"/>
                    </a:solidFill>
                    <a:latin typeface="Montserrat Black" pitchFamily="2" charset="0"/>
                  </a:rPr>
                  <a:t> </a:t>
                </a:r>
                <a:r>
                  <a:rPr lang="az-Latn-AZ" sz="2400" b="1" dirty="0">
                    <a:solidFill>
                      <a:srgbClr val="4A4A45"/>
                    </a:solidFill>
                    <a:latin typeface="Montserrat Black" pitchFamily="2" charset="0"/>
                  </a:rPr>
                  <a:t>ədədlərinə a vektorunun bu bazislərə nəzərən kordinatları deyilir</a:t>
                </a:r>
                <a:r>
                  <a:rPr lang="en-US" sz="2400" b="1" dirty="0">
                    <a:solidFill>
                      <a:srgbClr val="4A4A45"/>
                    </a:solidFill>
                    <a:latin typeface="Montserrat Black" pitchFamily="2" charset="0"/>
                  </a:rPr>
                  <a:t>. </a:t>
                </a:r>
                <a:r>
                  <a:rPr lang="en-US" sz="2400" b="1" dirty="0" smtClean="0">
                    <a:solidFill>
                      <a:srgbClr val="4A4A45"/>
                    </a:solidFill>
                    <a:latin typeface="Montserrat Black" pitchFamily="2" charset="0"/>
                  </a:rPr>
                  <a:t>B</a:t>
                </a:r>
                <a:r>
                  <a:rPr lang="az-Latn-AZ" sz="2400" b="1" dirty="0" smtClean="0">
                    <a:solidFill>
                      <a:srgbClr val="4A4A45"/>
                    </a:solidFill>
                    <a:latin typeface="Montserrat Black" pitchFamily="2" charset="0"/>
                  </a:rPr>
                  <a:t>azis</a:t>
                </a:r>
                <a:r>
                  <a:rPr lang="en-US" sz="2400" b="1" dirty="0" smtClean="0">
                    <a:solidFill>
                      <a:srgbClr val="4A4A45"/>
                    </a:solidFill>
                    <a:latin typeface="Montserrat Black" pitchFamily="2" charset="0"/>
                  </a:rPr>
                  <a:t> </a:t>
                </a:r>
                <a:r>
                  <a:rPr lang="az-Latn-AZ" sz="2400" b="1" dirty="0" smtClean="0">
                    <a:solidFill>
                      <a:srgbClr val="4A4A45"/>
                    </a:solidFill>
                    <a:latin typeface="Montserrat Black" pitchFamily="2" charset="0"/>
                  </a:rPr>
                  <a:t>vektorlar qarşılıqı </a:t>
                </a:r>
                <a:r>
                  <a:rPr lang="az-Latn-AZ" sz="2400" b="1" dirty="0">
                    <a:solidFill>
                      <a:srgbClr val="4A4A45"/>
                    </a:solidFill>
                    <a:latin typeface="Montserrat Black" pitchFamily="2" charset="0"/>
                  </a:rPr>
                  <a:t>p</a:t>
                </a:r>
                <a:r>
                  <a:rPr lang="en-US" sz="2400" b="1" dirty="0" smtClean="0">
                    <a:solidFill>
                      <a:srgbClr val="4A4A45"/>
                    </a:solidFill>
                    <a:latin typeface="Montserrat Black" pitchFamily="2" charset="0"/>
                  </a:rPr>
                  <a:t>e</a:t>
                </a:r>
                <a:r>
                  <a:rPr lang="az-Latn-AZ" sz="2400" b="1" dirty="0" smtClean="0">
                    <a:solidFill>
                      <a:srgbClr val="4A4A45"/>
                    </a:solidFill>
                    <a:latin typeface="Montserrat Black" pitchFamily="2" charset="0"/>
                  </a:rPr>
                  <a:t>rpendikulya</a:t>
                </a:r>
                <a:r>
                  <a:rPr lang="en-US" sz="2400" b="1" dirty="0" smtClean="0">
                    <a:solidFill>
                      <a:srgbClr val="4A4A45"/>
                    </a:solidFill>
                    <a:latin typeface="Montserrat Black" pitchFamily="2" charset="0"/>
                  </a:rPr>
                  <a:t>r</a:t>
                </a:r>
                <a:r>
                  <a:rPr lang="az-Latn-AZ" sz="2400" b="1" dirty="0" smtClean="0">
                    <a:solidFill>
                      <a:srgbClr val="4A4A45"/>
                    </a:solidFill>
                    <a:latin typeface="Montserrat Black" pitchFamily="2" charset="0"/>
                  </a:rPr>
                  <a:t> </a:t>
                </a:r>
                <a:r>
                  <a:rPr lang="az-Latn-AZ" sz="2400" b="1" dirty="0">
                    <a:solidFill>
                      <a:srgbClr val="4A4A45"/>
                    </a:solidFill>
                    <a:latin typeface="Montserrat Black" pitchFamily="2" charset="0"/>
                  </a:rPr>
                  <a:t>olub</a:t>
                </a:r>
                <a:r>
                  <a:rPr lang="en-US" sz="2400" b="1" dirty="0">
                    <a:solidFill>
                      <a:srgbClr val="4A4A45"/>
                    </a:solidFill>
                    <a:latin typeface="Montserrat Black" pitchFamily="2" charset="0"/>
                  </a:rPr>
                  <a:t>, h</a:t>
                </a:r>
                <a:r>
                  <a:rPr lang="az-Latn-AZ" sz="2400" b="1" dirty="0">
                    <a:solidFill>
                      <a:srgbClr val="4A4A45"/>
                    </a:solidFill>
                    <a:latin typeface="Montserrat Black" pitchFamily="2" charset="0"/>
                  </a:rPr>
                  <a:t>ər birnin uzunluğu vahidə bərabər olduqda ortonormal bazis deyili I</a:t>
                </a:r>
                <a:r>
                  <a:rPr lang="en-US" sz="2400" b="1" dirty="0">
                    <a:solidFill>
                      <a:srgbClr val="4A4A45"/>
                    </a:solidFill>
                    <a:latin typeface="Montserrat Black" pitchFamily="2" charset="0"/>
                  </a:rPr>
                  <a:t>,J </a:t>
                </a:r>
                <a:r>
                  <a:rPr lang="az-Latn-AZ" sz="2400" b="1" dirty="0" smtClean="0">
                    <a:solidFill>
                      <a:srgbClr val="4A4A45"/>
                    </a:solidFill>
                    <a:latin typeface="Montserrat Black" pitchFamily="2" charset="0"/>
                  </a:rPr>
                  <a:t>kimi ixtiyari a vektorunun bu </a:t>
                </a:r>
                <a:r>
                  <a:rPr lang="en-US" sz="2400" b="1" dirty="0" smtClean="0">
                    <a:solidFill>
                      <a:srgbClr val="4A4A45"/>
                    </a:solidFill>
                    <a:latin typeface="Montserrat Black" pitchFamily="2" charset="0"/>
                  </a:rPr>
                  <a:t>b</a:t>
                </a:r>
                <a:r>
                  <a:rPr lang="az-Latn-AZ" sz="2400" b="1" dirty="0" smtClean="0">
                    <a:solidFill>
                      <a:srgbClr val="4A4A45"/>
                    </a:solidFill>
                    <a:latin typeface="Montserrat Black" pitchFamily="2" charset="0"/>
                  </a:rPr>
                  <a:t>azis</a:t>
                </a:r>
                <a:r>
                  <a:rPr lang="en-US" sz="2400" b="1" dirty="0" smtClean="0">
                    <a:solidFill>
                      <a:srgbClr val="4A4A45"/>
                    </a:solidFill>
                    <a:latin typeface="Montserrat Black" pitchFamily="2" charset="0"/>
                  </a:rPr>
                  <a:t> </a:t>
                </a:r>
                <a:r>
                  <a:rPr lang="az-Latn-AZ" sz="2400" b="1" dirty="0">
                    <a:solidFill>
                      <a:srgbClr val="4A4A45"/>
                    </a:solidFill>
                    <a:latin typeface="Montserrat Black" pitchFamily="2" charset="0"/>
                  </a:rPr>
                  <a:t>üzrə ayrılışı </a:t>
                </a:r>
                <a:r>
                  <a:rPr lang="az-Latn-AZ" sz="2400" b="1" dirty="0">
                    <a:solidFill>
                      <a:srgbClr val="C00000"/>
                    </a:solidFill>
                    <a:latin typeface="Montserrat Black" pitchFamily="2" charset="0"/>
                  </a:rPr>
                  <a:t>a = </a:t>
                </a:r>
                <a14:m>
                  <m:oMath xmlns:m="http://schemas.openxmlformats.org/officeDocument/2006/math">
                    <m:sSub>
                      <m:sSubPr>
                        <m:ctrlPr>
                          <a:rPr lang="az-Latn-AZ" sz="2400" b="1" i="1">
                            <a:solidFill>
                              <a:srgbClr val="C00000"/>
                            </a:solidFill>
                            <a:latin typeface="Cambria Math" panose="02040503050406030204" pitchFamily="18" charset="0"/>
                          </a:rPr>
                        </m:ctrlPr>
                      </m:sSubPr>
                      <m:e>
                        <m:r>
                          <a:rPr lang="en-US" sz="2400" b="1" i="1">
                            <a:solidFill>
                              <a:srgbClr val="C00000"/>
                            </a:solidFill>
                            <a:latin typeface="Cambria Math" panose="02040503050406030204" pitchFamily="18" charset="0"/>
                          </a:rPr>
                          <m:t>𝒂𝒙</m:t>
                        </m:r>
                      </m:e>
                      <m:sub>
                        <m:r>
                          <a:rPr lang="en-US" sz="2400" b="1" i="1">
                            <a:solidFill>
                              <a:srgbClr val="C00000"/>
                            </a:solidFill>
                            <a:latin typeface="Cambria Math" panose="02040503050406030204" pitchFamily="18" charset="0"/>
                          </a:rPr>
                          <m:t>𝒊</m:t>
                        </m:r>
                      </m:sub>
                    </m:sSub>
                  </m:oMath>
                </a14:m>
                <a:r>
                  <a:rPr lang="az-Latn-AZ" sz="2400" b="1" dirty="0">
                    <a:solidFill>
                      <a:srgbClr val="C00000"/>
                    </a:solidFill>
                    <a:latin typeface="Montserrat Black" pitchFamily="2" charset="0"/>
                  </a:rPr>
                  <a:t> + </a:t>
                </a:r>
                <a14:m>
                  <m:oMath xmlns:m="http://schemas.openxmlformats.org/officeDocument/2006/math">
                    <m:sSub>
                      <m:sSubPr>
                        <m:ctrlPr>
                          <a:rPr lang="az-Latn-AZ" sz="2400" b="1" i="1">
                            <a:solidFill>
                              <a:srgbClr val="C00000"/>
                            </a:solidFill>
                            <a:latin typeface="Cambria Math" panose="02040503050406030204" pitchFamily="18" charset="0"/>
                          </a:rPr>
                        </m:ctrlPr>
                      </m:sSubPr>
                      <m:e>
                        <m:r>
                          <a:rPr lang="en-US" sz="2400" b="1" i="1">
                            <a:solidFill>
                              <a:srgbClr val="C00000"/>
                            </a:solidFill>
                            <a:latin typeface="Cambria Math" panose="02040503050406030204" pitchFamily="18" charset="0"/>
                          </a:rPr>
                          <m:t>𝒂𝒚</m:t>
                        </m:r>
                      </m:e>
                      <m:sub>
                        <m:r>
                          <a:rPr lang="en-US" sz="2400" b="1" i="1">
                            <a:solidFill>
                              <a:srgbClr val="C00000"/>
                            </a:solidFill>
                            <a:latin typeface="Cambria Math" panose="02040503050406030204" pitchFamily="18" charset="0"/>
                          </a:rPr>
                          <m:t>𝒊</m:t>
                        </m:r>
                      </m:sub>
                    </m:sSub>
                  </m:oMath>
                </a14:m>
                <a:r>
                  <a:rPr lang="az-Latn-AZ" sz="2400" b="1" dirty="0">
                    <a:solidFill>
                      <a:srgbClr val="C00000"/>
                    </a:solidFill>
                    <a:latin typeface="Montserrat Black" pitchFamily="2" charset="0"/>
                  </a:rPr>
                  <a:t> </a:t>
                </a:r>
                <a:r>
                  <a:rPr lang="az-Latn-AZ" sz="2400" b="1" dirty="0">
                    <a:solidFill>
                      <a:srgbClr val="4A4A45"/>
                    </a:solidFill>
                    <a:latin typeface="Montserrat Black" pitchFamily="2" charset="0"/>
                  </a:rPr>
                  <a:t>kimi yazılır</a:t>
                </a:r>
                <a:r>
                  <a:rPr lang="en-US" sz="2400" b="1" dirty="0">
                    <a:solidFill>
                      <a:srgbClr val="4A4A45"/>
                    </a:solidFill>
                    <a:latin typeface="Montserrat Black" pitchFamily="2" charset="0"/>
                  </a:rPr>
                  <a:t>.</a:t>
                </a:r>
              </a:p>
            </p:txBody>
          </p:sp>
        </mc:Choice>
        <mc:Fallback>
          <p:sp>
            <p:nvSpPr>
              <p:cNvPr id="4" name="Rectangle 3"/>
              <p:cNvSpPr>
                <a:spLocks noRot="1" noChangeAspect="1" noMove="1" noResize="1" noEditPoints="1" noAdjustHandles="1" noChangeArrowheads="1" noChangeShapeType="1" noTextEdit="1"/>
              </p:cNvSpPr>
              <p:nvPr/>
            </p:nvSpPr>
            <p:spPr>
              <a:xfrm>
                <a:off x="809703" y="3953080"/>
                <a:ext cx="10348154" cy="1569660"/>
              </a:xfrm>
              <a:prstGeom prst="rect">
                <a:avLst/>
              </a:prstGeom>
              <a:blipFill>
                <a:blip r:embed="rId3"/>
                <a:stretch>
                  <a:fillRect l="-943" t="-3101" b="-7752"/>
                </a:stretch>
              </a:blipFill>
            </p:spPr>
            <p:txBody>
              <a:bodyPr/>
              <a:lstStyle/>
              <a:p>
                <a:r>
                  <a:rPr lang="ru-RU">
                    <a:noFill/>
                  </a:rPr>
                  <a:t> </a:t>
                </a:r>
              </a:p>
            </p:txBody>
          </p:sp>
        </mc:Fallback>
      </mc:AlternateContent>
    </p:spTree>
    <p:extLst>
      <p:ext uri="{BB962C8B-B14F-4D97-AF65-F5344CB8AC3E}">
        <p14:creationId xmlns:p14="http://schemas.microsoft.com/office/powerpoint/2010/main" val="16925525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5EB3C2F9-7355-A723-9D03-4ED48F32422A}"/>
              </a:ext>
            </a:extLst>
          </p:cNvPr>
          <p:cNvSpPr/>
          <p:nvPr/>
        </p:nvSpPr>
        <p:spPr>
          <a:xfrm>
            <a:off x="1547861" y="215297"/>
            <a:ext cx="9541053" cy="27819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5550"/>
              </a:lnSpc>
              <a:buNone/>
            </a:pPr>
            <a:r>
              <a:rPr lang="az-Latn-AZ" sz="4800" b="1" dirty="0" smtClean="0">
                <a:solidFill>
                  <a:srgbClr val="282824"/>
                </a:solidFill>
                <a:latin typeface="Montserrat Black" pitchFamily="2" charset="0"/>
                <a:ea typeface="Lato Bold" pitchFamily="34" charset="-122"/>
                <a:cs typeface="Lato Bold" pitchFamily="34" charset="-120"/>
              </a:rPr>
              <a:t>Vektorun Ox Üzrə Proyeksiyası</a:t>
            </a:r>
            <a:endParaRPr lang="az-Latn-AZ" sz="4800" b="1" dirty="0">
              <a:solidFill>
                <a:srgbClr val="282824"/>
              </a:solidFill>
              <a:latin typeface="Montserrat Black" pitchFamily="2" charset="0"/>
              <a:ea typeface="Lato Bold" pitchFamily="34" charset="-122"/>
              <a:cs typeface="Lato Bold" pitchFamily="34" charset="-120"/>
            </a:endParaRPr>
          </a:p>
        </p:txBody>
      </p:sp>
      <mc:AlternateContent xmlns:mc="http://schemas.openxmlformats.org/markup-compatibility/2006">
        <mc:Choice xmlns:a14="http://schemas.microsoft.com/office/drawing/2010/main" Requires="a14">
          <p:sp>
            <p:nvSpPr>
              <p:cNvPr id="4" name="Mətn Qutusu 7">
                <a:extLst>
                  <a:ext uri="{FF2B5EF4-FFF2-40B4-BE49-F238E27FC236}">
                    <a16:creationId xmlns:a16="http://schemas.microsoft.com/office/drawing/2014/main" id="{E8D9A7C6-8994-1D5C-CD39-46D82C397411}"/>
                  </a:ext>
                </a:extLst>
              </p:cNvPr>
              <p:cNvSpPr txBox="1"/>
              <p:nvPr/>
            </p:nvSpPr>
            <p:spPr>
              <a:xfrm>
                <a:off x="246743" y="1103085"/>
                <a:ext cx="11756570" cy="526297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b="1" dirty="0">
                    <a:solidFill>
                      <a:srgbClr val="4A4A45"/>
                    </a:solidFill>
                    <a:latin typeface="Montserrat Black" pitchFamily="2" charset="0"/>
                  </a:rPr>
                  <a:t>Düz </a:t>
                </a:r>
                <a:r>
                  <a:rPr lang="en-US" sz="2800" b="1" dirty="0" err="1">
                    <a:solidFill>
                      <a:srgbClr val="4A4A45"/>
                    </a:solidFill>
                    <a:latin typeface="Montserrat Black" pitchFamily="2" charset="0"/>
                  </a:rPr>
                  <a:t>xətt</a:t>
                </a:r>
                <a:r>
                  <a:rPr lang="az-Latn-AZ" sz="2800" b="1" dirty="0">
                    <a:solidFill>
                      <a:srgbClr val="4A4A45"/>
                    </a:solidFill>
                    <a:latin typeface="Montserrat Black" pitchFamily="2" charset="0"/>
                  </a:rPr>
                  <a:t> </a:t>
                </a:r>
                <a:r>
                  <a:rPr lang="en-US" sz="2800" b="1" dirty="0" err="1">
                    <a:solidFill>
                      <a:srgbClr val="4A4A45"/>
                    </a:solidFill>
                    <a:latin typeface="Montserrat Black" pitchFamily="2" charset="0"/>
                  </a:rPr>
                  <a:t>və</a:t>
                </a:r>
                <a:r>
                  <a:rPr lang="az-Latn-AZ" sz="2800" b="1" dirty="0">
                    <a:solidFill>
                      <a:srgbClr val="4A4A45"/>
                    </a:solidFill>
                    <a:latin typeface="Montserrat Black" pitchFamily="2" charset="0"/>
                  </a:rPr>
                  <a:t> </a:t>
                </a:r>
                <a:r>
                  <a:rPr lang="en-US" sz="2800" b="1" dirty="0" err="1">
                    <a:solidFill>
                      <a:srgbClr val="4A4A45"/>
                    </a:solidFill>
                    <a:latin typeface="Montserrat Black" pitchFamily="2" charset="0"/>
                  </a:rPr>
                  <a:t>onun</a:t>
                </a:r>
                <a:r>
                  <a:rPr lang="en-US" sz="2800" b="1" dirty="0">
                    <a:solidFill>
                      <a:srgbClr val="4A4A45"/>
                    </a:solidFill>
                    <a:latin typeface="Montserrat Black" pitchFamily="2" charset="0"/>
                  </a:rPr>
                  <a:t> </a:t>
                </a:r>
                <a:r>
                  <a:rPr lang="en-US" sz="2800" b="1" dirty="0" err="1">
                    <a:solidFill>
                      <a:srgbClr val="4A4A45"/>
                    </a:solidFill>
                    <a:latin typeface="Montserrat Black" pitchFamily="2" charset="0"/>
                  </a:rPr>
                  <a:t>üzərində</a:t>
                </a:r>
                <a:r>
                  <a:rPr lang="az-Latn-AZ" sz="2800" b="1" dirty="0">
                    <a:solidFill>
                      <a:srgbClr val="4A4A45"/>
                    </a:solidFill>
                    <a:latin typeface="Montserrat Black" pitchFamily="2" charset="0"/>
                  </a:rPr>
                  <a:t> </a:t>
                </a:r>
                <a:r>
                  <a:rPr lang="en-US" sz="2800" b="1" dirty="0" err="1">
                    <a:solidFill>
                      <a:srgbClr val="4A4A45"/>
                    </a:solidFill>
                    <a:latin typeface="Montserrat Black" pitchFamily="2" charset="0"/>
                  </a:rPr>
                  <a:t>müəyyən</a:t>
                </a:r>
                <a:r>
                  <a:rPr lang="az-Latn-AZ" sz="2800" b="1" dirty="0">
                    <a:solidFill>
                      <a:srgbClr val="4A4A45"/>
                    </a:solidFill>
                    <a:latin typeface="Montserrat Black" pitchFamily="2" charset="0"/>
                  </a:rPr>
                  <a:t> </a:t>
                </a:r>
                <a:r>
                  <a:rPr lang="en-US" sz="2800" b="1" dirty="0" err="1">
                    <a:solidFill>
                      <a:srgbClr val="4A4A45"/>
                    </a:solidFill>
                    <a:latin typeface="Montserrat Black" pitchFamily="2" charset="0"/>
                  </a:rPr>
                  <a:t>bir</a:t>
                </a:r>
                <a:r>
                  <a:rPr lang="en-US" sz="2800" b="1" dirty="0">
                    <a:solidFill>
                      <a:srgbClr val="4A4A45"/>
                    </a:solidFill>
                    <a:latin typeface="Montserrat Black" pitchFamily="2" charset="0"/>
                  </a:rPr>
                  <a:t> </a:t>
                </a:r>
                <a:r>
                  <a:rPr lang="en-US" sz="2800" b="1" dirty="0" err="1">
                    <a:solidFill>
                      <a:srgbClr val="4A4A45"/>
                    </a:solidFill>
                    <a:latin typeface="Montserrat Black" pitchFamily="2" charset="0"/>
                  </a:rPr>
                  <a:t>istiqamət</a:t>
                </a:r>
                <a:r>
                  <a:rPr lang="az-Latn-AZ" sz="2800" b="1" dirty="0">
                    <a:solidFill>
                      <a:srgbClr val="4A4A45"/>
                    </a:solidFill>
                    <a:latin typeface="Montserrat Black" pitchFamily="2" charset="0"/>
                  </a:rPr>
                  <a:t> </a:t>
                </a:r>
                <a:r>
                  <a:rPr lang="en-US" sz="2800" b="1" dirty="0" err="1">
                    <a:solidFill>
                      <a:srgbClr val="4A4A45"/>
                    </a:solidFill>
                    <a:latin typeface="Montserrat Black" pitchFamily="2" charset="0"/>
                  </a:rPr>
                  <a:t>verildikdə</a:t>
                </a:r>
                <a:r>
                  <a:rPr lang="az-Latn-AZ" sz="2800" b="1" dirty="0">
                    <a:solidFill>
                      <a:srgbClr val="4A4A45"/>
                    </a:solidFill>
                    <a:latin typeface="Montserrat Black" pitchFamily="2" charset="0"/>
                  </a:rPr>
                  <a:t> </a:t>
                </a:r>
                <a:r>
                  <a:rPr lang="en-US" sz="2800" b="1" dirty="0" err="1">
                    <a:solidFill>
                      <a:srgbClr val="4A4A45"/>
                    </a:solidFill>
                    <a:latin typeface="Montserrat Black" pitchFamily="2" charset="0"/>
                  </a:rPr>
                  <a:t>həmin</a:t>
                </a:r>
                <a:r>
                  <a:rPr lang="az-Latn-AZ" sz="2800" b="1" dirty="0">
                    <a:solidFill>
                      <a:srgbClr val="4A4A45"/>
                    </a:solidFill>
                    <a:latin typeface="Montserrat Black" pitchFamily="2" charset="0"/>
                  </a:rPr>
                  <a:t> </a:t>
                </a:r>
                <a:r>
                  <a:rPr lang="az-Latn-AZ" sz="2800" b="1" dirty="0" smtClean="0">
                    <a:solidFill>
                      <a:srgbClr val="4A4A45"/>
                    </a:solidFill>
                    <a:latin typeface="Montserrat Black" pitchFamily="2" charset="0"/>
                  </a:rPr>
                  <a:t>istiqamətlənmiş d</a:t>
                </a:r>
                <a:r>
                  <a:rPr lang="en-US" sz="2800" b="1" dirty="0" err="1" smtClean="0">
                    <a:solidFill>
                      <a:srgbClr val="4A4A45"/>
                    </a:solidFill>
                    <a:latin typeface="Montserrat Black" pitchFamily="2" charset="0"/>
                  </a:rPr>
                  <a:t>üz</a:t>
                </a:r>
                <a:r>
                  <a:rPr lang="en-US" sz="2800" b="1" dirty="0" smtClean="0">
                    <a:solidFill>
                      <a:srgbClr val="4A4A45"/>
                    </a:solidFill>
                    <a:latin typeface="Montserrat Black" pitchFamily="2" charset="0"/>
                  </a:rPr>
                  <a:t> </a:t>
                </a:r>
                <a:r>
                  <a:rPr lang="en-US" sz="2800" b="1" dirty="0" err="1">
                    <a:solidFill>
                      <a:srgbClr val="4A4A45"/>
                    </a:solidFill>
                    <a:latin typeface="Montserrat Black" pitchFamily="2" charset="0"/>
                  </a:rPr>
                  <a:t>xəttə</a:t>
                </a:r>
                <a:r>
                  <a:rPr lang="az-Latn-AZ" sz="2800" b="1" dirty="0">
                    <a:solidFill>
                      <a:srgbClr val="4A4A45"/>
                    </a:solidFill>
                    <a:latin typeface="Montserrat Black" pitchFamily="2" charset="0"/>
                  </a:rPr>
                  <a:t> OX </a:t>
                </a:r>
                <a:r>
                  <a:rPr lang="en-US" sz="2800" b="1" dirty="0" err="1">
                    <a:solidFill>
                      <a:srgbClr val="4A4A45"/>
                    </a:solidFill>
                    <a:latin typeface="Montserrat Black" pitchFamily="2" charset="0"/>
                  </a:rPr>
                  <a:t>deyilir</a:t>
                </a:r>
                <a:r>
                  <a:rPr lang="en-US" sz="2800" b="1" dirty="0">
                    <a:solidFill>
                      <a:srgbClr val="4A4A45"/>
                    </a:solidFill>
                    <a:latin typeface="Montserrat Black" pitchFamily="2" charset="0"/>
                  </a:rPr>
                  <a:t>.</a:t>
                </a:r>
              </a:p>
              <a:p>
                <a:endParaRPr lang="en-US" sz="2800" b="1" dirty="0">
                  <a:solidFill>
                    <a:srgbClr val="4A4A45"/>
                  </a:solidFill>
                  <a:latin typeface="Montserrat Black" pitchFamily="2" charset="0"/>
                </a:endParaRPr>
              </a:p>
              <a:p>
                <a:r>
                  <a:rPr lang="az-Latn-AZ" sz="2800" b="1" dirty="0">
                    <a:solidFill>
                      <a:srgbClr val="4A4A45"/>
                    </a:solidFill>
                    <a:latin typeface="Montserrat Black" pitchFamily="2" charset="0"/>
                  </a:rPr>
                  <a:t>Vektorun ox üzərində proyeksiyası, onun uzunluğu ilə vektorla ox arasındakı bucağın kosinusu hasilinə bərabərdir</a:t>
                </a:r>
                <a:r>
                  <a:rPr lang="en-US" sz="2800" b="1" dirty="0">
                    <a:solidFill>
                      <a:srgbClr val="4A4A45"/>
                    </a:solidFill>
                    <a:latin typeface="Montserrat Black" pitchFamily="2" charset="0"/>
                  </a:rPr>
                  <a:t>.</a:t>
                </a:r>
              </a:p>
              <a:p>
                <a:endParaRPr lang="en-US" sz="2800" b="1" dirty="0">
                  <a:solidFill>
                    <a:srgbClr val="4A4A45"/>
                  </a:solidFill>
                  <a:latin typeface="Montserrat Black" pitchFamily="2" charset="0"/>
                </a:endParaRPr>
              </a:p>
              <a:p>
                <a14:m>
                  <m:oMath xmlns:m="http://schemas.openxmlformats.org/officeDocument/2006/math">
                    <m:sSub>
                      <m:sSubPr>
                        <m:ctrlPr>
                          <a:rPr lang="en-US" sz="2800" b="1" i="1" smtClean="0">
                            <a:solidFill>
                              <a:srgbClr val="C00000"/>
                            </a:solidFill>
                            <a:latin typeface="Cambria Math" panose="02040503050406030204" pitchFamily="18" charset="0"/>
                          </a:rPr>
                        </m:ctrlPr>
                      </m:sSubPr>
                      <m:e>
                        <m:r>
                          <a:rPr lang="en-US" sz="2800" b="1" i="1">
                            <a:solidFill>
                              <a:srgbClr val="C00000"/>
                            </a:solidFill>
                            <a:latin typeface="Cambria Math" panose="02040503050406030204" pitchFamily="18" charset="0"/>
                          </a:rPr>
                          <m:t>𝑷𝒓</m:t>
                        </m:r>
                      </m:e>
                      <m:sub>
                        <m:r>
                          <a:rPr lang="en-US" sz="2800" b="1" i="1">
                            <a:solidFill>
                              <a:srgbClr val="C00000"/>
                            </a:solidFill>
                            <a:latin typeface="Cambria Math" panose="02040503050406030204" pitchFamily="18" charset="0"/>
                          </a:rPr>
                          <m:t>𝒍</m:t>
                        </m:r>
                      </m:sub>
                    </m:sSub>
                    <m:acc>
                      <m:accPr>
                        <m:chr m:val="⃑"/>
                        <m:ctrlPr>
                          <a:rPr lang="en-US" sz="2800" b="1" i="1">
                            <a:solidFill>
                              <a:srgbClr val="C00000"/>
                            </a:solidFill>
                            <a:latin typeface="Cambria Math" panose="02040503050406030204" pitchFamily="18" charset="0"/>
                          </a:rPr>
                        </m:ctrlPr>
                      </m:accPr>
                      <m:e>
                        <m:r>
                          <a:rPr lang="en-US" sz="2800" b="1" i="1">
                            <a:solidFill>
                              <a:srgbClr val="C00000"/>
                            </a:solidFill>
                            <a:latin typeface="Cambria Math" panose="02040503050406030204" pitchFamily="18" charset="0"/>
                          </a:rPr>
                          <m:t>𝒂</m:t>
                        </m:r>
                      </m:e>
                    </m:acc>
                    <m:r>
                      <a:rPr lang="en-US" sz="2800" b="1" i="1">
                        <a:solidFill>
                          <a:srgbClr val="C00000"/>
                        </a:solidFill>
                        <a:latin typeface="Cambria Math" panose="02040503050406030204" pitchFamily="18" charset="0"/>
                      </a:rPr>
                      <m:t>= </m:t>
                    </m:r>
                    <m:d>
                      <m:dPr>
                        <m:begChr m:val="|"/>
                        <m:endChr m:val="|"/>
                        <m:ctrlPr>
                          <a:rPr lang="en-US" sz="2800" b="1" i="1">
                            <a:solidFill>
                              <a:srgbClr val="C00000"/>
                            </a:solidFill>
                            <a:latin typeface="Cambria Math" panose="02040503050406030204" pitchFamily="18" charset="0"/>
                          </a:rPr>
                        </m:ctrlPr>
                      </m:dPr>
                      <m:e>
                        <m:acc>
                          <m:accPr>
                            <m:chr m:val="⃑"/>
                            <m:ctrlPr>
                              <a:rPr lang="en-US" sz="2800" b="1" i="1">
                                <a:solidFill>
                                  <a:srgbClr val="C00000"/>
                                </a:solidFill>
                                <a:latin typeface="Cambria Math" panose="02040503050406030204" pitchFamily="18" charset="0"/>
                              </a:rPr>
                            </m:ctrlPr>
                          </m:accPr>
                          <m:e>
                            <m:r>
                              <a:rPr lang="en-US" sz="2800" b="1" i="1">
                                <a:solidFill>
                                  <a:srgbClr val="C00000"/>
                                </a:solidFill>
                                <a:latin typeface="Cambria Math" panose="02040503050406030204" pitchFamily="18" charset="0"/>
                              </a:rPr>
                              <m:t>𝒂</m:t>
                            </m:r>
                          </m:e>
                        </m:acc>
                      </m:e>
                    </m:d>
                    <m:r>
                      <a:rPr lang="en-US" sz="2800" b="1" i="1">
                        <a:solidFill>
                          <a:srgbClr val="C00000"/>
                        </a:solidFill>
                        <a:latin typeface="Cambria Math" panose="02040503050406030204" pitchFamily="18" charset="0"/>
                      </a:rPr>
                      <m:t> </m:t>
                    </m:r>
                    <m:r>
                      <a:rPr lang="en-US" sz="2800" b="1" i="1">
                        <a:solidFill>
                          <a:srgbClr val="C00000"/>
                        </a:solidFill>
                        <a:latin typeface="Cambria Math" panose="02040503050406030204" pitchFamily="18" charset="0"/>
                      </a:rPr>
                      <m:t>𝒄𝒐𝒔</m:t>
                    </m:r>
                    <m:r>
                      <a:rPr lang="en-US" sz="2800" b="1" i="1">
                        <a:solidFill>
                          <a:srgbClr val="C00000"/>
                        </a:solidFill>
                        <a:latin typeface="Cambria Math" panose="02040503050406030204" pitchFamily="18" charset="0"/>
                        <a:ea typeface="Cambria Math" panose="02040503050406030204" pitchFamily="18" charset="0"/>
                      </a:rPr>
                      <m:t>𝝋</m:t>
                    </m:r>
                  </m:oMath>
                </a14:m>
                <a:r>
                  <a:rPr lang="en-US" sz="2800" b="1" dirty="0">
                    <a:solidFill>
                      <a:srgbClr val="C00000"/>
                    </a:solidFill>
                    <a:latin typeface="Montserrat Black" pitchFamily="2" charset="0"/>
                  </a:rPr>
                  <a:t> </a:t>
                </a:r>
              </a:p>
              <a:p>
                <a:endParaRPr lang="en-US" sz="2800" b="1" dirty="0">
                  <a:solidFill>
                    <a:srgbClr val="4A4A45"/>
                  </a:solidFill>
                  <a:latin typeface="Montserrat Black" pitchFamily="2" charset="0"/>
                </a:endParaRPr>
              </a:p>
              <a:p>
                <a:r>
                  <a:rPr lang="az-Latn-AZ" sz="2800" b="1" dirty="0" smtClean="0">
                    <a:solidFill>
                      <a:srgbClr val="4A4A45"/>
                    </a:solidFill>
                    <a:latin typeface="Montserrat Black" pitchFamily="2" charset="0"/>
                  </a:rPr>
                  <a:t>Vektorun ox üzərində proyeksiyasının aşağıdakı xassələri vardır.</a:t>
                </a:r>
                <a:endParaRPr lang="az-Latn-AZ" sz="2800" b="1" dirty="0">
                  <a:solidFill>
                    <a:srgbClr val="4A4A45"/>
                  </a:solidFill>
                  <a:latin typeface="Montserrat Black" pitchFamily="2" charset="0"/>
                </a:endParaRPr>
              </a:p>
              <a:p>
                <a:endParaRPr lang="az-Latn-AZ" sz="2800" b="1" dirty="0">
                  <a:solidFill>
                    <a:srgbClr val="4A4A45"/>
                  </a:solidFill>
                  <a:latin typeface="Montserrat Black" pitchFamily="2" charset="0"/>
                </a:endParaRPr>
              </a:p>
              <a:p>
                <a:r>
                  <a:rPr lang="az-Latn-AZ" sz="2800" b="1" dirty="0" smtClean="0">
                    <a:solidFill>
                      <a:srgbClr val="4A4A45"/>
                    </a:solidFill>
                    <a:latin typeface="Montserrat Black" pitchFamily="2" charset="0"/>
                  </a:rPr>
                  <a:t>Vektor özünə paralel olaraq başqa yerə köçürüldükdə, onun ox üzərində proyeksiyası dəyişməz</a:t>
                </a:r>
                <a:endParaRPr lang="az-Latn-AZ" sz="2800" b="1" dirty="0">
                  <a:solidFill>
                    <a:srgbClr val="4A4A45"/>
                  </a:solidFill>
                  <a:latin typeface="Montserrat Black" pitchFamily="2" charset="0"/>
                </a:endParaRPr>
              </a:p>
            </p:txBody>
          </p:sp>
        </mc:Choice>
        <mc:Fallback>
          <p:sp>
            <p:nvSpPr>
              <p:cNvPr id="4" name="Mətn Qutusu 7">
                <a:extLst>
                  <a:ext uri="{FF2B5EF4-FFF2-40B4-BE49-F238E27FC236}">
                    <a16:creationId xmlns:a16="http://schemas.microsoft.com/office/drawing/2014/main" id="{E8D9A7C6-8994-1D5C-CD39-46D82C397411}"/>
                  </a:ext>
                </a:extLst>
              </p:cNvPr>
              <p:cNvSpPr txBox="1">
                <a:spLocks noRot="1" noChangeAspect="1" noMove="1" noResize="1" noEditPoints="1" noAdjustHandles="1" noChangeArrowheads="1" noChangeShapeType="1" noTextEdit="1"/>
              </p:cNvSpPr>
              <p:nvPr/>
            </p:nvSpPr>
            <p:spPr>
              <a:xfrm>
                <a:off x="246743" y="1103085"/>
                <a:ext cx="11756570" cy="5262979"/>
              </a:xfrm>
              <a:prstGeom prst="rect">
                <a:avLst/>
              </a:prstGeom>
              <a:blipFill>
                <a:blip r:embed="rId2"/>
                <a:stretch>
                  <a:fillRect l="-1037" t="-1275" b="-2317"/>
                </a:stretch>
              </a:blipFill>
            </p:spPr>
            <p:txBody>
              <a:bodyPr/>
              <a:lstStyle/>
              <a:p>
                <a:r>
                  <a:rPr lang="ru-RU">
                    <a:noFill/>
                  </a:rPr>
                  <a:t> </a:t>
                </a:r>
              </a:p>
            </p:txBody>
          </p:sp>
        </mc:Fallback>
      </mc:AlternateContent>
    </p:spTree>
    <p:extLst>
      <p:ext uri="{BB962C8B-B14F-4D97-AF65-F5344CB8AC3E}">
        <p14:creationId xmlns:p14="http://schemas.microsoft.com/office/powerpoint/2010/main" val="34734051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78254" y="130407"/>
            <a:ext cx="6801175" cy="1200329"/>
          </a:xfrm>
          <a:prstGeom prst="rect">
            <a:avLst/>
          </a:prstGeom>
        </p:spPr>
        <p:txBody>
          <a:bodyPr wrap="square">
            <a:spAutoFit/>
          </a:bodyPr>
          <a:lstStyle/>
          <a:p>
            <a:r>
              <a:rPr lang="az-Latn-AZ" sz="3600" b="1" dirty="0" smtClean="0">
                <a:solidFill>
                  <a:srgbClr val="282824"/>
                </a:solidFill>
                <a:latin typeface="Montserrat Black" pitchFamily="2" charset="0"/>
                <a:ea typeface="Lato Bold" pitchFamily="34" charset="-122"/>
                <a:cs typeface="Lato Bold" pitchFamily="34" charset="-120"/>
              </a:rPr>
              <a:t>Vektorun Bazisi Üzrə Ayrılışına</a:t>
            </a:r>
          </a:p>
          <a:p>
            <a:r>
              <a:rPr lang="az-Latn-AZ" sz="3600" b="1" dirty="0" smtClean="0">
                <a:solidFill>
                  <a:srgbClr val="282824"/>
                </a:solidFill>
                <a:latin typeface="Montserrat Black" pitchFamily="2" charset="0"/>
                <a:ea typeface="Lato Bold" pitchFamily="34" charset="-122"/>
                <a:cs typeface="Lato Bold" pitchFamily="34" charset="-120"/>
              </a:rPr>
              <a:t>	        Aid Nümünə</a:t>
            </a:r>
            <a:endParaRPr lang="az-Latn-AZ" sz="3600" b="1" dirty="0">
              <a:solidFill>
                <a:srgbClr val="282824"/>
              </a:solidFill>
              <a:latin typeface="Montserrat Black" pitchFamily="2" charset="0"/>
              <a:ea typeface="Lato Bold" pitchFamily="34" charset="-122"/>
              <a:cs typeface="Lato Bold" pitchFamily="34" charset="-120"/>
            </a:endParaRPr>
          </a:p>
        </p:txBody>
      </p:sp>
      <mc:AlternateContent xmlns:mc="http://schemas.openxmlformats.org/markup-compatibility/2006">
        <mc:Choice xmlns:a14="http://schemas.microsoft.com/office/drawing/2010/main" Requires="a14">
          <p:sp>
            <p:nvSpPr>
              <p:cNvPr id="3" name="Mətn Qutusu 7">
                <a:extLst>
                  <a:ext uri="{FF2B5EF4-FFF2-40B4-BE49-F238E27FC236}">
                    <a16:creationId xmlns:a16="http://schemas.microsoft.com/office/drawing/2014/main" id="{557DAC30-4F9F-C45F-0EB4-5D14F99A2CCC}"/>
                  </a:ext>
                </a:extLst>
              </p:cNvPr>
              <p:cNvSpPr txBox="1"/>
              <p:nvPr/>
            </p:nvSpPr>
            <p:spPr>
              <a:xfrm>
                <a:off x="994371" y="1573089"/>
                <a:ext cx="10399343" cy="954107"/>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4A4A45"/>
                    </a:solidFill>
                    <a:latin typeface="Montserrat Black" pitchFamily="2" charset="0"/>
                    <a:ea typeface="Lato" pitchFamily="34" charset="-122"/>
                    <a:cs typeface="Lato" pitchFamily="34" charset="-120"/>
                  </a:rPr>
                  <a:t>Vektor </a:t>
                </a:r>
                <a:r>
                  <a:rPr lang="en-US" sz="2800" dirty="0">
                    <a:solidFill>
                      <a:srgbClr val="4A4A45"/>
                    </a:solidFill>
                    <a:latin typeface="Montserrat Black" pitchFamily="2" charset="0"/>
                  </a:rPr>
                  <a:t>u=(5,3).</a:t>
                </a:r>
              </a:p>
              <a:p>
                <a:r>
                  <a:rPr lang="az-Latn-AZ" sz="2800" dirty="0" smtClean="0">
                    <a:solidFill>
                      <a:srgbClr val="4A4A45"/>
                    </a:solidFill>
                    <a:latin typeface="Montserrat Black" pitchFamily="2" charset="0"/>
                    <a:ea typeface="Lato" pitchFamily="34" charset="-122"/>
                    <a:cs typeface="Lato" pitchFamily="34" charset="-120"/>
                  </a:rPr>
                  <a:t>Bazis</a:t>
                </a:r>
                <a:r>
                  <a:rPr lang="en-US" sz="2800" dirty="0" smtClean="0">
                    <a:solidFill>
                      <a:srgbClr val="4A4A45"/>
                    </a:solidFill>
                    <a:latin typeface="Montserrat Black" pitchFamily="2" charset="0"/>
                    <a:ea typeface="Lato" pitchFamily="34" charset="-122"/>
                    <a:cs typeface="Lato" pitchFamily="34" charset="-120"/>
                  </a:rPr>
                  <a:t> v</a:t>
                </a:r>
                <a:r>
                  <a:rPr lang="az-Latn-AZ" sz="2800" dirty="0" smtClean="0">
                    <a:solidFill>
                      <a:srgbClr val="4A4A45"/>
                    </a:solidFill>
                    <a:latin typeface="Montserrat Black" pitchFamily="2" charset="0"/>
                    <a:ea typeface="Lato" pitchFamily="34" charset="-122"/>
                    <a:cs typeface="Lato" pitchFamily="34" charset="-120"/>
                  </a:rPr>
                  <a:t>ektorları </a:t>
                </a:r>
                <a14:m>
                  <m:oMath xmlns:m="http://schemas.openxmlformats.org/officeDocument/2006/math">
                    <m:sSub>
                      <m:sSubPr>
                        <m:ctrlPr>
                          <a:rPr lang="en-US" sz="2800" i="1" smtClean="0">
                            <a:solidFill>
                              <a:srgbClr val="4A4A45"/>
                            </a:solidFill>
                            <a:latin typeface="Cambria Math" panose="02040503050406030204" pitchFamily="18" charset="0"/>
                            <a:ea typeface="Lato" pitchFamily="34" charset="-122"/>
                            <a:cs typeface="Lato" pitchFamily="34" charset="-120"/>
                          </a:rPr>
                        </m:ctrlPr>
                      </m:sSubPr>
                      <m:e>
                        <m:r>
                          <a:rPr lang="en-US" sz="2800" b="0" i="1" smtClean="0">
                            <a:solidFill>
                              <a:srgbClr val="4A4A45"/>
                            </a:solidFill>
                            <a:latin typeface="Cambria Math" panose="02040503050406030204" pitchFamily="18" charset="0"/>
                            <a:ea typeface="Lato" pitchFamily="34" charset="-122"/>
                            <a:cs typeface="Lato" pitchFamily="34" charset="-120"/>
                          </a:rPr>
                          <m:t>𝑣</m:t>
                        </m:r>
                      </m:e>
                      <m:sub>
                        <m:r>
                          <a:rPr lang="en-US" sz="2800" b="0" i="1" smtClean="0">
                            <a:solidFill>
                              <a:srgbClr val="4A4A45"/>
                            </a:solidFill>
                            <a:latin typeface="Cambria Math" panose="02040503050406030204" pitchFamily="18" charset="0"/>
                            <a:ea typeface="Lato" pitchFamily="34" charset="-122"/>
                            <a:cs typeface="Lato" pitchFamily="34" charset="-120"/>
                          </a:rPr>
                          <m:t>1</m:t>
                        </m:r>
                      </m:sub>
                    </m:sSub>
                  </m:oMath>
                </a14:m>
                <a:r>
                  <a:rPr lang="en-US" sz="2800" dirty="0">
                    <a:solidFill>
                      <a:srgbClr val="4A4A45"/>
                    </a:solidFill>
                    <a:latin typeface="Montserrat Black" pitchFamily="2" charset="0"/>
                    <a:ea typeface="Lato" pitchFamily="34" charset="-122"/>
                    <a:cs typeface="Lato" pitchFamily="34" charset="-120"/>
                  </a:rPr>
                  <a:t>=(2,1) </a:t>
                </a:r>
                <a:r>
                  <a:rPr lang="az-Latn-AZ" sz="2800" dirty="0" smtClean="0">
                    <a:solidFill>
                      <a:srgbClr val="4A4A45"/>
                    </a:solidFill>
                    <a:latin typeface="Montserrat Black" pitchFamily="2" charset="0"/>
                    <a:ea typeface="Lato" pitchFamily="34" charset="-122"/>
                    <a:cs typeface="Lato" pitchFamily="34" charset="-120"/>
                  </a:rPr>
                  <a:t>və </a:t>
                </a:r>
                <a14:m>
                  <m:oMath xmlns:m="http://schemas.openxmlformats.org/officeDocument/2006/math">
                    <m:sSub>
                      <m:sSubPr>
                        <m:ctrlPr>
                          <a:rPr lang="en-US" sz="2800" i="1" smtClean="0">
                            <a:solidFill>
                              <a:srgbClr val="4A4A45"/>
                            </a:solidFill>
                            <a:latin typeface="Cambria Math" panose="02040503050406030204" pitchFamily="18" charset="0"/>
                            <a:ea typeface="Lato" pitchFamily="34" charset="-122"/>
                            <a:cs typeface="Lato" pitchFamily="34" charset="-120"/>
                          </a:rPr>
                        </m:ctrlPr>
                      </m:sSubPr>
                      <m:e>
                        <m:r>
                          <a:rPr lang="en-US" sz="2800" b="0" i="1" smtClean="0">
                            <a:solidFill>
                              <a:srgbClr val="4A4A45"/>
                            </a:solidFill>
                            <a:latin typeface="Cambria Math" panose="02040503050406030204" pitchFamily="18" charset="0"/>
                            <a:ea typeface="Lato" pitchFamily="34" charset="-122"/>
                            <a:cs typeface="Lato" pitchFamily="34" charset="-120"/>
                          </a:rPr>
                          <m:t>𝑣</m:t>
                        </m:r>
                      </m:e>
                      <m:sub>
                        <m:r>
                          <a:rPr lang="en-US" sz="2800" b="0" i="1" smtClean="0">
                            <a:solidFill>
                              <a:srgbClr val="4A4A45"/>
                            </a:solidFill>
                            <a:latin typeface="Cambria Math" panose="02040503050406030204" pitchFamily="18" charset="0"/>
                            <a:ea typeface="Lato" pitchFamily="34" charset="-122"/>
                            <a:cs typeface="Lato" pitchFamily="34" charset="-120"/>
                          </a:rPr>
                          <m:t>2</m:t>
                        </m:r>
                      </m:sub>
                    </m:sSub>
                  </m:oMath>
                </a14:m>
                <a:r>
                  <a:rPr lang="en-US" sz="2800" dirty="0">
                    <a:solidFill>
                      <a:srgbClr val="4A4A45"/>
                    </a:solidFill>
                    <a:latin typeface="Montserrat Black" pitchFamily="2" charset="0"/>
                    <a:ea typeface="Lato" pitchFamily="34" charset="-122"/>
                    <a:cs typeface="Lato" pitchFamily="34" charset="-120"/>
                  </a:rPr>
                  <a:t>=(1,−1)  </a:t>
                </a:r>
                <a:r>
                  <a:rPr lang="az-Latn-AZ" sz="2800" dirty="0" smtClean="0">
                    <a:solidFill>
                      <a:srgbClr val="4A4A45"/>
                    </a:solidFill>
                    <a:latin typeface="Montserrat Black" pitchFamily="2" charset="0"/>
                    <a:ea typeface="Lato" pitchFamily="34" charset="-122"/>
                    <a:cs typeface="Lato" pitchFamily="34" charset="-120"/>
                  </a:rPr>
                  <a:t>Gəlin bu misalı həll edək</a:t>
                </a:r>
                <a:endParaRPr lang="az-Latn-AZ" sz="2800" dirty="0">
                  <a:solidFill>
                    <a:srgbClr val="4A4A45"/>
                  </a:solidFill>
                  <a:latin typeface="Montserrat Black" pitchFamily="2" charset="0"/>
                  <a:ea typeface="Lato" pitchFamily="34" charset="-122"/>
                  <a:cs typeface="Lato" pitchFamily="34" charset="-120"/>
                </a:endParaRPr>
              </a:p>
            </p:txBody>
          </p:sp>
        </mc:Choice>
        <mc:Fallback>
          <p:sp>
            <p:nvSpPr>
              <p:cNvPr id="3" name="Mətn Qutusu 7">
                <a:extLst>
                  <a:ext uri="{FF2B5EF4-FFF2-40B4-BE49-F238E27FC236}">
                    <a16:creationId xmlns:a16="http://schemas.microsoft.com/office/drawing/2014/main" id="{557DAC30-4F9F-C45F-0EB4-5D14F99A2CCC}"/>
                  </a:ext>
                </a:extLst>
              </p:cNvPr>
              <p:cNvSpPr txBox="1">
                <a:spLocks noRot="1" noChangeAspect="1" noMove="1" noResize="1" noEditPoints="1" noAdjustHandles="1" noChangeArrowheads="1" noChangeShapeType="1" noTextEdit="1"/>
              </p:cNvSpPr>
              <p:nvPr/>
            </p:nvSpPr>
            <p:spPr>
              <a:xfrm>
                <a:off x="994371" y="1573089"/>
                <a:ext cx="10399343" cy="954107"/>
              </a:xfrm>
              <a:prstGeom prst="rect">
                <a:avLst/>
              </a:prstGeom>
              <a:blipFill>
                <a:blip r:embed="rId2"/>
                <a:stretch>
                  <a:fillRect l="-1172" t="-6369" b="-16561"/>
                </a:stretch>
              </a:blipFill>
            </p:spPr>
            <p:txBody>
              <a:bodyPr/>
              <a:lstStyle/>
              <a:p>
                <a:r>
                  <a:rPr lang="ru-RU">
                    <a:noFill/>
                  </a:rPr>
                  <a:t> </a:t>
                </a:r>
              </a:p>
            </p:txBody>
          </p:sp>
        </mc:Fallback>
      </mc:AlternateContent>
      <p:pic>
        <p:nvPicPr>
          <p:cNvPr id="4" name="Şəkil 3">
            <a:extLst>
              <a:ext uri="{FF2B5EF4-FFF2-40B4-BE49-F238E27FC236}">
                <a16:creationId xmlns:a16="http://schemas.microsoft.com/office/drawing/2014/main" id="{5F3A8CD5-5FDE-5BD1-8819-2F5445AF5386}"/>
              </a:ext>
            </a:extLst>
          </p:cNvPr>
          <p:cNvPicPr>
            <a:picLocks noChangeAspect="1"/>
          </p:cNvPicPr>
          <p:nvPr/>
        </p:nvPicPr>
        <p:blipFill>
          <a:blip r:embed="rId3"/>
          <a:stretch>
            <a:fillRect/>
          </a:stretch>
        </p:blipFill>
        <p:spPr>
          <a:xfrm>
            <a:off x="330930" y="2769549"/>
            <a:ext cx="2763512" cy="569796"/>
          </a:xfrm>
          <a:prstGeom prst="rect">
            <a:avLst/>
          </a:prstGeom>
        </p:spPr>
      </p:pic>
      <p:pic>
        <p:nvPicPr>
          <p:cNvPr id="5" name="Şəkil 17">
            <a:extLst>
              <a:ext uri="{FF2B5EF4-FFF2-40B4-BE49-F238E27FC236}">
                <a16:creationId xmlns:a16="http://schemas.microsoft.com/office/drawing/2014/main" id="{790AD021-25BD-D9B5-8B62-B3734B973BBB}"/>
              </a:ext>
            </a:extLst>
          </p:cNvPr>
          <p:cNvPicPr>
            <a:picLocks noChangeAspect="1"/>
          </p:cNvPicPr>
          <p:nvPr/>
        </p:nvPicPr>
        <p:blipFill>
          <a:blip r:embed="rId4"/>
          <a:stretch>
            <a:fillRect/>
          </a:stretch>
        </p:blipFill>
        <p:spPr>
          <a:xfrm>
            <a:off x="3245898" y="3339345"/>
            <a:ext cx="4486234" cy="715413"/>
          </a:xfrm>
          <a:prstGeom prst="rect">
            <a:avLst/>
          </a:prstGeom>
        </p:spPr>
      </p:pic>
      <p:pic>
        <p:nvPicPr>
          <p:cNvPr id="6" name="Şəkil 19">
            <a:extLst>
              <a:ext uri="{FF2B5EF4-FFF2-40B4-BE49-F238E27FC236}">
                <a16:creationId xmlns:a16="http://schemas.microsoft.com/office/drawing/2014/main" id="{F9A3D23B-15F8-4979-561C-BDBA6C92E723}"/>
              </a:ext>
            </a:extLst>
          </p:cNvPr>
          <p:cNvPicPr>
            <a:picLocks noChangeAspect="1"/>
          </p:cNvPicPr>
          <p:nvPr/>
        </p:nvPicPr>
        <p:blipFill>
          <a:blip r:embed="rId5"/>
          <a:stretch>
            <a:fillRect/>
          </a:stretch>
        </p:blipFill>
        <p:spPr>
          <a:xfrm>
            <a:off x="8506909" y="2769549"/>
            <a:ext cx="2886805" cy="721702"/>
          </a:xfrm>
          <a:prstGeom prst="rect">
            <a:avLst/>
          </a:prstGeom>
        </p:spPr>
      </p:pic>
      <p:sp>
        <p:nvSpPr>
          <p:cNvPr id="7" name="Mətn Qutusu 21">
            <a:extLst>
              <a:ext uri="{FF2B5EF4-FFF2-40B4-BE49-F238E27FC236}">
                <a16:creationId xmlns:a16="http://schemas.microsoft.com/office/drawing/2014/main" id="{D9B41BFD-6C51-DEF2-0BCB-74C34F076431}"/>
              </a:ext>
            </a:extLst>
          </p:cNvPr>
          <p:cNvSpPr txBox="1"/>
          <p:nvPr/>
        </p:nvSpPr>
        <p:spPr>
          <a:xfrm>
            <a:off x="130628" y="4333794"/>
            <a:ext cx="7462520" cy="52322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b="1" dirty="0">
                <a:solidFill>
                  <a:srgbClr val="4A4A45"/>
                </a:solidFill>
                <a:latin typeface="Montserrat Black" pitchFamily="2" charset="0"/>
                <a:ea typeface="Lato" pitchFamily="34" charset="-122"/>
                <a:cs typeface="Lato" pitchFamily="34" charset="-120"/>
              </a:rPr>
              <a:t>Sad</a:t>
            </a:r>
            <a:r>
              <a:rPr lang="az-Latn-AZ" sz="2800" b="1" dirty="0" err="1">
                <a:solidFill>
                  <a:srgbClr val="4A4A45"/>
                </a:solidFill>
                <a:latin typeface="Montserrat Black" pitchFamily="2" charset="0"/>
                <a:ea typeface="Lato" pitchFamily="34" charset="-122"/>
                <a:cs typeface="Lato" pitchFamily="34" charset="-120"/>
              </a:rPr>
              <a:t>ələşdiririk</a:t>
            </a:r>
            <a:r>
              <a:rPr lang="en-US" sz="2800" b="1" dirty="0">
                <a:solidFill>
                  <a:srgbClr val="4A4A45"/>
                </a:solidFill>
                <a:latin typeface="Montserrat Black" pitchFamily="2" charset="0"/>
                <a:ea typeface="Lato" pitchFamily="34" charset="-122"/>
                <a:cs typeface="Lato" pitchFamily="34" charset="-120"/>
              </a:rPr>
              <a:t>:</a:t>
            </a:r>
          </a:p>
        </p:txBody>
      </p:sp>
      <p:pic>
        <p:nvPicPr>
          <p:cNvPr id="8" name="Şəkil 15">
            <a:extLst>
              <a:ext uri="{FF2B5EF4-FFF2-40B4-BE49-F238E27FC236}">
                <a16:creationId xmlns:a16="http://schemas.microsoft.com/office/drawing/2014/main" id="{04F3EF91-6E82-9416-C558-0DAB9565AEF5}"/>
              </a:ext>
            </a:extLst>
          </p:cNvPr>
          <p:cNvPicPr>
            <a:picLocks noChangeAspect="1"/>
          </p:cNvPicPr>
          <p:nvPr/>
        </p:nvPicPr>
        <p:blipFill>
          <a:blip r:embed="rId6"/>
          <a:stretch>
            <a:fillRect/>
          </a:stretch>
        </p:blipFill>
        <p:spPr>
          <a:xfrm>
            <a:off x="130628" y="4874629"/>
            <a:ext cx="5295253" cy="971508"/>
          </a:xfrm>
          <a:prstGeom prst="rect">
            <a:avLst/>
          </a:prstGeom>
        </p:spPr>
      </p:pic>
      <p:pic>
        <p:nvPicPr>
          <p:cNvPr id="9" name="Şəkil 10">
            <a:extLst>
              <a:ext uri="{FF2B5EF4-FFF2-40B4-BE49-F238E27FC236}">
                <a16:creationId xmlns:a16="http://schemas.microsoft.com/office/drawing/2014/main" id="{514AD0D0-F317-7005-C6CF-5DBB71CC0BD2}"/>
              </a:ext>
            </a:extLst>
          </p:cNvPr>
          <p:cNvPicPr>
            <a:picLocks noChangeAspect="1"/>
          </p:cNvPicPr>
          <p:nvPr/>
        </p:nvPicPr>
        <p:blipFill>
          <a:blip r:embed="rId7"/>
          <a:stretch>
            <a:fillRect/>
          </a:stretch>
        </p:blipFill>
        <p:spPr>
          <a:xfrm>
            <a:off x="7732132" y="5500607"/>
            <a:ext cx="4436357" cy="1357393"/>
          </a:xfrm>
          <a:prstGeom prst="rect">
            <a:avLst/>
          </a:prstGeom>
        </p:spPr>
      </p:pic>
      <p:sp>
        <p:nvSpPr>
          <p:cNvPr id="10" name="Rectangle 9"/>
          <p:cNvSpPr/>
          <p:nvPr/>
        </p:nvSpPr>
        <p:spPr>
          <a:xfrm>
            <a:off x="7593148" y="4782435"/>
            <a:ext cx="1790764" cy="584775"/>
          </a:xfrm>
          <a:prstGeom prst="rect">
            <a:avLst/>
          </a:prstGeom>
        </p:spPr>
        <p:txBody>
          <a:bodyPr wrap="square">
            <a:spAutoFit/>
          </a:bodyPr>
          <a:lstStyle/>
          <a:p>
            <a:r>
              <a:rPr lang="az-Latn-AZ" sz="3200" b="1" dirty="0">
                <a:solidFill>
                  <a:srgbClr val="4A4A45"/>
                </a:solidFill>
                <a:latin typeface="Montserrat Black" pitchFamily="2" charset="0"/>
                <a:ea typeface="Lato" pitchFamily="34" charset="-122"/>
                <a:cs typeface="Lato" pitchFamily="34" charset="-120"/>
              </a:rPr>
              <a:t>Nəticə</a:t>
            </a:r>
            <a:r>
              <a:rPr lang="en-US" sz="3200" b="1" dirty="0">
                <a:solidFill>
                  <a:srgbClr val="4A4A45"/>
                </a:solidFill>
                <a:latin typeface="Montserrat Black" pitchFamily="2" charset="0"/>
                <a:ea typeface="Lato" pitchFamily="34" charset="-122"/>
                <a:cs typeface="Lato" pitchFamily="34" charset="-120"/>
              </a:rPr>
              <a:t>:</a:t>
            </a:r>
            <a:endParaRPr lang="en-US" sz="3200" b="1" dirty="0">
              <a:solidFill>
                <a:srgbClr val="4A4A45"/>
              </a:solidFill>
              <a:latin typeface="Montserrat Black" pitchFamily="2" charset="0"/>
              <a:ea typeface="Lato" pitchFamily="34" charset="-122"/>
              <a:cs typeface="Lato" pitchFamily="34" charset="-120"/>
            </a:endParaRPr>
          </a:p>
        </p:txBody>
      </p:sp>
    </p:spTree>
    <p:extLst>
      <p:ext uri="{BB962C8B-B14F-4D97-AF65-F5344CB8AC3E}">
        <p14:creationId xmlns:p14="http://schemas.microsoft.com/office/powerpoint/2010/main" val="13698556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6741095-E490-F711-28EE-52CDC1C3AAEF}"/>
              </a:ext>
            </a:extLst>
          </p:cNvPr>
          <p:cNvSpPr/>
          <p:nvPr/>
        </p:nvSpPr>
        <p:spPr>
          <a:xfrm>
            <a:off x="996319" y="302382"/>
            <a:ext cx="10687682" cy="708779"/>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5550"/>
              </a:lnSpc>
              <a:buNone/>
            </a:pPr>
            <a:r>
              <a:rPr lang="az-Latn-AZ" sz="4800" b="1" dirty="0" smtClean="0">
                <a:solidFill>
                  <a:srgbClr val="282824"/>
                </a:solidFill>
                <a:latin typeface="Montserrat Black" pitchFamily="2" charset="0"/>
                <a:ea typeface="Lato Bold" pitchFamily="34" charset="-122"/>
                <a:cs typeface="Lato Bold" pitchFamily="34" charset="-120"/>
              </a:rPr>
              <a:t>Müstəvi Üzərində Düz Xətt Tənlikləri</a:t>
            </a:r>
          </a:p>
          <a:p>
            <a:pPr marL="0" indent="0">
              <a:lnSpc>
                <a:spcPts val="5550"/>
              </a:lnSpc>
              <a:buNone/>
            </a:pPr>
            <a:r>
              <a:rPr lang="az-Latn-AZ" sz="4800" b="1" dirty="0" smtClean="0">
                <a:solidFill>
                  <a:srgbClr val="282824"/>
                </a:solidFill>
                <a:latin typeface="Montserrat Black" pitchFamily="2" charset="0"/>
                <a:ea typeface="Lato Bold" pitchFamily="34" charset="-122"/>
                <a:cs typeface="Lato Bold" pitchFamily="34" charset="-120"/>
              </a:rPr>
              <a:t>                Xüsusi hallar</a:t>
            </a:r>
            <a:endParaRPr lang="az-Latn-AZ" sz="4800" b="1" dirty="0">
              <a:solidFill>
                <a:srgbClr val="282824"/>
              </a:solidFill>
              <a:latin typeface="Montserrat Black" pitchFamily="2" charset="0"/>
              <a:ea typeface="Lato Bold" pitchFamily="34" charset="-122"/>
              <a:cs typeface="Lato Bold" pitchFamily="34" charset="-120"/>
            </a:endParaRPr>
          </a:p>
        </p:txBody>
      </p:sp>
      <p:pic>
        <p:nvPicPr>
          <p:cNvPr id="3" name="Picture 2"/>
          <p:cNvPicPr>
            <a:picLocks noChangeAspect="1"/>
          </p:cNvPicPr>
          <p:nvPr/>
        </p:nvPicPr>
        <p:blipFill>
          <a:blip r:embed="rId2"/>
          <a:stretch>
            <a:fillRect/>
          </a:stretch>
        </p:blipFill>
        <p:spPr>
          <a:xfrm>
            <a:off x="687433" y="1994122"/>
            <a:ext cx="10648224" cy="4394904"/>
          </a:xfrm>
          <a:prstGeom prst="rect">
            <a:avLst/>
          </a:prstGeom>
        </p:spPr>
      </p:pic>
    </p:spTree>
    <p:extLst>
      <p:ext uri="{BB962C8B-B14F-4D97-AF65-F5344CB8AC3E}">
        <p14:creationId xmlns:p14="http://schemas.microsoft.com/office/powerpoint/2010/main" val="39154956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D5032F3-3A28-A6D3-4A0B-F2A003826E1E}"/>
              </a:ext>
            </a:extLst>
          </p:cNvPr>
          <p:cNvSpPr/>
          <p:nvPr/>
        </p:nvSpPr>
        <p:spPr>
          <a:xfrm>
            <a:off x="2520318" y="592668"/>
            <a:ext cx="7305853" cy="708779"/>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5550"/>
              </a:lnSpc>
              <a:buNone/>
            </a:pPr>
            <a:r>
              <a:rPr lang="az-Latn-AZ" sz="6600" b="1" dirty="0" smtClean="0">
                <a:solidFill>
                  <a:srgbClr val="282824"/>
                </a:solidFill>
                <a:latin typeface="Montserrat Black" pitchFamily="2" charset="0"/>
                <a:ea typeface="Lato Bold" pitchFamily="34" charset="-122"/>
                <a:cs typeface="Lato Bold" pitchFamily="34" charset="-120"/>
              </a:rPr>
              <a:t>Müstəvi Tənlikləri</a:t>
            </a:r>
            <a:endParaRPr lang="az-Latn-AZ" sz="6600" b="1" dirty="0">
              <a:solidFill>
                <a:srgbClr val="282824"/>
              </a:solidFill>
              <a:latin typeface="Montserrat Black" pitchFamily="2" charset="0"/>
              <a:ea typeface="Lato Bold" pitchFamily="34" charset="-122"/>
              <a:cs typeface="Lato Bold" pitchFamily="34" charset="-120"/>
            </a:endParaRPr>
          </a:p>
        </p:txBody>
      </p:sp>
      <p:pic>
        <p:nvPicPr>
          <p:cNvPr id="3" name="Picture 2"/>
          <p:cNvPicPr>
            <a:picLocks noChangeAspect="1"/>
          </p:cNvPicPr>
          <p:nvPr/>
        </p:nvPicPr>
        <p:blipFill>
          <a:blip r:embed="rId2"/>
          <a:stretch>
            <a:fillRect/>
          </a:stretch>
        </p:blipFill>
        <p:spPr>
          <a:xfrm>
            <a:off x="352344" y="2032001"/>
            <a:ext cx="11641799" cy="3556000"/>
          </a:xfrm>
          <a:prstGeom prst="rect">
            <a:avLst/>
          </a:prstGeom>
        </p:spPr>
      </p:pic>
    </p:spTree>
    <p:extLst>
      <p:ext uri="{BB962C8B-B14F-4D97-AF65-F5344CB8AC3E}">
        <p14:creationId xmlns:p14="http://schemas.microsoft.com/office/powerpoint/2010/main" val="1378852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56227" y="1572735"/>
            <a:ext cx="9463315" cy="3046988"/>
          </a:xfrm>
          <a:prstGeom prst="rect">
            <a:avLst/>
          </a:prstGeom>
        </p:spPr>
        <p:txBody>
          <a:bodyPr wrap="square">
            <a:spAutoFit/>
          </a:bodyPr>
          <a:lstStyle/>
          <a:p>
            <a:r>
              <a:rPr lang="az-Latn-AZ" sz="3200" b="1" dirty="0" smtClean="0"/>
              <a:t>Müstəvi </a:t>
            </a:r>
            <a:r>
              <a:rPr lang="az-Latn-AZ" sz="3200" b="1" dirty="0"/>
              <a:t>üzərində düz xətt tənlikləri, ümumiyyətlə, analitik geometriyada istifadə olunur və müstəvi üzərindəki bir düz xətti təyin etmək üçün tənlikdən istifadə edilir. Bir düz xəttin müstəvi üzərində tənliyi müxtəlif formalarda ifadə oluna bilər.</a:t>
            </a:r>
            <a:endParaRPr lang="ru-RU" sz="3200" b="1" dirty="0"/>
          </a:p>
        </p:txBody>
      </p:sp>
    </p:spTree>
    <p:extLst>
      <p:ext uri="{BB962C8B-B14F-4D97-AF65-F5344CB8AC3E}">
        <p14:creationId xmlns:p14="http://schemas.microsoft.com/office/powerpoint/2010/main" val="37570771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7318" y="0"/>
            <a:ext cx="10364451" cy="1596177"/>
          </a:xfrm>
        </p:spPr>
        <p:txBody>
          <a:bodyPr/>
          <a:lstStyle/>
          <a:p>
            <a:r>
              <a:rPr lang="az-Latn-AZ" b="1" dirty="0"/>
              <a:t>İki nöqtə arasında düz xəttin tənliyi</a:t>
            </a:r>
            <a:endParaRPr lang="ru-RU" b="1" dirty="0"/>
          </a:p>
        </p:txBody>
      </p:sp>
      <p:sp>
        <p:nvSpPr>
          <p:cNvPr id="3" name="Rectangle 2"/>
          <p:cNvSpPr/>
          <p:nvPr/>
        </p:nvSpPr>
        <p:spPr>
          <a:xfrm>
            <a:off x="1596569" y="1596177"/>
            <a:ext cx="8839201" cy="1569660"/>
          </a:xfrm>
          <a:prstGeom prst="rect">
            <a:avLst/>
          </a:prstGeom>
        </p:spPr>
        <p:txBody>
          <a:bodyPr wrap="square">
            <a:spAutoFit/>
          </a:bodyPr>
          <a:lstStyle/>
          <a:p>
            <a:r>
              <a:rPr lang="az-Latn-AZ" sz="2400" b="1" dirty="0"/>
              <a:t>Əgər bir düz xəttin üzərində iki nöqtə A(x1,y1)A(x_1, y_1)A(x1​,y1​) və B(x2,y2)B(x_2, y_2)B(x2​,y2​) verilibsə, onda düz xəttin tənliyi bu iki nöqtə vasitəsilə qurula bilər. İlk öncə, xəttin meyli (təpəsi) hesablana bilər:</a:t>
            </a:r>
            <a:endParaRPr lang="ru-RU" sz="2400" b="1" dirty="0"/>
          </a:p>
        </p:txBody>
      </p:sp>
      <p:pic>
        <p:nvPicPr>
          <p:cNvPr id="4" name="Picture 3"/>
          <p:cNvPicPr>
            <a:picLocks noChangeAspect="1"/>
          </p:cNvPicPr>
          <p:nvPr/>
        </p:nvPicPr>
        <p:blipFill>
          <a:blip r:embed="rId2"/>
          <a:stretch>
            <a:fillRect/>
          </a:stretch>
        </p:blipFill>
        <p:spPr>
          <a:xfrm>
            <a:off x="7329624" y="3225830"/>
            <a:ext cx="3732770" cy="1236015"/>
          </a:xfrm>
          <a:prstGeom prst="rect">
            <a:avLst/>
          </a:prstGeom>
        </p:spPr>
      </p:pic>
      <p:sp>
        <p:nvSpPr>
          <p:cNvPr id="5" name="Rectangle 4"/>
          <p:cNvSpPr/>
          <p:nvPr/>
        </p:nvSpPr>
        <p:spPr>
          <a:xfrm>
            <a:off x="287866" y="4631854"/>
            <a:ext cx="6867586" cy="461665"/>
          </a:xfrm>
          <a:prstGeom prst="rect">
            <a:avLst/>
          </a:prstGeom>
        </p:spPr>
        <p:txBody>
          <a:bodyPr wrap="none">
            <a:spAutoFit/>
          </a:bodyPr>
          <a:lstStyle/>
          <a:p>
            <a:r>
              <a:rPr lang="az-Latn-AZ" sz="2400" b="1" dirty="0"/>
              <a:t>Sonra, xəttin tənliyi aşağıdakı formada yazılır:</a:t>
            </a:r>
            <a:endParaRPr lang="ru-RU" sz="2400" b="1" dirty="0"/>
          </a:p>
        </p:txBody>
      </p:sp>
      <p:pic>
        <p:nvPicPr>
          <p:cNvPr id="6" name="Picture 5"/>
          <p:cNvPicPr>
            <a:picLocks noChangeAspect="1"/>
          </p:cNvPicPr>
          <p:nvPr/>
        </p:nvPicPr>
        <p:blipFill>
          <a:blip r:embed="rId3"/>
          <a:stretch>
            <a:fillRect/>
          </a:stretch>
        </p:blipFill>
        <p:spPr>
          <a:xfrm>
            <a:off x="2704067" y="5356484"/>
            <a:ext cx="4180669" cy="845030"/>
          </a:xfrm>
          <a:prstGeom prst="rect">
            <a:avLst/>
          </a:prstGeom>
        </p:spPr>
      </p:pic>
    </p:spTree>
    <p:extLst>
      <p:ext uri="{BB962C8B-B14F-4D97-AF65-F5344CB8AC3E}">
        <p14:creationId xmlns:p14="http://schemas.microsoft.com/office/powerpoint/2010/main" val="8971793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3">
            <a:extLst>
              <a:ext uri="{FF2B5EF4-FFF2-40B4-BE49-F238E27FC236}">
                <a16:creationId xmlns:a16="http://schemas.microsoft.com/office/drawing/2014/main" id="{F59B0BB1-B4CC-375B-97C6-E6F47E7E14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5584" y="931690"/>
            <a:ext cx="4364492" cy="5401017"/>
          </a:xfrm>
          <a:prstGeom prst="rect">
            <a:avLst/>
          </a:prstGeom>
        </p:spPr>
      </p:pic>
      <p:pic>
        <p:nvPicPr>
          <p:cNvPr id="3" name="Resim 1">
            <a:extLst>
              <a:ext uri="{FF2B5EF4-FFF2-40B4-BE49-F238E27FC236}">
                <a16:creationId xmlns:a16="http://schemas.microsoft.com/office/drawing/2014/main" id="{3DFF1394-6860-2D08-EFC6-00865B5432A7}"/>
              </a:ext>
            </a:extLst>
          </p:cNvPr>
          <p:cNvPicPr>
            <a:picLocks noChangeAspect="1"/>
          </p:cNvPicPr>
          <p:nvPr/>
        </p:nvPicPr>
        <p:blipFill>
          <a:blip r:embed="rId3">
            <a:extLst>
              <a:ext uri="{28A0092B-C50C-407E-A947-70E740481C1C}">
                <a14:useLocalDpi xmlns:a14="http://schemas.microsoft.com/office/drawing/2010/main" val="0"/>
              </a:ext>
            </a:extLst>
          </a:blip>
          <a:srcRect r="6098"/>
          <a:stretch/>
        </p:blipFill>
        <p:spPr>
          <a:xfrm>
            <a:off x="1190696" y="1122104"/>
            <a:ext cx="5049922" cy="5020190"/>
          </a:xfrm>
          <a:prstGeom prst="rect">
            <a:avLst/>
          </a:prstGeom>
        </p:spPr>
      </p:pic>
    </p:spTree>
    <p:extLst>
      <p:ext uri="{BB962C8B-B14F-4D97-AF65-F5344CB8AC3E}">
        <p14:creationId xmlns:p14="http://schemas.microsoft.com/office/powerpoint/2010/main" val="1119717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7319" y="159657"/>
            <a:ext cx="10364451" cy="1596177"/>
          </a:xfrm>
        </p:spPr>
        <p:txBody>
          <a:bodyPr/>
          <a:lstStyle/>
          <a:p>
            <a:r>
              <a:rPr lang="az-Latn-AZ" b="1" dirty="0" smtClean="0">
                <a:latin typeface="+mn-lt"/>
              </a:rPr>
              <a:t>FƏZADA DÜZ XƏTT VƏ MÜSTƏVİ TƏNLİKLƏRİ</a:t>
            </a:r>
            <a:endParaRPr lang="ru-RU" b="1" dirty="0">
              <a:latin typeface="+mn-lt"/>
            </a:endParaRPr>
          </a:p>
        </p:txBody>
      </p:sp>
      <mc:AlternateContent xmlns:mc="http://schemas.openxmlformats.org/markup-compatibility/2006">
        <mc:Choice xmlns:a14="http://schemas.microsoft.com/office/drawing/2010/main" Requires="a14">
          <p:sp>
            <p:nvSpPr>
              <p:cNvPr id="3" name="Rectangle 2"/>
              <p:cNvSpPr/>
              <p:nvPr/>
            </p:nvSpPr>
            <p:spPr>
              <a:xfrm>
                <a:off x="566684" y="2074598"/>
                <a:ext cx="10755086" cy="3785652"/>
              </a:xfrm>
              <a:prstGeom prst="rect">
                <a:avLst/>
              </a:prstGeom>
            </p:spPr>
            <p:txBody>
              <a:bodyPr wrap="square">
                <a:spAutoFit/>
              </a:bodyPr>
              <a:lstStyle/>
              <a:p>
                <a:r>
                  <a:rPr lang="az-Latn-AZ" sz="2000" b="1" dirty="0"/>
                  <a:t>Müstəvinin ümumi tənliyi </a:t>
                </a:r>
                <a14:m>
                  <m:oMath xmlns:m="http://schemas.openxmlformats.org/officeDocument/2006/math">
                    <m:r>
                      <a:rPr lang="az-Latn-AZ" sz="2000" b="1" i="1">
                        <a:latin typeface="Cambria Math" panose="02040503050406030204" pitchFamily="18" charset="0"/>
                      </a:rPr>
                      <m:t>𝑨𝒙</m:t>
                    </m:r>
                    <m:r>
                      <a:rPr lang="az-Latn-AZ" sz="2000" b="1" i="1">
                        <a:latin typeface="Cambria Math" panose="02040503050406030204" pitchFamily="18" charset="0"/>
                      </a:rPr>
                      <m:t>+</m:t>
                    </m:r>
                    <m:r>
                      <a:rPr lang="az-Latn-AZ" sz="2000" b="1" i="1">
                        <a:latin typeface="Cambria Math" panose="02040503050406030204" pitchFamily="18" charset="0"/>
                      </a:rPr>
                      <m:t>𝑩𝒚</m:t>
                    </m:r>
                    <m:r>
                      <a:rPr lang="az-Latn-AZ" sz="2000" b="1" i="1">
                        <a:latin typeface="Cambria Math" panose="02040503050406030204" pitchFamily="18" charset="0"/>
                      </a:rPr>
                      <m:t>+</m:t>
                    </m:r>
                    <m:r>
                      <a:rPr lang="az-Latn-AZ" sz="2000" b="1" i="1">
                        <a:latin typeface="Cambria Math" panose="02040503050406030204" pitchFamily="18" charset="0"/>
                      </a:rPr>
                      <m:t>𝑪𝒛</m:t>
                    </m:r>
                    <m:r>
                      <a:rPr lang="az-Latn-AZ" sz="2000" b="1" i="1">
                        <a:latin typeface="Cambria Math" panose="02040503050406030204" pitchFamily="18" charset="0"/>
                      </a:rPr>
                      <m:t>+</m:t>
                    </m:r>
                    <m:r>
                      <a:rPr lang="az-Latn-AZ" sz="2000" b="1" i="1">
                        <a:latin typeface="Cambria Math" panose="02040503050406030204" pitchFamily="18" charset="0"/>
                      </a:rPr>
                      <m:t>𝑫</m:t>
                    </m:r>
                    <m:r>
                      <a:rPr lang="az-Latn-AZ" sz="2000" b="1" i="1">
                        <a:latin typeface="Cambria Math" panose="02040503050406030204" pitchFamily="18" charset="0"/>
                      </a:rPr>
                      <m:t>=</m:t>
                    </m:r>
                    <m:r>
                      <a:rPr lang="az-Latn-AZ" sz="2000" b="1" i="1">
                        <a:latin typeface="Cambria Math" panose="02040503050406030204" pitchFamily="18" charset="0"/>
                      </a:rPr>
                      <m:t>𝟎</m:t>
                    </m:r>
                  </m:oMath>
                </a14:m>
                <a:r>
                  <a:rPr lang="az-Latn-AZ" sz="2000" b="1" dirty="0"/>
                  <a:t> şəklindədir</a:t>
                </a:r>
                <a:endParaRPr lang="en-US" sz="2000" b="1" dirty="0"/>
              </a:p>
              <a:p>
                <a:r>
                  <a:rPr lang="en-US" sz="2000" b="1" dirty="0"/>
                  <a:t>M</a:t>
                </a:r>
                <a:r>
                  <a:rPr lang="az-Latn-AZ" sz="2000" b="1" dirty="0"/>
                  <a:t>üxtəlif hallara nəzər salaq</a:t>
                </a:r>
                <a:endParaRPr lang="en-US" sz="2000" b="1" dirty="0"/>
              </a:p>
              <a:p>
                <a:endParaRPr lang="en-US" sz="2000" b="1" dirty="0"/>
              </a:p>
              <a:p>
                <a:endParaRPr lang="en-US" sz="2000" b="1" dirty="0"/>
              </a:p>
              <a:p>
                <a:pPr marL="342900" indent="-342900">
                  <a:buFont typeface="+mj-lt"/>
                  <a:buAutoNum type="arabicPeriod"/>
                </a:pPr>
                <a14:m>
                  <m:oMath xmlns:m="http://schemas.openxmlformats.org/officeDocument/2006/math">
                    <m:r>
                      <a:rPr lang="en-US" sz="2000" b="1" i="1">
                        <a:latin typeface="Cambria Math" panose="02040503050406030204" pitchFamily="18" charset="0"/>
                      </a:rPr>
                      <m:t>𝑫</m:t>
                    </m:r>
                    <m:r>
                      <a:rPr lang="en-US" sz="2000" b="1" i="1">
                        <a:latin typeface="Cambria Math" panose="02040503050406030204" pitchFamily="18" charset="0"/>
                      </a:rPr>
                      <m:t>=</m:t>
                    </m:r>
                    <m:r>
                      <a:rPr lang="en-US" sz="2000" b="1" i="1">
                        <a:latin typeface="Cambria Math" panose="02040503050406030204" pitchFamily="18" charset="0"/>
                      </a:rPr>
                      <m:t>𝟎</m:t>
                    </m:r>
                  </m:oMath>
                </a14:m>
                <a:r>
                  <a:rPr lang="en-US" sz="2000" b="1" dirty="0"/>
                  <a:t> </a:t>
                </a:r>
                <a:r>
                  <a:rPr lang="en-US" sz="2000" b="1" dirty="0" smtClean="0"/>
                  <a:t>o</a:t>
                </a:r>
                <a:r>
                  <a:rPr lang="az-Latn-AZ" sz="2000" b="1" dirty="0" smtClean="0"/>
                  <a:t>nda</a:t>
                </a:r>
                <a:r>
                  <a:rPr lang="en-US" sz="2000" b="1" dirty="0" smtClean="0"/>
                  <a:t> </a:t>
                </a:r>
                <a:r>
                  <a:rPr lang="en-US" sz="2000" b="1" dirty="0"/>
                  <a:t>t</a:t>
                </a:r>
                <a:r>
                  <a:rPr lang="az-Latn-AZ" sz="2000" b="1" dirty="0"/>
                  <a:t>ənliyimiz </a:t>
                </a:r>
                <a14:m>
                  <m:oMath xmlns:m="http://schemas.openxmlformats.org/officeDocument/2006/math">
                    <m:r>
                      <a:rPr lang="az-Latn-AZ" sz="2000" b="1" i="1">
                        <a:latin typeface="Cambria Math" panose="02040503050406030204" pitchFamily="18" charset="0"/>
                      </a:rPr>
                      <m:t>𝑴</m:t>
                    </m:r>
                    <m:d>
                      <m:dPr>
                        <m:ctrlPr>
                          <a:rPr lang="az-Latn-AZ" sz="2000" b="1" i="1">
                            <a:latin typeface="Cambria Math" panose="02040503050406030204" pitchFamily="18" charset="0"/>
                          </a:rPr>
                        </m:ctrlPr>
                      </m:dPr>
                      <m:e>
                        <m:r>
                          <a:rPr lang="az-Latn-AZ" sz="2000" b="1" i="1">
                            <a:latin typeface="Cambria Math" panose="02040503050406030204" pitchFamily="18" charset="0"/>
                          </a:rPr>
                          <m:t>𝟎</m:t>
                        </m:r>
                        <m:r>
                          <a:rPr lang="en-US" sz="2000" b="1" i="1">
                            <a:latin typeface="Cambria Math" panose="02040503050406030204" pitchFamily="18" charset="0"/>
                          </a:rPr>
                          <m:t>,</m:t>
                        </m:r>
                        <m:r>
                          <a:rPr lang="en-US" sz="2000" b="1" i="1">
                            <a:latin typeface="Cambria Math" panose="02040503050406030204" pitchFamily="18" charset="0"/>
                          </a:rPr>
                          <m:t>𝟎</m:t>
                        </m:r>
                        <m:r>
                          <a:rPr lang="en-US" sz="2000" b="1" i="1">
                            <a:latin typeface="Cambria Math" panose="02040503050406030204" pitchFamily="18" charset="0"/>
                          </a:rPr>
                          <m:t>,</m:t>
                        </m:r>
                        <m:r>
                          <a:rPr lang="en-US" sz="2000" b="1" i="1">
                            <a:latin typeface="Cambria Math" panose="02040503050406030204" pitchFamily="18" charset="0"/>
                          </a:rPr>
                          <m:t>𝟎</m:t>
                        </m:r>
                      </m:e>
                    </m:d>
                  </m:oMath>
                </a14:m>
                <a:r>
                  <a:rPr lang="az-Latn-AZ" sz="2000" b="1" dirty="0"/>
                  <a:t> nöqtəsi üzərindədir</a:t>
                </a:r>
                <a:endParaRPr lang="en-US" sz="2000" b="1" dirty="0"/>
              </a:p>
              <a:p>
                <a:pPr marL="342900" indent="-342900">
                  <a:buFont typeface="+mj-lt"/>
                  <a:buAutoNum type="arabicPeriod"/>
                </a:pPr>
                <a:endParaRPr lang="az-Latn-AZ" sz="2000" b="1" dirty="0"/>
              </a:p>
              <a:p>
                <a:pPr marL="342900" indent="-342900">
                  <a:buFont typeface="+mj-lt"/>
                  <a:buAutoNum type="arabicPeriod"/>
                </a:pPr>
                <a14:m>
                  <m:oMath xmlns:m="http://schemas.openxmlformats.org/officeDocument/2006/math">
                    <m:r>
                      <a:rPr lang="az-Latn-AZ" sz="2000" b="1" i="1">
                        <a:latin typeface="Cambria Math" panose="02040503050406030204" pitchFamily="18" charset="0"/>
                      </a:rPr>
                      <m:t>𝑪</m:t>
                    </m:r>
                    <m:r>
                      <a:rPr lang="az-Latn-AZ" sz="2000" b="1" i="1">
                        <a:latin typeface="Cambria Math" panose="02040503050406030204" pitchFamily="18" charset="0"/>
                      </a:rPr>
                      <m:t>=</m:t>
                    </m:r>
                    <m:r>
                      <a:rPr lang="az-Latn-AZ" sz="2000" b="1" i="1">
                        <a:latin typeface="Cambria Math" panose="02040503050406030204" pitchFamily="18" charset="0"/>
                      </a:rPr>
                      <m:t>𝟎</m:t>
                    </m:r>
                  </m:oMath>
                </a14:m>
                <a:r>
                  <a:rPr lang="az-Latn-AZ" sz="2000" b="1" dirty="0"/>
                  <a:t> olarsa </a:t>
                </a:r>
                <a14:m>
                  <m:oMath xmlns:m="http://schemas.openxmlformats.org/officeDocument/2006/math">
                    <m:r>
                      <a:rPr lang="az-Latn-AZ" sz="2000" b="1" i="1">
                        <a:latin typeface="Cambria Math" panose="02040503050406030204" pitchFamily="18" charset="0"/>
                      </a:rPr>
                      <m:t>𝑨𝒙</m:t>
                    </m:r>
                    <m:r>
                      <a:rPr lang="az-Latn-AZ" sz="2000" b="1" i="1">
                        <a:latin typeface="Cambria Math" panose="02040503050406030204" pitchFamily="18" charset="0"/>
                      </a:rPr>
                      <m:t>+</m:t>
                    </m:r>
                    <m:r>
                      <a:rPr lang="az-Latn-AZ" sz="2000" b="1" i="1">
                        <a:latin typeface="Cambria Math" panose="02040503050406030204" pitchFamily="18" charset="0"/>
                      </a:rPr>
                      <m:t>𝑩𝒚</m:t>
                    </m:r>
                    <m:r>
                      <a:rPr lang="az-Latn-AZ" sz="2000" b="1" i="1">
                        <a:latin typeface="Cambria Math" panose="02040503050406030204" pitchFamily="18" charset="0"/>
                      </a:rPr>
                      <m:t>+</m:t>
                    </m:r>
                    <m:r>
                      <a:rPr lang="az-Latn-AZ" sz="2000" b="1" i="1">
                        <a:latin typeface="Cambria Math" panose="02040503050406030204" pitchFamily="18" charset="0"/>
                      </a:rPr>
                      <m:t>𝑫</m:t>
                    </m:r>
                    <m:r>
                      <a:rPr lang="az-Latn-AZ" sz="2000" b="1" i="1">
                        <a:latin typeface="Cambria Math" panose="02040503050406030204" pitchFamily="18" charset="0"/>
                      </a:rPr>
                      <m:t>=</m:t>
                    </m:r>
                    <m:r>
                      <a:rPr lang="az-Latn-AZ" sz="2000" b="1" i="1">
                        <a:latin typeface="Cambria Math" panose="02040503050406030204" pitchFamily="18" charset="0"/>
                      </a:rPr>
                      <m:t>𝟎</m:t>
                    </m:r>
                  </m:oMath>
                </a14:m>
                <a:r>
                  <a:rPr lang="az-Latn-AZ" sz="2000" b="1" dirty="0"/>
                  <a:t> bu o deməkdir ki bu vektorun normalı Oz oxuna perpendikuliyar həmdə Q müstəvisi Oz-ə pareleldir</a:t>
                </a:r>
                <a:r>
                  <a:rPr lang="en-US" sz="2000" b="1" dirty="0"/>
                  <a:t>.</a:t>
                </a:r>
              </a:p>
              <a:p>
                <a:pPr marL="342900" indent="-342900">
                  <a:buFont typeface="+mj-lt"/>
                  <a:buAutoNum type="arabicPeriod"/>
                </a:pPr>
                <a:endParaRPr lang="az-Latn-AZ" sz="2000" b="1" dirty="0"/>
              </a:p>
              <a:p>
                <a:pPr marL="342900" indent="-342900">
                  <a:buFont typeface="+mj-lt"/>
                  <a:buAutoNum type="arabicPeriod"/>
                </a:pPr>
                <a14:m>
                  <m:oMath xmlns:m="http://schemas.openxmlformats.org/officeDocument/2006/math">
                    <m:r>
                      <a:rPr lang="az-Latn-AZ" sz="2000" b="1" i="1">
                        <a:latin typeface="Cambria Math" panose="02040503050406030204" pitchFamily="18" charset="0"/>
                      </a:rPr>
                      <m:t>𝑨</m:t>
                    </m:r>
                    <m:r>
                      <a:rPr lang="az-Latn-AZ" sz="2000" b="1" i="1">
                        <a:latin typeface="Cambria Math" panose="02040503050406030204" pitchFamily="18" charset="0"/>
                      </a:rPr>
                      <m:t>=</m:t>
                    </m:r>
                    <m:r>
                      <a:rPr lang="az-Latn-AZ" sz="2000" b="1" i="1">
                        <a:latin typeface="Cambria Math" panose="02040503050406030204" pitchFamily="18" charset="0"/>
                      </a:rPr>
                      <m:t>𝟎</m:t>
                    </m:r>
                  </m:oMath>
                </a14:m>
                <a:r>
                  <a:rPr lang="az-Latn-AZ" sz="2000" b="1" dirty="0"/>
                  <a:t> olarsa Ox </a:t>
                </a:r>
                <a14:m>
                  <m:oMath xmlns:m="http://schemas.openxmlformats.org/officeDocument/2006/math">
                    <m:r>
                      <a:rPr lang="az-Latn-AZ" sz="2000" b="1" i="1">
                        <a:latin typeface="Cambria Math" panose="02040503050406030204" pitchFamily="18" charset="0"/>
                      </a:rPr>
                      <m:t>𝑩</m:t>
                    </m:r>
                    <m:r>
                      <a:rPr lang="az-Latn-AZ" sz="2000" b="1" i="1">
                        <a:latin typeface="Cambria Math" panose="02040503050406030204" pitchFamily="18" charset="0"/>
                      </a:rPr>
                      <m:t>=</m:t>
                    </m:r>
                    <m:r>
                      <a:rPr lang="az-Latn-AZ" sz="2000" b="1" i="1">
                        <a:latin typeface="Cambria Math" panose="02040503050406030204" pitchFamily="18" charset="0"/>
                      </a:rPr>
                      <m:t>𝟎</m:t>
                    </m:r>
                  </m:oMath>
                </a14:m>
                <a:r>
                  <a:rPr lang="az-Latn-AZ" sz="2000" b="1" dirty="0"/>
                  <a:t> Oy oxuna parelel olacaqdır</a:t>
                </a:r>
                <a:r>
                  <a:rPr lang="en-US" sz="2000" b="1" dirty="0"/>
                  <a:t>.</a:t>
                </a:r>
              </a:p>
              <a:p>
                <a:pPr marL="342900" indent="-342900">
                  <a:buFont typeface="+mj-lt"/>
                  <a:buAutoNum type="arabicPeriod"/>
                </a:pPr>
                <a:endParaRPr lang="en-US" sz="2000" b="1" dirty="0"/>
              </a:p>
              <a:p>
                <a:pPr marL="342900" indent="-342900">
                  <a:buFont typeface="+mj-lt"/>
                  <a:buAutoNum type="arabicPeriod"/>
                </a:pPr>
                <a:r>
                  <a:rPr lang="en-US" sz="2000" b="1" dirty="0"/>
                  <a:t>H</a:t>
                </a:r>
                <a:r>
                  <a:rPr lang="az-Latn-AZ" sz="2000" b="1" dirty="0"/>
                  <a:t>əm </a:t>
                </a:r>
                <a14:m>
                  <m:oMath xmlns:m="http://schemas.openxmlformats.org/officeDocument/2006/math">
                    <m:r>
                      <a:rPr lang="az-Latn-AZ" sz="2000" b="1" i="1">
                        <a:latin typeface="Cambria Math" panose="02040503050406030204" pitchFamily="18" charset="0"/>
                      </a:rPr>
                      <m:t>𝑪</m:t>
                    </m:r>
                    <m:r>
                      <a:rPr lang="az-Latn-AZ" sz="2000" b="1" i="1">
                        <a:latin typeface="Cambria Math" panose="02040503050406030204" pitchFamily="18" charset="0"/>
                      </a:rPr>
                      <m:t>=</m:t>
                    </m:r>
                    <m:r>
                      <a:rPr lang="az-Latn-AZ" sz="2000" b="1" i="1">
                        <a:latin typeface="Cambria Math" panose="02040503050406030204" pitchFamily="18" charset="0"/>
                      </a:rPr>
                      <m:t>𝟎</m:t>
                    </m:r>
                  </m:oMath>
                </a14:m>
                <a:r>
                  <a:rPr lang="en-US" sz="2000" b="1" dirty="0"/>
                  <a:t> , h</a:t>
                </a:r>
                <a:r>
                  <a:rPr lang="az-Latn-AZ" sz="2000" b="1" dirty="0"/>
                  <a:t>əm də </a:t>
                </a:r>
                <a14:m>
                  <m:oMath xmlns:m="http://schemas.openxmlformats.org/officeDocument/2006/math">
                    <m:r>
                      <a:rPr lang="az-Latn-AZ" sz="2000" b="1" i="1">
                        <a:latin typeface="Cambria Math" panose="02040503050406030204" pitchFamily="18" charset="0"/>
                      </a:rPr>
                      <m:t>𝑫</m:t>
                    </m:r>
                    <m:r>
                      <a:rPr lang="az-Latn-AZ" sz="2000" b="1" i="1">
                        <a:latin typeface="Cambria Math" panose="02040503050406030204" pitchFamily="18" charset="0"/>
                      </a:rPr>
                      <m:t>=</m:t>
                    </m:r>
                    <m:r>
                      <a:rPr lang="az-Latn-AZ" sz="2000" b="1" i="1">
                        <a:latin typeface="Cambria Math" panose="02040503050406030204" pitchFamily="18" charset="0"/>
                      </a:rPr>
                      <m:t>𝟎</m:t>
                    </m:r>
                  </m:oMath>
                </a14:m>
                <a:r>
                  <a:rPr lang="az-Latn-AZ" sz="2000" b="1" dirty="0"/>
                  <a:t> olarsa o zaman Q müstəvisi Oz oxunun üzərindədir</a:t>
                </a:r>
                <a:r>
                  <a:rPr lang="en-US" dirty="0"/>
                  <a:t>.</a:t>
                </a:r>
              </a:p>
            </p:txBody>
          </p:sp>
        </mc:Choice>
        <mc:Fallback>
          <p:sp>
            <p:nvSpPr>
              <p:cNvPr id="3" name="Rectangle 2"/>
              <p:cNvSpPr>
                <a:spLocks noRot="1" noChangeAspect="1" noMove="1" noResize="1" noEditPoints="1" noAdjustHandles="1" noChangeArrowheads="1" noChangeShapeType="1" noTextEdit="1"/>
              </p:cNvSpPr>
              <p:nvPr/>
            </p:nvSpPr>
            <p:spPr>
              <a:xfrm>
                <a:off x="566684" y="2074598"/>
                <a:ext cx="10755086" cy="3785652"/>
              </a:xfrm>
              <a:prstGeom prst="rect">
                <a:avLst/>
              </a:prstGeom>
              <a:blipFill>
                <a:blip r:embed="rId2"/>
                <a:stretch>
                  <a:fillRect l="-624" t="-644" b="-2093"/>
                </a:stretch>
              </a:blipFill>
            </p:spPr>
            <p:txBody>
              <a:bodyPr/>
              <a:lstStyle/>
              <a:p>
                <a:r>
                  <a:rPr lang="ru-RU">
                    <a:noFill/>
                  </a:rPr>
                  <a:t> </a:t>
                </a:r>
              </a:p>
            </p:txBody>
          </p:sp>
        </mc:Fallback>
      </mc:AlternateContent>
    </p:spTree>
    <p:extLst>
      <p:ext uri="{BB962C8B-B14F-4D97-AF65-F5344CB8AC3E}">
        <p14:creationId xmlns:p14="http://schemas.microsoft.com/office/powerpoint/2010/main" val="33325017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4">
            <a:extLst>
              <a:ext uri="{FF2B5EF4-FFF2-40B4-BE49-F238E27FC236}">
                <a16:creationId xmlns:a16="http://schemas.microsoft.com/office/drawing/2014/main" id="{93E5152A-F948-3BB9-2FB7-E7925AC0487B}"/>
              </a:ext>
            </a:extLst>
          </p:cNvPr>
          <p:cNvPicPr>
            <a:picLocks noChangeAspect="1"/>
          </p:cNvPicPr>
          <p:nvPr/>
        </p:nvPicPr>
        <p:blipFill>
          <a:blip r:embed="rId2">
            <a:extLst>
              <a:ext uri="{28A0092B-C50C-407E-A947-70E740481C1C}">
                <a14:useLocalDpi xmlns:a14="http://schemas.microsoft.com/office/drawing/2010/main" val="0"/>
              </a:ext>
            </a:extLst>
          </a:blip>
          <a:srcRect l="4117"/>
          <a:stretch/>
        </p:blipFill>
        <p:spPr>
          <a:xfrm>
            <a:off x="150156" y="1795399"/>
            <a:ext cx="6085974" cy="4399315"/>
          </a:xfrm>
          <a:prstGeom prst="rect">
            <a:avLst/>
          </a:prstGeom>
        </p:spPr>
      </p:pic>
      <p:pic>
        <p:nvPicPr>
          <p:cNvPr id="3" name="Resim 1">
            <a:extLst>
              <a:ext uri="{FF2B5EF4-FFF2-40B4-BE49-F238E27FC236}">
                <a16:creationId xmlns:a16="http://schemas.microsoft.com/office/drawing/2014/main" id="{6BD8BDF7-CC67-4C24-29E8-8098772011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13123" y="2298433"/>
            <a:ext cx="4616497" cy="3770618"/>
          </a:xfrm>
          <a:prstGeom prst="rect">
            <a:avLst/>
          </a:prstGeom>
        </p:spPr>
      </p:pic>
      <p:sp>
        <p:nvSpPr>
          <p:cNvPr id="4" name="TextBox 3"/>
          <p:cNvSpPr txBox="1"/>
          <p:nvPr/>
        </p:nvSpPr>
        <p:spPr>
          <a:xfrm>
            <a:off x="150156" y="406400"/>
            <a:ext cx="5747657" cy="523220"/>
          </a:xfrm>
          <a:prstGeom prst="rect">
            <a:avLst/>
          </a:prstGeom>
          <a:noFill/>
        </p:spPr>
        <p:txBody>
          <a:bodyPr wrap="square" rtlCol="0">
            <a:spAutoFit/>
          </a:bodyPr>
          <a:lstStyle/>
          <a:p>
            <a:r>
              <a:rPr lang="az-Latn-AZ" sz="2800" b="1" dirty="0" smtClean="0"/>
              <a:t>FƏZADA DÜZ XƏTT TƏNLİKLƏRİ</a:t>
            </a:r>
            <a:endParaRPr lang="ru-RU" sz="2800" b="1" dirty="0"/>
          </a:p>
        </p:txBody>
      </p:sp>
      <p:sp>
        <p:nvSpPr>
          <p:cNvPr id="5" name="Down Arrow 4"/>
          <p:cNvSpPr/>
          <p:nvPr/>
        </p:nvSpPr>
        <p:spPr>
          <a:xfrm>
            <a:off x="6400800" y="406400"/>
            <a:ext cx="1001485" cy="175622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4679777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3996" y="624114"/>
            <a:ext cx="11950988" cy="5900057"/>
          </a:xfrm>
          <a:prstGeom prst="rect">
            <a:avLst/>
          </a:prstGeom>
        </p:spPr>
      </p:pic>
    </p:spTree>
    <p:extLst>
      <p:ext uri="{BB962C8B-B14F-4D97-AF65-F5344CB8AC3E}">
        <p14:creationId xmlns:p14="http://schemas.microsoft.com/office/powerpoint/2010/main" val="24598169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2611E25-57A1-8F24-3BB2-FAD4169C7FE2}"/>
              </a:ext>
            </a:extLst>
          </p:cNvPr>
          <p:cNvPicPr>
            <a:picLocks noChangeAspect="1"/>
          </p:cNvPicPr>
          <p:nvPr/>
        </p:nvPicPr>
        <p:blipFill>
          <a:blip r:embed="rId2"/>
          <a:stretch>
            <a:fillRect/>
          </a:stretch>
        </p:blipFill>
        <p:spPr>
          <a:xfrm>
            <a:off x="1181163" y="1398376"/>
            <a:ext cx="9065172" cy="5099159"/>
          </a:xfrm>
          <a:prstGeom prst="rect">
            <a:avLst/>
          </a:prstGeom>
        </p:spPr>
      </p:pic>
      <p:sp>
        <p:nvSpPr>
          <p:cNvPr id="3" name="TextBox 2"/>
          <p:cNvSpPr txBox="1"/>
          <p:nvPr/>
        </p:nvSpPr>
        <p:spPr>
          <a:xfrm>
            <a:off x="2394857" y="159657"/>
            <a:ext cx="7213600" cy="584775"/>
          </a:xfrm>
          <a:prstGeom prst="rect">
            <a:avLst/>
          </a:prstGeom>
          <a:noFill/>
        </p:spPr>
        <p:txBody>
          <a:bodyPr wrap="square" rtlCol="0">
            <a:spAutoFit/>
          </a:bodyPr>
          <a:lstStyle/>
          <a:p>
            <a:r>
              <a:rPr lang="az-Latn-AZ" sz="3200" b="1" dirty="0" smtClean="0"/>
              <a:t>FƏZADA DÜZ XƏTTİN TƏNLİYİ</a:t>
            </a:r>
            <a:endParaRPr lang="ru-RU" sz="3200" b="1" dirty="0"/>
          </a:p>
        </p:txBody>
      </p:sp>
    </p:spTree>
    <p:extLst>
      <p:ext uri="{BB962C8B-B14F-4D97-AF65-F5344CB8AC3E}">
        <p14:creationId xmlns:p14="http://schemas.microsoft.com/office/powerpoint/2010/main" val="2013219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3442BE0-69AA-90EC-72B6-7EBEE5A735C3}"/>
              </a:ext>
            </a:extLst>
          </p:cNvPr>
          <p:cNvPicPr>
            <a:picLocks noChangeAspect="1"/>
          </p:cNvPicPr>
          <p:nvPr/>
        </p:nvPicPr>
        <p:blipFill>
          <a:blip r:embed="rId2"/>
          <a:stretch>
            <a:fillRect/>
          </a:stretch>
        </p:blipFill>
        <p:spPr>
          <a:xfrm>
            <a:off x="528270" y="660400"/>
            <a:ext cx="10468303" cy="5888420"/>
          </a:xfrm>
          <a:prstGeom prst="rect">
            <a:avLst/>
          </a:prstGeom>
        </p:spPr>
      </p:pic>
    </p:spTree>
    <p:extLst>
      <p:ext uri="{BB962C8B-B14F-4D97-AF65-F5344CB8AC3E}">
        <p14:creationId xmlns:p14="http://schemas.microsoft.com/office/powerpoint/2010/main" val="33028196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8290" y="2142517"/>
            <a:ext cx="10364451" cy="1596177"/>
          </a:xfrm>
        </p:spPr>
        <p:txBody>
          <a:bodyPr>
            <a:normAutofit/>
          </a:bodyPr>
          <a:lstStyle/>
          <a:p>
            <a:r>
              <a:rPr lang="az-Latn-AZ" sz="6000" b="1" dirty="0" smtClean="0">
                <a:latin typeface="Arial Black" panose="020B0A04020102020204" pitchFamily="34" charset="0"/>
              </a:rPr>
              <a:t>TƏŞƏKKÜRLƏR</a:t>
            </a:r>
            <a:endParaRPr lang="ru-RU" sz="6000" b="1" dirty="0">
              <a:latin typeface="Arial Black" panose="020B0A04020102020204" pitchFamily="34" charset="0"/>
            </a:endParaRPr>
          </a:p>
        </p:txBody>
      </p:sp>
    </p:spTree>
    <p:extLst>
      <p:ext uri="{BB962C8B-B14F-4D97-AF65-F5344CB8AC3E}">
        <p14:creationId xmlns:p14="http://schemas.microsoft.com/office/powerpoint/2010/main" val="176880566"/>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1C647B"/>
      </a:dk2>
      <a:lt2>
        <a:srgbClr val="98B7D3"/>
      </a:lt2>
      <a:accent1>
        <a:srgbClr val="274FA4"/>
      </a:accent1>
      <a:accent2>
        <a:srgbClr val="48A8D0"/>
      </a:accent2>
      <a:accent3>
        <a:srgbClr val="53B18F"/>
      </a:accent3>
      <a:accent4>
        <a:srgbClr val="D78D38"/>
      </a:accent4>
      <a:accent5>
        <a:srgbClr val="BA3F51"/>
      </a:accent5>
      <a:accent6>
        <a:srgbClr val="AE52D9"/>
      </a:accent6>
      <a:hlink>
        <a:srgbClr val="2AA2DA"/>
      </a:hlink>
      <a:folHlink>
        <a:srgbClr val="76A3B8"/>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92000"/>
                <a:satMod val="180000"/>
                <a:lumMod val="114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DEB094D4-7FD8-4F86-93D5-B0F1341EF586}"/>
    </a:ext>
  </a:extLst>
</a:theme>
</file>

<file path=docProps/app.xml><?xml version="1.0" encoding="utf-8"?>
<Properties xmlns="http://schemas.openxmlformats.org/officeDocument/2006/extended-properties" xmlns:vt="http://schemas.openxmlformats.org/officeDocument/2006/docPropsVTypes">
  <Template>Droplet</Template>
  <TotalTime>168</TotalTime>
  <Words>582</Words>
  <Application>Microsoft Office PowerPoint</Application>
  <PresentationFormat>Widescreen</PresentationFormat>
  <Paragraphs>102</Paragraphs>
  <Slides>26</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26</vt:i4>
      </vt:variant>
    </vt:vector>
  </HeadingPairs>
  <TitlesOfParts>
    <vt:vector size="37" baseType="lpstr">
      <vt:lpstr>Lato</vt:lpstr>
      <vt:lpstr>Lato Bold</vt:lpstr>
      <vt:lpstr>Malgun Gothic</vt:lpstr>
      <vt:lpstr>Arial</vt:lpstr>
      <vt:lpstr>Arial Black</vt:lpstr>
      <vt:lpstr>Asap</vt:lpstr>
      <vt:lpstr>Calibri</vt:lpstr>
      <vt:lpstr>Cambria Math</vt:lpstr>
      <vt:lpstr>Montserrat Black</vt:lpstr>
      <vt:lpstr>Tw Cen MT</vt:lpstr>
      <vt:lpstr>Droplet</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İki nöqtə arasında düz xəttin tənliyi</vt:lpstr>
      <vt:lpstr>PowerPoint Presentation</vt:lpstr>
      <vt:lpstr>FƏZADA DÜZ XƏTT VƏ MÜSTƏVİ TƏNLİKLƏRİ</vt:lpstr>
      <vt:lpstr>PowerPoint Presentation</vt:lpstr>
      <vt:lpstr>PowerPoint Presentation</vt:lpstr>
      <vt:lpstr>PowerPoint Presentation</vt:lpstr>
      <vt:lpstr>PowerPoint Presentation</vt:lpstr>
      <vt:lpstr>TƏŞƏKKÜRLƏR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Aslan</dc:creator>
  <cp:lastModifiedBy>Aslan</cp:lastModifiedBy>
  <cp:revision>15</cp:revision>
  <dcterms:created xsi:type="dcterms:W3CDTF">2024-12-22T09:31:40Z</dcterms:created>
  <dcterms:modified xsi:type="dcterms:W3CDTF">2024-12-22T12:19:46Z</dcterms:modified>
</cp:coreProperties>
</file>