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4" r:id="rId8"/>
    <p:sldId id="263" r:id="rId9"/>
    <p:sldId id="265" r:id="rId10"/>
    <p:sldId id="266" r:id="rId11"/>
    <p:sldId id="267" r:id="rId12"/>
    <p:sldId id="268" r:id="rId13"/>
    <p:sldId id="269" r:id="rId14"/>
    <p:sldId id="270" r:id="rId15"/>
    <p:sldId id="271" r:id="rId1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ru-RU"/>
          </a:p>
        </p:txBody>
      </p:sp>
      <p:sp>
        <p:nvSpPr>
          <p:cNvPr id="4" name="Date Placeholder 3"/>
          <p:cNvSpPr>
            <a:spLocks noGrp="1"/>
          </p:cNvSpPr>
          <p:nvPr>
            <p:ph type="dt" sz="half" idx="10"/>
          </p:nvPr>
        </p:nvSpPr>
        <p:spPr/>
        <p:txBody>
          <a:bodyPr/>
          <a:lstStyle/>
          <a:p>
            <a:fld id="{9B54D112-05FF-4D1A-9051-589DFDCD95C1}" type="datetimeFigureOut">
              <a:rPr lang="ru-RU" smtClean="0"/>
              <a:t>15.12.2024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3091916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B54D112-05FF-4D1A-9051-589DFDCD95C1}" type="datetimeFigureOut">
              <a:rPr lang="ru-RU" smtClean="0"/>
              <a:t>15.12.2024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3807538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54D112-05FF-4D1A-9051-589DFDCD95C1}" type="datetimeFigureOut">
              <a:rPr lang="ru-RU" smtClean="0"/>
              <a:t>15.12.2024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2696516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Date Placeholder 4"/>
          <p:cNvSpPr>
            <a:spLocks noGrp="1"/>
          </p:cNvSpPr>
          <p:nvPr>
            <p:ph type="dt" sz="half" idx="10"/>
          </p:nvPr>
        </p:nvSpPr>
        <p:spPr/>
        <p:txBody>
          <a:bodyPr/>
          <a:lstStyle/>
          <a:p>
            <a:fld id="{9B54D112-05FF-4D1A-9051-589DFDCD95C1}" type="datetimeFigureOut">
              <a:rPr lang="ru-RU" smtClean="0"/>
              <a:t>15.12.2024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710508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Date Placeholder 6"/>
          <p:cNvSpPr>
            <a:spLocks noGrp="1"/>
          </p:cNvSpPr>
          <p:nvPr>
            <p:ph type="dt" sz="half" idx="10"/>
          </p:nvPr>
        </p:nvSpPr>
        <p:spPr/>
        <p:txBody>
          <a:bodyPr/>
          <a:lstStyle/>
          <a:p>
            <a:fld id="{9B54D112-05FF-4D1A-9051-589DFDCD95C1}" type="datetimeFigureOut">
              <a:rPr lang="ru-RU" smtClean="0"/>
              <a:t>15.12.2024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1629211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Date Placeholder 2"/>
          <p:cNvSpPr>
            <a:spLocks noGrp="1"/>
          </p:cNvSpPr>
          <p:nvPr>
            <p:ph type="dt" sz="half" idx="10"/>
          </p:nvPr>
        </p:nvSpPr>
        <p:spPr/>
        <p:txBody>
          <a:bodyPr/>
          <a:lstStyle/>
          <a:p>
            <a:fld id="{9B54D112-05FF-4D1A-9051-589DFDCD95C1}" type="datetimeFigureOut">
              <a:rPr lang="ru-RU" smtClean="0"/>
              <a:t>15.12.2024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455184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54D112-05FF-4D1A-9051-589DFDCD95C1}" type="datetimeFigureOut">
              <a:rPr lang="ru-RU" smtClean="0"/>
              <a:t>15.12.2024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2013625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54D112-05FF-4D1A-9051-589DFDCD95C1}" type="datetimeFigureOut">
              <a:rPr lang="ru-RU" smtClean="0"/>
              <a:t>15.12.2024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1449527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54D112-05FF-4D1A-9051-589DFDCD95C1}" type="datetimeFigureOut">
              <a:rPr lang="ru-RU" smtClean="0"/>
              <a:t>15.12.2024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258386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B54D112-05FF-4D1A-9051-589DFDCD95C1}" type="datetimeFigureOut">
              <a:rPr lang="ru-RU" smtClean="0"/>
              <a:t>15.12.2024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1955442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B54D112-05FF-4D1A-9051-589DFDCD95C1}" type="datetimeFigureOut">
              <a:rPr lang="ru-RU" smtClean="0"/>
              <a:t>15.12.2024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1906616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5000" b="-5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54D112-05FF-4D1A-9051-589DFDCD95C1}" type="datetimeFigureOut">
              <a:rPr lang="ru-RU" smtClean="0"/>
              <a:t>15.12.2024</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181D87-3836-4421-AB9B-9C75BE3A19EF}" type="slidenum">
              <a:rPr lang="ru-RU" smtClean="0"/>
              <a:t>‹#›</a:t>
            </a:fld>
            <a:endParaRPr lang="ru-RU"/>
          </a:p>
        </p:txBody>
      </p:sp>
    </p:spTree>
    <p:extLst>
      <p:ext uri="{BB962C8B-B14F-4D97-AF65-F5344CB8AC3E}">
        <p14:creationId xmlns:p14="http://schemas.microsoft.com/office/powerpoint/2010/main" val="2631870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999" y="-169553"/>
            <a:ext cx="7998836" cy="482138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76055" y="242891"/>
            <a:ext cx="7550727" cy="969817"/>
          </a:xfrm>
          <a:prstGeom prst="rect">
            <a:avLst/>
          </a:prstGeom>
        </p:spPr>
        <p:txBody>
          <a:bodyPr wrap="square">
            <a:spAutoFit/>
          </a:bodyPr>
          <a:lstStyle/>
          <a:p>
            <a:pPr algn="ctr"/>
            <a:r>
              <a:rPr lang="az-Latn-AZ" sz="2800" dirty="0" smtClean="0">
                <a:ln w="0"/>
                <a:effectLst>
                  <a:outerShdw blurRad="38100" dist="19050" dir="2700000" algn="tl" rotWithShape="0">
                    <a:schemeClr val="dk1">
                      <a:alpha val="40000"/>
                    </a:schemeClr>
                  </a:outerShdw>
                </a:effectLst>
              </a:rPr>
              <a:t>AZƏRBAYCAN RESPUBLİKASI ELM VƏ TƏHSİL NAZİRLİYİ</a:t>
            </a:r>
            <a:endParaRPr lang="en-US" sz="2800" dirty="0">
              <a:ln w="0"/>
              <a:effectLst>
                <a:outerShdw blurRad="38100" dist="19050" dir="2700000" algn="tl" rotWithShape="0">
                  <a:schemeClr val="dk1">
                    <a:alpha val="40000"/>
                  </a:schemeClr>
                </a:outerShdw>
              </a:effectLst>
            </a:endParaRPr>
          </a:p>
        </p:txBody>
      </p:sp>
      <p:sp>
        <p:nvSpPr>
          <p:cNvPr id="6" name="Rectangle 5"/>
          <p:cNvSpPr/>
          <p:nvPr/>
        </p:nvSpPr>
        <p:spPr>
          <a:xfrm>
            <a:off x="2216726" y="3396343"/>
            <a:ext cx="7869383" cy="32293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r>
              <a:rPr lang="az-Latn-AZ" sz="2000" dirty="0" smtClean="0"/>
              <a:t>Fakultə</a:t>
            </a:r>
            <a:r>
              <a:rPr lang="en-US" sz="2000" dirty="0" smtClean="0"/>
              <a:t>: </a:t>
            </a:r>
            <a:r>
              <a:rPr lang="az-Latn-AZ" sz="2000" dirty="0" smtClean="0"/>
              <a:t>İnformasiya və telekommunikasiya texnologiyaları</a:t>
            </a:r>
          </a:p>
          <a:p>
            <a:pPr marL="285750" indent="-285750">
              <a:buFont typeface="Arial" panose="020B0604020202020204" pitchFamily="34" charset="0"/>
              <a:buChar char="•"/>
            </a:pPr>
            <a:r>
              <a:rPr lang="az-Latn-AZ" sz="2000" dirty="0" smtClean="0"/>
              <a:t>Kafedra</a:t>
            </a:r>
            <a:r>
              <a:rPr lang="en-US" sz="2000" dirty="0" smtClean="0"/>
              <a:t>: </a:t>
            </a:r>
            <a:r>
              <a:rPr lang="az-Latn-AZ" sz="2000" dirty="0" smtClean="0"/>
              <a:t>Kompüter texnologiyaları</a:t>
            </a:r>
          </a:p>
          <a:p>
            <a:pPr marL="285750" indent="-285750">
              <a:buFont typeface="Arial" panose="020B0604020202020204" pitchFamily="34" charset="0"/>
              <a:buChar char="•"/>
            </a:pPr>
            <a:r>
              <a:rPr lang="az-Latn-AZ" sz="2000" dirty="0" smtClean="0"/>
              <a:t>Fənn adı</a:t>
            </a:r>
            <a:r>
              <a:rPr lang="en-US" sz="2000" dirty="0" smtClean="0"/>
              <a:t>:</a:t>
            </a:r>
            <a:r>
              <a:rPr lang="az-Latn-AZ" sz="2000" dirty="0" smtClean="0"/>
              <a:t> İnformasiya texnologiyaları</a:t>
            </a:r>
            <a:r>
              <a:rPr lang="en-US" sz="2000" dirty="0" smtClean="0"/>
              <a:t>n</a:t>
            </a:r>
            <a:r>
              <a:rPr lang="az-Latn-AZ" sz="2000" dirty="0" smtClean="0"/>
              <a:t>ın</a:t>
            </a:r>
            <a:r>
              <a:rPr lang="en-US" sz="2000" dirty="0" smtClean="0"/>
              <a:t> </a:t>
            </a:r>
            <a:r>
              <a:rPr lang="az-Latn-AZ" sz="2000" dirty="0" smtClean="0"/>
              <a:t>əsasları</a:t>
            </a:r>
          </a:p>
          <a:p>
            <a:pPr algn="ctr"/>
            <a:endParaRPr lang="az-Latn-AZ" dirty="0" smtClean="0"/>
          </a:p>
          <a:p>
            <a:pPr algn="ctr"/>
            <a:r>
              <a:rPr lang="az-Latn-AZ" dirty="0" smtClean="0"/>
              <a:t>LABORATORİYA İŞİ </a:t>
            </a:r>
            <a:r>
              <a:rPr lang="ru-RU" dirty="0" smtClean="0"/>
              <a:t>№</a:t>
            </a:r>
            <a:r>
              <a:rPr lang="az-Latn-AZ" dirty="0"/>
              <a:t>4</a:t>
            </a:r>
            <a:endParaRPr lang="az-Latn-AZ" dirty="0" smtClean="0"/>
          </a:p>
          <a:p>
            <a:pPr marL="285750" indent="-285750">
              <a:buFont typeface="Arial" panose="020B0604020202020204" pitchFamily="34" charset="0"/>
              <a:buChar char="•"/>
            </a:pPr>
            <a:r>
              <a:rPr lang="az-Latn-AZ" sz="2000" dirty="0" smtClean="0"/>
              <a:t>Mövzu</a:t>
            </a:r>
            <a:r>
              <a:rPr lang="en-US" sz="2000" dirty="0" smtClean="0"/>
              <a:t>:Microsoft Excel </a:t>
            </a:r>
            <a:r>
              <a:rPr lang="az-Latn-AZ" sz="2000" dirty="0" smtClean="0"/>
              <a:t>cədvəl prosessoru ilə işin əsasları</a:t>
            </a:r>
          </a:p>
          <a:p>
            <a:pPr marL="285750" indent="-285750">
              <a:buFont typeface="Arial" panose="020B0604020202020204" pitchFamily="34" charset="0"/>
              <a:buChar char="•"/>
            </a:pPr>
            <a:r>
              <a:rPr lang="az-Latn-AZ" sz="2000" dirty="0" smtClean="0"/>
              <a:t>Kurs</a:t>
            </a:r>
            <a:r>
              <a:rPr lang="en-US" sz="2000" dirty="0" smtClean="0"/>
              <a:t>: </a:t>
            </a:r>
            <a:r>
              <a:rPr lang="az-Latn-AZ" sz="2000" dirty="0" smtClean="0"/>
              <a:t>1</a:t>
            </a:r>
            <a:r>
              <a:rPr lang="en-US" sz="2000" dirty="0" smtClean="0"/>
              <a:t>-</a:t>
            </a:r>
            <a:r>
              <a:rPr lang="az-Latn-AZ" sz="2000" dirty="0" smtClean="0"/>
              <a:t>ci</a:t>
            </a:r>
            <a:endParaRPr lang="en-US" sz="2000" dirty="0" smtClean="0"/>
          </a:p>
          <a:p>
            <a:pPr marL="285750" indent="-285750">
              <a:buFont typeface="Arial" panose="020B0604020202020204" pitchFamily="34" charset="0"/>
              <a:buChar char="•"/>
            </a:pPr>
            <a:r>
              <a:rPr lang="en-US" sz="2000" dirty="0" smtClean="0"/>
              <a:t>Qrup:6224a1</a:t>
            </a:r>
            <a:endParaRPr lang="az-Latn-AZ" sz="2000" dirty="0" smtClean="0"/>
          </a:p>
          <a:p>
            <a:pPr marL="285750" indent="-285750">
              <a:buFont typeface="Arial" panose="020B0604020202020204" pitchFamily="34" charset="0"/>
              <a:buChar char="•"/>
            </a:pPr>
            <a:r>
              <a:rPr lang="az-Latn-AZ" sz="2000" dirty="0" smtClean="0"/>
              <a:t>Tələbə</a:t>
            </a:r>
            <a:r>
              <a:rPr lang="en-US" sz="2000" dirty="0" smtClean="0"/>
              <a:t>: </a:t>
            </a:r>
            <a:r>
              <a:rPr lang="az-Latn-AZ" sz="2000" dirty="0" smtClean="0"/>
              <a:t>Cəfərova Nazlı</a:t>
            </a:r>
          </a:p>
          <a:p>
            <a:pPr marL="285750" indent="-285750">
              <a:buFont typeface="Arial" panose="020B0604020202020204" pitchFamily="34" charset="0"/>
              <a:buChar char="•"/>
            </a:pPr>
            <a:r>
              <a:rPr lang="az-Latn-AZ" sz="2000" dirty="0" smtClean="0"/>
              <a:t>Müəllim</a:t>
            </a:r>
            <a:r>
              <a:rPr lang="en-US" sz="2000" dirty="0" smtClean="0"/>
              <a:t>:</a:t>
            </a:r>
            <a:r>
              <a:rPr lang="az-Latn-AZ" sz="2000" dirty="0" smtClean="0"/>
              <a:t> Quliyeva Tükəzban</a:t>
            </a:r>
          </a:p>
          <a:p>
            <a:endParaRPr lang="az-Latn-AZ" dirty="0" smtClean="0"/>
          </a:p>
          <a:p>
            <a:endParaRPr lang="az-Latn-AZ" dirty="0" smtClean="0"/>
          </a:p>
          <a:p>
            <a:endParaRPr lang="az-Latn-AZ" dirty="0"/>
          </a:p>
          <a:p>
            <a:endParaRPr lang="az-Latn-AZ" dirty="0" smtClean="0"/>
          </a:p>
          <a:p>
            <a:endParaRPr lang="az-Latn-AZ" dirty="0"/>
          </a:p>
        </p:txBody>
      </p:sp>
    </p:spTree>
    <p:extLst>
      <p:ext uri="{BB962C8B-B14F-4D97-AF65-F5344CB8AC3E}">
        <p14:creationId xmlns:p14="http://schemas.microsoft.com/office/powerpoint/2010/main" val="1051435568"/>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8382"/>
            <a:ext cx="10515600" cy="1325563"/>
          </a:xfrm>
        </p:spPr>
        <p:txBody>
          <a:bodyPr>
            <a:normAutofit/>
          </a:bodyPr>
          <a:lstStyle/>
          <a:p>
            <a:r>
              <a:rPr lang="az-Latn-AZ" sz="4800" b="1" dirty="0" smtClean="0">
                <a:latin typeface="Bahnschrift SemiCondensed" panose="020B0502040204020203" pitchFamily="34" charset="0"/>
              </a:rPr>
              <a:t>MİCROSOFT EXCEL</a:t>
            </a:r>
            <a:endParaRPr lang="ru-RU" sz="4800" b="1" dirty="0">
              <a:latin typeface="Bahnschrift SemiCondensed" panose="020B0502040204020203" pitchFamily="34" charset="0"/>
            </a:endParaRPr>
          </a:p>
        </p:txBody>
      </p:sp>
      <p:pic>
        <p:nvPicPr>
          <p:cNvPr id="1030" name="Picture 6" descr="Premium Vector | Microsoft Excel logo Spreadsheet program Microsoft Office  365 logotype Microsoft Corporation Software Edito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0146" y="263525"/>
            <a:ext cx="4401911" cy="440191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7689" y="1172980"/>
            <a:ext cx="6096000" cy="1754326"/>
          </a:xfrm>
          <a:prstGeom prst="rect">
            <a:avLst/>
          </a:prstGeom>
        </p:spPr>
        <p:txBody>
          <a:bodyPr>
            <a:spAutoFit/>
          </a:bodyPr>
          <a:lstStyle/>
          <a:p>
            <a:r>
              <a:rPr lang="az-Latn-AZ" b="1" dirty="0" smtClean="0"/>
              <a:t>Microsoft Excel, Microsoft şirkəti tərəfindən hazırlanan və ən çox istifadə edilən elektron cədvəl proqramıdır. Excel, müxtəlif növ məlumatları saxlamağa, analiz etməyə və vizuallaşdırmağa imkan verir. Əsasən maliyyə analizi, statistik məlumatların işlənməsi, cədvəllərin yaradılması, və hesablama işləri üçün istifadə olunur.</a:t>
            </a:r>
            <a:endParaRPr lang="ru-RU" b="1" dirty="0"/>
          </a:p>
        </p:txBody>
      </p:sp>
      <p:sp>
        <p:nvSpPr>
          <p:cNvPr id="6" name="Rectangle 7"/>
          <p:cNvSpPr>
            <a:spLocks noChangeArrowheads="1"/>
          </p:cNvSpPr>
          <p:nvPr/>
        </p:nvSpPr>
        <p:spPr bwMode="auto">
          <a:xfrm>
            <a:off x="17689" y="2927306"/>
            <a:ext cx="7010400" cy="423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Excel-in Əsas Hissələri</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Sütunlar və Sətirlər</a:t>
            </a:r>
            <a:r>
              <a:rPr kumimoji="0" lang="az-Latn-AZ" altLang="ru-RU" sz="1800" b="1" i="0" u="none" strike="noStrike" cap="none" normalizeH="0" baseline="0" dirty="0" smtClean="0">
                <a:ln>
                  <a:noFill/>
                </a:ln>
                <a:solidFill>
                  <a:schemeClr val="tx1"/>
                </a:solidFill>
                <a:effectLst/>
                <a:latin typeface="Arial" panose="020B0604020202020204" pitchFamily="34" charset="0"/>
              </a:rPr>
              <a:t>: Excel-də məlumatlar sütun və sətirlər üzrə təşkil olunur. Sütunlar hərf ilə, sətirlər isə nömrələrlə işarələnir.</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Hüceyrələr: Cədvəldə hər bir məlumat bir hüceyrəyə daxil edilir. Hüceyrələr sütun və sətirlərin kəsişməsində yerləşir. Hər hüceyrə unikal bir adresə malikdir, məsələn, A1, B2 və 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Menular və Alətlər Paneli: Excel-də müxtəlif əməliyyatları yerinə yetirmək üçün çoxsaylı menyu və alətlər mövcuddur (Home, Insert, Formulas, Data, Review, View və 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Formullar və Funksiyalar: Excel-də formullar (məsələn, </a:t>
            </a:r>
            <a:r>
              <a:rPr kumimoji="0" lang="az-Latn-AZ" altLang="ru-RU" sz="1000" b="1" i="0" u="none" strike="noStrike" cap="none" normalizeH="0" baseline="0" dirty="0" smtClean="0">
                <a:ln>
                  <a:noFill/>
                </a:ln>
                <a:solidFill>
                  <a:schemeClr val="tx1"/>
                </a:solidFill>
                <a:effectLst/>
                <a:latin typeface="Arial Unicode MS"/>
              </a:rPr>
              <a:t>=SUM(A1:A10)</a:t>
            </a:r>
            <a:r>
              <a:rPr kumimoji="0" lang="az-Latn-AZ" altLang="ru-RU" sz="1100" b="1" i="0" u="none" strike="noStrike" cap="none" normalizeH="0" baseline="0" dirty="0" smtClean="0">
                <a:ln>
                  <a:noFill/>
                </a:ln>
                <a:solidFill>
                  <a:schemeClr val="tx1"/>
                </a:solidFill>
                <a:effectLst/>
              </a:rPr>
              <a:t>) istifadəçilərə məlumatları hesablamaq üçün geniş imkanlar təqdim edir. Həmçinin, daxili funksiyalar çox mürəkkəb hesablamaları sadələşdirir.</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Çeşidli Növlərdə Qrafiklər və Qrafik Vizualizasiyalar: Excel-də məlumatların vizual təqdimatını asanlaşdırmaq üçün müxtəlif növ qrafiklərdən istifadə etmək mümkündür.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6727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7158" y="-130629"/>
            <a:ext cx="5243286" cy="1325563"/>
          </a:xfrm>
        </p:spPr>
        <p:txBody>
          <a:bodyPr/>
          <a:lstStyle/>
          <a:p>
            <a:r>
              <a:rPr lang="az-Latn-AZ" b="1" dirty="0" smtClean="0">
                <a:latin typeface="Britannic Bold" panose="020B0903060703020204" pitchFamily="34" charset="0"/>
              </a:rPr>
              <a:t>ƏSAS FUNKSİYALARI</a:t>
            </a:r>
            <a:endParaRPr lang="ru-RU" b="1" dirty="0"/>
          </a:p>
        </p:txBody>
      </p:sp>
      <p:sp>
        <p:nvSpPr>
          <p:cNvPr id="3" name="Down Arrow 2"/>
          <p:cNvSpPr/>
          <p:nvPr/>
        </p:nvSpPr>
        <p:spPr>
          <a:xfrm>
            <a:off x="660400" y="1023256"/>
            <a:ext cx="899885" cy="2307771"/>
          </a:xfrm>
          <a:prstGeom prst="down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ru-RU"/>
          </a:p>
        </p:txBody>
      </p:sp>
      <p:sp>
        <p:nvSpPr>
          <p:cNvPr id="4" name="Down Arrow 3"/>
          <p:cNvSpPr/>
          <p:nvPr/>
        </p:nvSpPr>
        <p:spPr>
          <a:xfrm>
            <a:off x="3236686" y="0"/>
            <a:ext cx="711200" cy="312057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5" name="Down Arrow 4"/>
          <p:cNvSpPr/>
          <p:nvPr/>
        </p:nvSpPr>
        <p:spPr>
          <a:xfrm>
            <a:off x="5949044" y="137883"/>
            <a:ext cx="783771" cy="3773714"/>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6" name="Down Arrow 5"/>
          <p:cNvSpPr/>
          <p:nvPr/>
        </p:nvSpPr>
        <p:spPr>
          <a:xfrm>
            <a:off x="9661073" y="780139"/>
            <a:ext cx="841828" cy="248920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7" name="Oval 6"/>
          <p:cNvSpPr/>
          <p:nvPr/>
        </p:nvSpPr>
        <p:spPr>
          <a:xfrm>
            <a:off x="54429" y="3439886"/>
            <a:ext cx="2583542" cy="1683658"/>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az-Latn-AZ" b="1" dirty="0" smtClean="0">
                <a:solidFill>
                  <a:schemeClr val="tx1"/>
                </a:solidFill>
              </a:rPr>
              <a:t>CƏDVƏL YARADILMASI</a:t>
            </a:r>
            <a:endParaRPr lang="ru-RU" b="1" dirty="0">
              <a:solidFill>
                <a:schemeClr val="tx1"/>
              </a:solidFill>
            </a:endParaRPr>
          </a:p>
        </p:txBody>
      </p:sp>
      <p:sp>
        <p:nvSpPr>
          <p:cNvPr id="8" name="Oval 7"/>
          <p:cNvSpPr/>
          <p:nvPr/>
        </p:nvSpPr>
        <p:spPr>
          <a:xfrm>
            <a:off x="2926443" y="3269341"/>
            <a:ext cx="2481943" cy="1364342"/>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az-Latn-AZ" b="1" dirty="0" smtClean="0">
                <a:solidFill>
                  <a:schemeClr val="tx1"/>
                </a:solidFill>
              </a:rPr>
              <a:t>MƏLUMATLARI DAXİL EDİLMƏSİ</a:t>
            </a:r>
            <a:endParaRPr lang="ru-RU" b="1" dirty="0">
              <a:solidFill>
                <a:schemeClr val="tx1"/>
              </a:solidFill>
            </a:endParaRPr>
          </a:p>
        </p:txBody>
      </p:sp>
      <p:sp>
        <p:nvSpPr>
          <p:cNvPr id="9" name="Oval 8"/>
          <p:cNvSpPr/>
          <p:nvPr/>
        </p:nvSpPr>
        <p:spPr>
          <a:xfrm>
            <a:off x="8694059" y="3424691"/>
            <a:ext cx="3309257" cy="2071916"/>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az-Latn-AZ" b="1" dirty="0" smtClean="0">
                <a:solidFill>
                  <a:schemeClr val="tx1"/>
                </a:solidFill>
              </a:rPr>
              <a:t>HÜCEYRƏ FORMATLAŞDIRMA SEÇİMLƏRİ</a:t>
            </a:r>
            <a:endParaRPr lang="ru-RU" b="1" dirty="0">
              <a:solidFill>
                <a:schemeClr val="tx1"/>
              </a:solidFill>
            </a:endParaRPr>
          </a:p>
        </p:txBody>
      </p:sp>
      <p:sp>
        <p:nvSpPr>
          <p:cNvPr id="10" name="Oval 9"/>
          <p:cNvSpPr/>
          <p:nvPr/>
        </p:nvSpPr>
        <p:spPr>
          <a:xfrm>
            <a:off x="5696858" y="4039274"/>
            <a:ext cx="2569029" cy="168002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az-Latn-AZ" b="1" dirty="0" smtClean="0">
                <a:solidFill>
                  <a:schemeClr val="tx1"/>
                </a:solidFill>
              </a:rPr>
              <a:t>ƏSAS MƏTNİN YARADILMASI</a:t>
            </a:r>
            <a:endParaRPr lang="ru-RU" b="1" dirty="0">
              <a:solidFill>
                <a:schemeClr val="tx1"/>
              </a:solidFill>
            </a:endParaRPr>
          </a:p>
        </p:txBody>
      </p:sp>
    </p:spTree>
    <p:extLst>
      <p:ext uri="{BB962C8B-B14F-4D97-AF65-F5344CB8AC3E}">
        <p14:creationId xmlns:p14="http://schemas.microsoft.com/office/powerpoint/2010/main" val="1284583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4257" y="132896"/>
            <a:ext cx="8247743" cy="1325563"/>
          </a:xfrm>
        </p:spPr>
        <p:txBody>
          <a:bodyPr/>
          <a:lstStyle/>
          <a:p>
            <a:r>
              <a:rPr lang="az-Latn-AZ" b="1" dirty="0" smtClean="0">
                <a:latin typeface="Britannic Bold" panose="020B0903060703020204" pitchFamily="34" charset="0"/>
              </a:rPr>
              <a:t>FORMÜLLƏR VƏ HESABLAMALAR</a:t>
            </a:r>
            <a:endParaRPr lang="ru-RU" b="1" dirty="0"/>
          </a:p>
        </p:txBody>
      </p:sp>
      <p:sp>
        <p:nvSpPr>
          <p:cNvPr id="3" name="Rectangle 1"/>
          <p:cNvSpPr>
            <a:spLocks noChangeArrowheads="1"/>
          </p:cNvSpPr>
          <p:nvPr/>
        </p:nvSpPr>
        <p:spPr bwMode="auto">
          <a:xfrm>
            <a:off x="217714" y="1148193"/>
            <a:ext cx="1066509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Maliyyə və İqtisadiyyat: Büdcə hesablama, gəlir və xərclər analizi, maliyyə proqnozlaşdırılması.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İstatistika: Məlumat analizi, müxtəlif testlər və qiymətləndirmələr.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Təhsil: Tələbə qeydləri, dərs cədvəlləri, statistik məlumatların işlənməsi.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İnsan Resursları: Əmək haqqı hesablamaları, əmək müqavilələri, personal məlumatları.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Layihə İdarəetməsi: Layihə planlaşdırılması, resursların bölgüsü, tapşırıqların izlənməsi</a:t>
            </a:r>
            <a:r>
              <a:rPr kumimoji="0" lang="ru-RU" altLang="ru-RU" sz="1800" b="0" i="0" u="none" strike="noStrike" cap="none" normalizeH="0" baseline="0" dirty="0" smtClean="0">
                <a:ln>
                  <a:noFill/>
                </a:ln>
                <a:solidFill>
                  <a:schemeClr val="tx1"/>
                </a:solidFill>
                <a:effectLst/>
                <a:latin typeface="Arial" panose="020B0604020202020204" pitchFamily="34" charset="0"/>
              </a:rPr>
              <a:t>. </a:t>
            </a:r>
          </a:p>
        </p:txBody>
      </p:sp>
      <p:sp>
        <p:nvSpPr>
          <p:cNvPr id="4" name="Rectangle 3"/>
          <p:cNvSpPr/>
          <p:nvPr/>
        </p:nvSpPr>
        <p:spPr>
          <a:xfrm>
            <a:off x="217714" y="2625521"/>
            <a:ext cx="10665099" cy="1754326"/>
          </a:xfrm>
          <a:prstGeom prst="rect">
            <a:avLst/>
          </a:prstGeom>
        </p:spPr>
        <p:txBody>
          <a:bodyPr wrap="square">
            <a:spAutoFit/>
          </a:bodyPr>
          <a:lstStyle/>
          <a:p>
            <a:pPr>
              <a:buFont typeface="Arial" panose="020B0604020202020204" pitchFamily="34" charset="0"/>
              <a:buChar char="•"/>
            </a:pPr>
            <a:r>
              <a:rPr lang="az-Latn-AZ" b="1" dirty="0" smtClean="0"/>
              <a:t>Onlayn Kurslar: Udemy, Coursera, LinkedIn Learning kimi platformalarda Excel kursları mövcuddur.</a:t>
            </a:r>
          </a:p>
          <a:p>
            <a:pPr>
              <a:buFont typeface="Arial" panose="020B0604020202020204" pitchFamily="34" charset="0"/>
              <a:buChar char="•"/>
            </a:pPr>
            <a:r>
              <a:rPr lang="az-Latn-AZ" b="1" dirty="0" smtClean="0"/>
              <a:t>Kitablar və Təlimatlar: Bir çox kitab və onlayn təlimatlar Excel-in istifadə qaydaları haqqında məlumatlar təqdim edir.</a:t>
            </a:r>
          </a:p>
          <a:p>
            <a:pPr>
              <a:buFont typeface="Arial" panose="020B0604020202020204" pitchFamily="34" charset="0"/>
              <a:buChar char="•"/>
            </a:pPr>
            <a:r>
              <a:rPr lang="az-Latn-AZ" b="1" dirty="0" smtClean="0"/>
              <a:t>YouTube və Bloglar: Excel-in müxtəlif xüsusiyyətləri və funksiyaları haqqında video dərsliklər mövcuddur.</a:t>
            </a:r>
          </a:p>
          <a:p>
            <a:r>
              <a:rPr lang="az-Latn-AZ" b="1" dirty="0" smtClean="0"/>
              <a:t>Microsoft Excel, iş yerində və şəxsi layihələrdə müxtəlif növ məlumatların işlənməsi və analizi üçün güclü və etibarlı bir alətdir.</a:t>
            </a:r>
            <a:endParaRPr lang="az-Latn-AZ" b="1" dirty="0"/>
          </a:p>
        </p:txBody>
      </p:sp>
      <p:sp>
        <p:nvSpPr>
          <p:cNvPr id="5" name="Rectangle 4"/>
          <p:cNvSpPr/>
          <p:nvPr/>
        </p:nvSpPr>
        <p:spPr>
          <a:xfrm>
            <a:off x="217714" y="4379847"/>
            <a:ext cx="10522857" cy="1754326"/>
          </a:xfrm>
          <a:prstGeom prst="rect">
            <a:avLst/>
          </a:prstGeom>
        </p:spPr>
        <p:txBody>
          <a:bodyPr wrap="square">
            <a:spAutoFit/>
          </a:bodyPr>
          <a:lstStyle/>
          <a:p>
            <a:pPr>
              <a:buFont typeface="Arial" panose="020B0604020202020204" pitchFamily="34" charset="0"/>
              <a:buChar char="•"/>
            </a:pPr>
            <a:r>
              <a:rPr lang="az-Latn-AZ" b="1" dirty="0" smtClean="0"/>
              <a:t>Maliyyə və İqtisadiyyat: Büdcə hesablama, gəlir və xərclər analizi, maliyyə proqnozlaşdırılması.</a:t>
            </a:r>
          </a:p>
          <a:p>
            <a:pPr>
              <a:buFont typeface="Arial" panose="020B0604020202020204" pitchFamily="34" charset="0"/>
              <a:buChar char="•"/>
            </a:pPr>
            <a:r>
              <a:rPr lang="az-Latn-AZ" b="1" dirty="0" smtClean="0"/>
              <a:t>İstatistika: Məlumat analizi, müxtəlif testlər və qiymətləndirmələr.</a:t>
            </a:r>
          </a:p>
          <a:p>
            <a:pPr>
              <a:buFont typeface="Arial" panose="020B0604020202020204" pitchFamily="34" charset="0"/>
              <a:buChar char="•"/>
            </a:pPr>
            <a:r>
              <a:rPr lang="az-Latn-AZ" b="1" dirty="0" smtClean="0"/>
              <a:t>Təhsil: Tələbə qeydləri, dərs cədvəlləri, statistik məlumatların işlənməsi.</a:t>
            </a:r>
          </a:p>
          <a:p>
            <a:pPr>
              <a:buFont typeface="Arial" panose="020B0604020202020204" pitchFamily="34" charset="0"/>
              <a:buChar char="•"/>
            </a:pPr>
            <a:r>
              <a:rPr lang="az-Latn-AZ" b="1" dirty="0" smtClean="0"/>
              <a:t>İnsan Resursları: Əmək haqqı hesablamaları, əmək müqavilələri, personal məlumatları.</a:t>
            </a:r>
          </a:p>
          <a:p>
            <a:pPr>
              <a:buFont typeface="Arial" panose="020B0604020202020204" pitchFamily="34" charset="0"/>
              <a:buChar char="•"/>
            </a:pPr>
            <a:r>
              <a:rPr lang="az-Latn-AZ" b="1" dirty="0" smtClean="0"/>
              <a:t>Layihə İdarəetməsi: Layihə planlaşdırılması, resursların bölgüsü, tapşırıqların izlənməsi.</a:t>
            </a:r>
          </a:p>
          <a:p>
            <a:r>
              <a:rPr lang="az-Latn-AZ" b="1" dirty="0" smtClean="0"/>
              <a:t>Excel-in Tarixi</a:t>
            </a:r>
            <a:endParaRPr lang="az-Latn-AZ" b="1" dirty="0"/>
          </a:p>
        </p:txBody>
      </p:sp>
    </p:spTree>
    <p:extLst>
      <p:ext uri="{BB962C8B-B14F-4D97-AF65-F5344CB8AC3E}">
        <p14:creationId xmlns:p14="http://schemas.microsoft.com/office/powerpoint/2010/main" val="4222465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MS Excel proqramının funksiyaları - HESABLAMALAR - You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47" y="431119"/>
            <a:ext cx="6534150" cy="36766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7"/>
          <p:cNvSpPr>
            <a:spLocks noChangeArrowheads="1"/>
          </p:cNvSpPr>
          <p:nvPr/>
        </p:nvSpPr>
        <p:spPr bwMode="auto">
          <a:xfrm>
            <a:off x="0" y="4196055"/>
            <a:ext cx="10476009"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1. SUM (TOPLAM)</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SUM</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müəyyən bir aralıqdakı ədədlərin cəmindən istifadə etmək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=SUM(A1:A10)</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A1-dən A10-a qədər olan hüceyrələrin cəmını hesablamaq.</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3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2. AVERAGE (ORTALAMA)</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AVERAGE</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seçilmiş hüceyrələrdəki ədədlərin ortalamasını tapmağa imkan verir.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=AVERAGE(B1:B10)</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B1-dən B10-a qədər olan hüceyrələrin ortalamasını hesablamaq.</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
        <p:nvSpPr>
          <p:cNvPr id="5" name="Rectangle 8"/>
          <p:cNvSpPr>
            <a:spLocks noChangeArrowheads="1"/>
          </p:cNvSpPr>
          <p:nvPr/>
        </p:nvSpPr>
        <p:spPr bwMode="auto">
          <a:xfrm>
            <a:off x="6762297" y="180209"/>
            <a:ext cx="4281715" cy="2231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COUNT (SAY)</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COUNT</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aralıqda ədədlərin sayını hesablamaq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=COUNT(C1:C10)</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C1-dən C10-a qədər olan hüceyrələrdəki ədədləri sayır.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6762297" y="2101670"/>
            <a:ext cx="5442857" cy="1200329"/>
          </a:xfrm>
          <a:prstGeom prst="rect">
            <a:avLst/>
          </a:prstGeom>
        </p:spPr>
        <p:txBody>
          <a:bodyPr wrap="square">
            <a:spAutoFit/>
          </a:bodyPr>
          <a:lstStyle/>
          <a:p>
            <a:r>
              <a:rPr lang="az-Latn-AZ" b="1" dirty="0" smtClean="0"/>
              <a:t>OUNTA (SAYAĞ)</a:t>
            </a:r>
          </a:p>
          <a:p>
            <a:r>
              <a:rPr lang="az-Latn-AZ" b="1" dirty="0" smtClean="0"/>
              <a:t>COUNTA funksiyası, boş olmayan hüceyrələri sayır. Yəni, bu funksiya yalnız ədəd deyil, mətn və digər məlumat növlərini də hesaba alır.</a:t>
            </a:r>
            <a:endParaRPr lang="az-Latn-AZ" b="1" dirty="0"/>
          </a:p>
        </p:txBody>
      </p:sp>
      <p:sp>
        <p:nvSpPr>
          <p:cNvPr id="7" name="Rectangle 9"/>
          <p:cNvSpPr>
            <a:spLocks noChangeArrowheads="1"/>
          </p:cNvSpPr>
          <p:nvPr/>
        </p:nvSpPr>
        <p:spPr bwMode="auto">
          <a:xfrm>
            <a:off x="6762297" y="3272725"/>
            <a:ext cx="551098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=COUNTA(D1:D10)</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D1-dən D10-a qədər olan hüceyrələrdəki boş olmayan hüceyrələri sayır </a:t>
            </a:r>
          </a:p>
        </p:txBody>
      </p:sp>
    </p:spTree>
    <p:extLst>
      <p:ext uri="{BB962C8B-B14F-4D97-AF65-F5344CB8AC3E}">
        <p14:creationId xmlns:p14="http://schemas.microsoft.com/office/powerpoint/2010/main" val="791933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0" y="0"/>
            <a:ext cx="11654971" cy="537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 IF (ƏGƏR)</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IF funksiyası, şərtli əməliyyatlar yerinə yetirir. Yəni, verilən şərt doğru (TRUE) və ya yanlış (FALSE) olduğu halda fərqli nəticələr verir.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600" b="1" i="0" u="none" strike="noStrike" cap="none" normalizeH="0" baseline="0" dirty="0" smtClean="0">
                <a:ln>
                  <a:noFill/>
                </a:ln>
                <a:solidFill>
                  <a:schemeClr val="tx1"/>
                </a:solidFill>
                <a:effectLst/>
                <a:latin typeface="Arial Unicode MS"/>
              </a:rPr>
              <a:t>=IF(E1&gt;50, "Yüksək", "Aşağı")</a:t>
            </a:r>
            <a:endParaRPr kumimoji="0" lang="az-Latn-AZ" altLang="ru-RU" sz="16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Misal: E1 hüceyrəsindəki dəyər 50-dən böyükdürsə "Yüksək", kiçikdirsə "Aşağı" yazacaq.</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6. VLOOKUP (ŞƏKİL YOXLA)</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VLOOKUP funksiyası, verilən bir dəyəri sol tərəfdəki sütunda axtarır və uyğun olan dəyəri həmin sətirdə sağ tərəfdəki başqa bir sütundan çıxarır.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600" b="1" i="0" u="none" strike="noStrike" cap="none" normalizeH="0" baseline="0" dirty="0" smtClean="0">
                <a:ln>
                  <a:noFill/>
                </a:ln>
                <a:solidFill>
                  <a:schemeClr val="tx1"/>
                </a:solidFill>
                <a:effectLst/>
                <a:latin typeface="Arial Unicode MS"/>
              </a:rPr>
              <a:t>=VLOOKUP(lookup_value, table_array, col_index_num, [range_lookup])</a:t>
            </a:r>
            <a:endParaRPr kumimoji="0" lang="az-Latn-AZ" altLang="ru-RU" sz="16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Misal: </a:t>
            </a:r>
            <a:r>
              <a:rPr kumimoji="0" lang="az-Latn-AZ" altLang="ru-RU" sz="1600" b="1" i="0" u="none" strike="noStrike" cap="none" normalizeH="0" baseline="0" dirty="0" smtClean="0">
                <a:ln>
                  <a:noFill/>
                </a:ln>
                <a:solidFill>
                  <a:schemeClr val="tx1"/>
                </a:solidFill>
                <a:effectLst/>
                <a:latin typeface="Arial Unicode MS"/>
              </a:rPr>
              <a:t>=VLOOKUP(A2, B1:C10, 2, FALSE)</a:t>
            </a:r>
            <a:r>
              <a:rPr kumimoji="0" lang="az-Latn-AZ" altLang="ru-RU" sz="1600" b="1" i="0" u="none" strike="noStrike" cap="none" normalizeH="0" baseline="0" dirty="0" smtClean="0">
                <a:ln>
                  <a:noFill/>
                </a:ln>
                <a:solidFill>
                  <a:schemeClr val="tx1"/>
                </a:solidFill>
                <a:effectLst/>
              </a:rPr>
              <a:t> — A2 hüceyrəsindəki dəyəri B1</a:t>
            </a:r>
            <a:endParaRPr kumimoji="0" lang="az-Latn-AZ" altLang="ru-RU"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aralığında axtarır və uyğun olan 2-ci sütundakı dəyəri verir.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7. HLOOKUP (HƏRƏKƏT YOXLA)</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HLOOKUP funksiyası, VLOOKUP-a bənzər şəkildə, verilən dəyəri üfüqi şəkildə (sətir üzrə) axtarır.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600" b="1" i="0" u="none" strike="noStrike" cap="none" normalizeH="0" baseline="0" dirty="0" smtClean="0">
                <a:ln>
                  <a:noFill/>
                </a:ln>
                <a:solidFill>
                  <a:schemeClr val="tx1"/>
                </a:solidFill>
                <a:effectLst/>
                <a:latin typeface="Arial Unicode MS"/>
              </a:rPr>
              <a:t>=HLOOKUP(lookup_value, table_array, row_index_num, [range_lookup])</a:t>
            </a:r>
            <a:endParaRPr kumimoji="0" lang="az-Latn-AZ" altLang="ru-RU" sz="16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Misal: </a:t>
            </a:r>
            <a:r>
              <a:rPr kumimoji="0" lang="az-Latn-AZ" altLang="ru-RU" sz="1600" b="1" i="0" u="none" strike="noStrike" cap="none" normalizeH="0" baseline="0" dirty="0" smtClean="0">
                <a:ln>
                  <a:noFill/>
                </a:ln>
                <a:solidFill>
                  <a:schemeClr val="tx1"/>
                </a:solidFill>
                <a:effectLst/>
                <a:latin typeface="Arial Unicode MS"/>
              </a:rPr>
              <a:t>=HLOOKUP(A2, B1:J2, 2, FALSE)</a:t>
            </a:r>
            <a:r>
              <a:rPr kumimoji="0" lang="az-Latn-AZ" altLang="ru-RU" sz="1600" b="1" i="0" u="none" strike="noStrike" cap="none" normalizeH="0" baseline="0" dirty="0" smtClean="0">
                <a:ln>
                  <a:noFill/>
                </a:ln>
                <a:solidFill>
                  <a:schemeClr val="tx1"/>
                </a:solidFill>
                <a:effectLst/>
              </a:rPr>
              <a:t> — A2 hüceyrəsindəki dəyəri B1</a:t>
            </a:r>
            <a:endParaRPr kumimoji="0" lang="az-Latn-AZ" altLang="ru-RU"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aralığında axtarır və uyğun olan 2-ci sətirdəki dəyəri verir.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8. INDEX (İNDİKS)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4"/>
          <p:cNvSpPr>
            <a:spLocks noChangeArrowheads="1"/>
          </p:cNvSpPr>
          <p:nvPr/>
        </p:nvSpPr>
        <p:spPr bwMode="auto">
          <a:xfrm>
            <a:off x="0" y="5103674"/>
            <a:ext cx="8839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b="1" i="0" u="none" strike="noStrike" cap="none" normalizeH="0" baseline="0" dirty="0" smtClean="0">
                <a:ln>
                  <a:noFill/>
                </a:ln>
                <a:solidFill>
                  <a:schemeClr val="tx1"/>
                </a:solidFill>
                <a:effectLst/>
                <a:latin typeface="Arial" panose="020B0604020202020204" pitchFamily="34" charset="0"/>
              </a:rPr>
              <a:t>NDEX funksiyası, müəyyən bir aralıqda istənilən hüceyrənin dəyərini qaytarır.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tx1"/>
                </a:solidFill>
                <a:effectLst/>
                <a:latin typeface="Arial" panose="020B0604020202020204" pitchFamily="34" charset="0"/>
              </a:rPr>
              <a:t>Sintaksis: </a:t>
            </a:r>
            <a:r>
              <a:rPr kumimoji="0" lang="az-Latn-AZ" altLang="ru-RU" b="1" i="0" u="none" strike="noStrike" cap="none" normalizeH="0" baseline="0" dirty="0" smtClean="0">
                <a:ln>
                  <a:noFill/>
                </a:ln>
                <a:solidFill>
                  <a:schemeClr val="tx1"/>
                </a:solidFill>
                <a:effectLst/>
                <a:latin typeface="Arial Unicode MS"/>
              </a:rPr>
              <a:t>=INDEX(array, row_num, [column_num])</a:t>
            </a:r>
            <a:endParaRPr kumimoji="0" lang="az-Latn-AZ" altLang="ru-RU"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tx1"/>
                </a:solidFill>
                <a:effectLst/>
                <a:latin typeface="Arial" panose="020B0604020202020204" pitchFamily="34" charset="0"/>
              </a:rPr>
              <a:t>Misal: </a:t>
            </a:r>
            <a:r>
              <a:rPr kumimoji="0" lang="az-Latn-AZ" altLang="ru-RU" b="1" i="0" u="none" strike="noStrike" cap="none" normalizeH="0" baseline="0" dirty="0" smtClean="0">
                <a:ln>
                  <a:noFill/>
                </a:ln>
                <a:solidFill>
                  <a:schemeClr val="tx1"/>
                </a:solidFill>
                <a:effectLst/>
                <a:latin typeface="Arial Unicode MS"/>
              </a:rPr>
              <a:t>=INDEX(A1:C10, 3, 2)</a:t>
            </a:r>
            <a:r>
              <a:rPr kumimoji="0" lang="az-Latn-AZ" altLang="ru-RU" b="1" i="0" u="none" strike="noStrike" cap="none" normalizeH="0" baseline="0" dirty="0" smtClean="0">
                <a:ln>
                  <a:noFill/>
                </a:ln>
                <a:solidFill>
                  <a:schemeClr val="tx1"/>
                </a:solidFill>
                <a:effectLst/>
              </a:rPr>
              <a:t> — A1</a:t>
            </a:r>
            <a:endParaRPr kumimoji="0" lang="az-Latn-AZ" altLang="ru-RU"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b="1" i="0" u="none" strike="noStrike" cap="none" normalizeH="0" baseline="0" dirty="0" smtClean="0">
                <a:ln>
                  <a:noFill/>
                </a:ln>
                <a:solidFill>
                  <a:schemeClr val="tx1"/>
                </a:solidFill>
                <a:effectLst/>
                <a:latin typeface="Arial" panose="020B0604020202020204" pitchFamily="34" charset="0"/>
              </a:rPr>
              <a:t>aralığından 3-cü sətir və 2-ci sütundakı dəyəri göstərir.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1218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Excel proqramı nedir? Excel harada istifade olunu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7511" y="0"/>
            <a:ext cx="6107511" cy="525417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24622" y="4434919"/>
            <a:ext cx="6096000" cy="1477328"/>
          </a:xfrm>
          <a:prstGeom prst="rect">
            <a:avLst/>
          </a:prstGeom>
        </p:spPr>
        <p:txBody>
          <a:bodyPr>
            <a:spAutoFit/>
          </a:bodyPr>
          <a:lstStyle/>
          <a:p>
            <a:r>
              <a:rPr lang="az-Latn-AZ" b="1" dirty="0" smtClean="0"/>
              <a:t>Biznes mühitində Excel, təşkilati strukturların idarə edilməsi, layihə planlaması, resurs bölgüsü və digər idarəetmə məsələlərini həll etmək üçün geniş istifadə olunur. Excel-in xüsusiyyətləri, iş axınlarını optimallaşdırmağa və qərar qəbuletmə proseslərini təkmilləşdirməyə imkan verir.</a:t>
            </a:r>
            <a:endParaRPr lang="ru-RU" b="1" dirty="0"/>
          </a:p>
        </p:txBody>
      </p:sp>
      <p:sp>
        <p:nvSpPr>
          <p:cNvPr id="4" name="Rectangle 3"/>
          <p:cNvSpPr>
            <a:spLocks noChangeArrowheads="1"/>
          </p:cNvSpPr>
          <p:nvPr/>
        </p:nvSpPr>
        <p:spPr bwMode="auto">
          <a:xfrm>
            <a:off x="0" y="5985623"/>
            <a:ext cx="117294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Satış və marketinq analizi: Satış məlumatlarının izlənməsi, bazar tədqiqatları, müştəri davranışının təhlili.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İşçi və əmək haqqı idarəetməsi: İşçilərin əmək haqqı hesablaması, bonuslar, vergi hesablama, </a:t>
            </a:r>
          </a:p>
        </p:txBody>
      </p:sp>
      <p:sp>
        <p:nvSpPr>
          <p:cNvPr id="5" name="Rectangle 4"/>
          <p:cNvSpPr/>
          <p:nvPr/>
        </p:nvSpPr>
        <p:spPr>
          <a:xfrm>
            <a:off x="98597" y="0"/>
            <a:ext cx="6096000" cy="4524315"/>
          </a:xfrm>
          <a:prstGeom prst="rect">
            <a:avLst/>
          </a:prstGeom>
        </p:spPr>
        <p:txBody>
          <a:bodyPr>
            <a:spAutoFit/>
          </a:bodyPr>
          <a:lstStyle/>
          <a:p>
            <a:r>
              <a:rPr lang="az-Latn-AZ" b="1" dirty="0" smtClean="0"/>
              <a:t>Microsoft Excel, çox geniş bir tətbiq sahəsinə malikdir və müxtəlif sahələrdə istifadə olunur. Həm şəxsi işlərdə, həm də peşəkar mühitdə məlumatların analizi, təhlili və idarə edilməsi üçün çoxsaylı imkanlar təqdim edir. Aşağıda Excel-in ən çox istifadə edildiyi tətbiq sahələri ilə tanış ola bilərsiniz:</a:t>
            </a:r>
          </a:p>
          <a:p>
            <a:r>
              <a:rPr lang="az-Latn-AZ" b="1" dirty="0" smtClean="0"/>
              <a:t>1. Maliyyə və İqtisadiyyat</a:t>
            </a:r>
          </a:p>
          <a:p>
            <a:r>
              <a:rPr lang="az-Latn-AZ" b="1" dirty="0" smtClean="0"/>
              <a:t>Excel, maliyyə hesablamalarından tutmuş iqtisadi analizlərə qədər bir çox sahədə istifadə olunur. Bir çox maliyyə mütəxəssisi və şirkət Excel-i maliyyə hesabatlarının hazırlanmasında, gəlir və xərclərin izlənməsində, proqnozlaşdırmada və büdcə təhlilində istifadə edir.</a:t>
            </a:r>
          </a:p>
          <a:p>
            <a:r>
              <a:rPr lang="az-Latn-AZ" b="1" dirty="0" smtClean="0"/>
              <a:t>Tətbiq sahələri:</a:t>
            </a:r>
          </a:p>
          <a:p>
            <a:pPr>
              <a:buFont typeface="Arial" panose="020B0604020202020204" pitchFamily="34" charset="0"/>
              <a:buChar char="•"/>
            </a:pPr>
            <a:r>
              <a:rPr lang="az-Latn-AZ" b="1" dirty="0" smtClean="0"/>
              <a:t>Büdcə hazırlığı və idarə edilməsi: Gəlir və xərclərin izlənməsi, büdcə proqnozları, maliyyə planlaması.</a:t>
            </a:r>
          </a:p>
          <a:p>
            <a:pPr>
              <a:buFont typeface="Arial" panose="020B0604020202020204" pitchFamily="34" charset="0"/>
              <a:buChar char="•"/>
            </a:pPr>
            <a:r>
              <a:rPr lang="az-Latn-AZ" b="1" dirty="0" smtClean="0"/>
              <a:t>Maliyyə təhlili: Gəlir hesabatları, balans hesabatları, pul axınları (Cash Flow), nisbət analiz</a:t>
            </a:r>
          </a:p>
        </p:txBody>
      </p:sp>
    </p:spTree>
    <p:extLst>
      <p:ext uri="{BB962C8B-B14F-4D97-AF65-F5344CB8AC3E}">
        <p14:creationId xmlns:p14="http://schemas.microsoft.com/office/powerpoint/2010/main" val="1116557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ətn funksiyaları - Excel.Az"/>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8397403" cy="472294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8650515" y="148471"/>
            <a:ext cx="3120572" cy="6709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HLOOKUP (HƏRƏKƏT YOXLA)</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HLOOKUP</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VLOOKUP-a bənzər şəkildə, verilən dəyəri üfüqi şəkildə (sətir üzrə) axtarır.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=HLOOKUP(lookup_value, table_array, row_index_num, [range_lookup])</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a:t>
            </a:r>
            <a:r>
              <a:rPr kumimoji="0" lang="az-Latn-AZ" altLang="ru-RU" sz="1000" b="1" i="0" u="none" strike="noStrike" cap="none" normalizeH="0" baseline="0" dirty="0" smtClean="0">
                <a:ln>
                  <a:noFill/>
                </a:ln>
                <a:solidFill>
                  <a:schemeClr val="tx1"/>
                </a:solidFill>
                <a:effectLst/>
                <a:latin typeface="Arial Unicode MS"/>
              </a:rPr>
              <a:t>=HLOOKUP(A2, B1:J2, 2, FALSE)</a:t>
            </a:r>
            <a:r>
              <a:rPr kumimoji="0" lang="az-Latn-AZ" altLang="ru-RU" sz="1100" b="1" i="0" u="none" strike="noStrike" cap="none" normalizeH="0" baseline="0" dirty="0" smtClean="0">
                <a:ln>
                  <a:noFill/>
                </a:ln>
                <a:solidFill>
                  <a:schemeClr val="tx1"/>
                </a:solidFill>
                <a:effectLst/>
              </a:rPr>
              <a:t> — A2 hüceyrəsindəki dəyəri B1</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aralığında axtarır və uyğun olan 2-ci sətirdəki dəyəri verir.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3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8. INDEX (İNDİKS)</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INDEX</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müəyyən bir aralıqda istənilən hüceyrənin dəyərini qaytarır.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=INDEX(array, row_num, [column_num])</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a:t>
            </a:r>
            <a:r>
              <a:rPr kumimoji="0" lang="az-Latn-AZ" altLang="ru-RU" sz="1000" b="1" i="0" u="none" strike="noStrike" cap="none" normalizeH="0" baseline="0" dirty="0" smtClean="0">
                <a:ln>
                  <a:noFill/>
                </a:ln>
                <a:solidFill>
                  <a:schemeClr val="tx1"/>
                </a:solidFill>
                <a:effectLst/>
                <a:latin typeface="Arial Unicode MS"/>
              </a:rPr>
              <a:t>=INDEX(A1:C10, 3, 2)</a:t>
            </a:r>
            <a:r>
              <a:rPr kumimoji="0" lang="az-Latn-AZ" altLang="ru-RU" sz="1100" b="1" i="0" u="none" strike="noStrike" cap="none" normalizeH="0" baseline="0" dirty="0" smtClean="0">
                <a:ln>
                  <a:noFill/>
                </a:ln>
                <a:solidFill>
                  <a:schemeClr val="tx1"/>
                </a:solidFill>
                <a:effectLst/>
              </a:rPr>
              <a:t> — A1</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aralığından 3-cü sətir və 2-ci sütundakı dəyəri göstərir.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
        <p:nvSpPr>
          <p:cNvPr id="3" name="Rectangle 4"/>
          <p:cNvSpPr>
            <a:spLocks noChangeArrowheads="1"/>
          </p:cNvSpPr>
          <p:nvPr/>
        </p:nvSpPr>
        <p:spPr bwMode="auto">
          <a:xfrm>
            <a:off x="0" y="4846934"/>
            <a:ext cx="8528360"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MATCH funksiyası, müəyyən bir dəyəri aralıqda axtarır və onun mövqeyini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=MATCH(lookup_value, lookup_array, [match_type])</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a:t>
            </a:r>
            <a:r>
              <a:rPr kumimoji="0" lang="az-Latn-AZ" altLang="ru-RU" sz="1000" b="1" i="0" u="none" strike="noStrike" cap="none" normalizeH="0" baseline="0" dirty="0" smtClean="0">
                <a:ln>
                  <a:noFill/>
                </a:ln>
                <a:solidFill>
                  <a:schemeClr val="tx1"/>
                </a:solidFill>
                <a:effectLst/>
                <a:latin typeface="Arial Unicode MS"/>
              </a:rPr>
              <a:t>=MATCH(100, A1:A10, 0)</a:t>
            </a:r>
            <a:r>
              <a:rPr kumimoji="0" lang="az-Latn-AZ" altLang="ru-RU" sz="1100" b="1" i="0" u="none" strike="noStrike" cap="none" normalizeH="0" baseline="0" dirty="0" smtClean="0">
                <a:ln>
                  <a:noFill/>
                </a:ln>
                <a:solidFill>
                  <a:schemeClr val="tx1"/>
                </a:solidFill>
                <a:effectLst/>
              </a:rPr>
              <a:t> — A1</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aralığında 100 dəyərinin mövqeyini tapır.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3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10. LEFT (SOL)</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LEFT</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bir mətni soldan başlayaraq müəyyən sayda xarakteri çıxarır.</a:t>
            </a:r>
          </a:p>
          <a:p>
            <a:pPr marL="0" marR="0" lvl="0" indent="0" algn="l" defTabSz="914400" rtl="0" eaLnBrk="0" fontAlgn="base" latinLnBrk="0" hangingPunct="0">
              <a:lnSpc>
                <a:spcPct val="100000"/>
              </a:lnSpc>
              <a:spcBef>
                <a:spcPct val="0"/>
              </a:spcBef>
              <a:spcAft>
                <a:spcPct val="0"/>
              </a:spcAft>
              <a:buClrTx/>
              <a:buSzTx/>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6219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Microsoft Excel proqramı üzrə dərslik - www.YUSIF.a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7804"/>
            <a:ext cx="4514850" cy="433387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428344" y="142251"/>
            <a:ext cx="6212114" cy="6463308"/>
          </a:xfrm>
          <a:prstGeom prst="rect">
            <a:avLst/>
          </a:prstGeom>
        </p:spPr>
        <p:txBody>
          <a:bodyPr wrap="square">
            <a:spAutoFit/>
          </a:bodyPr>
          <a:lstStyle/>
          <a:p>
            <a:r>
              <a:rPr lang="az-Latn-AZ" b="1" dirty="0" smtClean="0"/>
              <a:t>Microsoft Excel-də qrafiklər və diaqramlar yaratmaq, məlumatları vizuallaşdırmaq və daha asan anlamağa kömək etmək üçün əla bir yoldur. Excel-də çoxsaylı qrafik və diaqram növləri mövcuddur, və bunlar müxtəlif məqsədlər üçün istifadə edilə bilər, məsələn, məlumatların trendlərini izləmək, müqayisə etmək, və ya statistikaları göstərmək. Aşağıda Excel-də qrafik və diaqram yaratmaq haqqında əsas məlumatlar və addımlar verilmişdir.</a:t>
            </a:r>
          </a:p>
          <a:p>
            <a:r>
              <a:rPr lang="az-Latn-AZ" b="1" dirty="0" smtClean="0"/>
              <a:t>Excel-də Qrafik və Diaqram Yaratmaq</a:t>
            </a:r>
          </a:p>
          <a:p>
            <a:r>
              <a:rPr lang="az-Latn-AZ" b="1" dirty="0" smtClean="0"/>
              <a:t>1. Diaqram Növləri</a:t>
            </a:r>
          </a:p>
          <a:p>
            <a:r>
              <a:rPr lang="az-Latn-AZ" b="1" dirty="0" smtClean="0"/>
              <a:t>Excel-də istifadə edilə bilən bəzi əsas diaqram növləri bunlardır:</a:t>
            </a:r>
          </a:p>
          <a:p>
            <a:pPr>
              <a:buFont typeface="Arial" panose="020B0604020202020204" pitchFamily="34" charset="0"/>
              <a:buChar char="•"/>
            </a:pPr>
            <a:r>
              <a:rPr lang="az-Latn-AZ" b="1" dirty="0" smtClean="0"/>
              <a:t>Sütun Qrafiki (Column Chart): Kategoriyaların müqayisəsi üçün istifadə olunur. Məsələn, müxtəlif dövrlərdə satışların müqayisəsi.</a:t>
            </a:r>
          </a:p>
          <a:p>
            <a:pPr>
              <a:buFont typeface="Arial" panose="020B0604020202020204" pitchFamily="34" charset="0"/>
              <a:buChar char="•"/>
            </a:pPr>
            <a:r>
              <a:rPr lang="az-Latn-AZ" b="1" dirty="0" smtClean="0"/>
              <a:t>Xətti Qrafik (Line Chart): Zamanla dəyişən məlumatları göstərmək üçün əlverişlidir. Məsələn, aylıq gəlirin dəyişməsi.</a:t>
            </a:r>
          </a:p>
          <a:p>
            <a:pPr>
              <a:buFont typeface="Arial" panose="020B0604020202020204" pitchFamily="34" charset="0"/>
              <a:buChar char="•"/>
            </a:pPr>
            <a:r>
              <a:rPr lang="az-Latn-AZ" b="1" dirty="0" smtClean="0"/>
              <a:t>Pie (Piroq) Qrafiki: Hissələrin ümumi bir bütövdən olan nisbətlərini göstərmək üçün istifadə olunur.</a:t>
            </a:r>
          </a:p>
          <a:p>
            <a:pPr>
              <a:buFont typeface="Arial" panose="020B0604020202020204" pitchFamily="34" charset="0"/>
              <a:buChar char="•"/>
            </a:pPr>
            <a:r>
              <a:rPr lang="az-Latn-AZ" b="1" dirty="0" smtClean="0"/>
              <a:t>Bar Qrafiki (Bar Chart): Sütun qrafikinə bənzəyir, lakin məlumatlar üfüqi olaraq göstərilir.</a:t>
            </a:r>
          </a:p>
          <a:p>
            <a:pPr>
              <a:buFont typeface="Arial" panose="020B0604020202020204" pitchFamily="34" charset="0"/>
              <a:buChar char="•"/>
            </a:pPr>
            <a:r>
              <a:rPr lang="az-Latn-AZ" b="1" dirty="0" smtClean="0"/>
              <a:t>Yığılmış Sütun Qrafiki (Stacked Column Chart): Müxtəlif elementlərin toplamını və onların hər birinin payını göstərir.</a:t>
            </a:r>
          </a:p>
          <a:p>
            <a:pPr>
              <a:buFont typeface="Arial" panose="020B0604020202020204" pitchFamily="34" charset="0"/>
              <a:buChar char="•"/>
            </a:pPr>
            <a:r>
              <a:rPr lang="az-Latn-AZ" b="1" dirty="0" smtClean="0"/>
              <a:t>Xətti Qrafik - Markers (Line with Markers): Line Chart </a:t>
            </a:r>
          </a:p>
        </p:txBody>
      </p:sp>
    </p:spTree>
    <p:extLst>
      <p:ext uri="{BB962C8B-B14F-4D97-AF65-F5344CB8AC3E}">
        <p14:creationId xmlns:p14="http://schemas.microsoft.com/office/powerpoint/2010/main" val="2345505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Məntiq Funksiyaları – IF,AND,OR,IFERROR … (+Video) – Excel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232229"/>
            <a:ext cx="5123544" cy="307680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Excel haqqında ilkin anlayışlar - Köçürmə və kəsmə funksiyaları #eqz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9403" y="159657"/>
            <a:ext cx="3810000" cy="314325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Microsoft Excel proqramı üzrə dərslik - www.YUSIF.az"/>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173" y="3541259"/>
            <a:ext cx="4543425" cy="3000376"/>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Excel-də Weekday funksiyası və üstünlükləri | Audit.Az"/>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23086" y="3541259"/>
            <a:ext cx="3196318" cy="23717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239658" y="159657"/>
            <a:ext cx="2888343" cy="4524315"/>
          </a:xfrm>
          <a:prstGeom prst="rect">
            <a:avLst/>
          </a:prstGeom>
        </p:spPr>
        <p:txBody>
          <a:bodyPr wrap="square">
            <a:spAutoFit/>
          </a:bodyPr>
          <a:lstStyle/>
          <a:p>
            <a:r>
              <a:rPr lang="az-Latn-AZ" b="1" dirty="0" smtClean="0"/>
              <a:t>Məlumatları Seçmək Qrafik və ya diaqram yaratmaq üçün əvvəlcə məlumatları seçməlisiniz. Bu, bir cədvəlin müxtəlif sütunları və ya sətirləri ola bilər.</a:t>
            </a:r>
          </a:p>
          <a:p>
            <a:pPr>
              <a:buFont typeface="Arial" panose="020B0604020202020204" pitchFamily="34" charset="0"/>
              <a:buChar char="•"/>
            </a:pPr>
            <a:r>
              <a:rPr lang="az-Latn-AZ" b="1" dirty="0" smtClean="0"/>
              <a:t>Məsələn, aylıq satış məlumatları olan bir cədvəldə "Ay" sütununu və "Satışlar" sütununu seçə bilərsiniz.</a:t>
            </a:r>
          </a:p>
          <a:p>
            <a:r>
              <a:rPr lang="az-Latn-AZ" b="1" dirty="0" smtClean="0"/>
              <a:t>Adım 2: Qrafik Növünü Seçmək</a:t>
            </a:r>
          </a:p>
          <a:p>
            <a:pPr>
              <a:buFont typeface="+mj-lt"/>
              <a:buAutoNum type="arabicPeriod"/>
            </a:pPr>
            <a:r>
              <a:rPr lang="az-Latn-AZ" b="1" dirty="0" smtClean="0"/>
              <a:t>Məlumatları seçdikdən sonra, Excel-də Insert (İnsert) sekmesini açın.</a:t>
            </a:r>
            <a:endParaRPr lang="az-Latn-AZ" b="1" dirty="0"/>
          </a:p>
        </p:txBody>
      </p:sp>
      <p:sp>
        <p:nvSpPr>
          <p:cNvPr id="3" name="Rectangle 9"/>
          <p:cNvSpPr>
            <a:spLocks noChangeArrowheads="1"/>
          </p:cNvSpPr>
          <p:nvPr/>
        </p:nvSpPr>
        <p:spPr bwMode="auto">
          <a:xfrm>
            <a:off x="5036230" y="4683972"/>
            <a:ext cx="497817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Charts (Qrafiklər) bölməsində müxtəlif qrafik növlərini görə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Burada Column, Line, Pie, Bar, və digər növləri seçə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Seçdiyiniz qrafik növünü klikləyin və Excel avtomatik olaraq seçdiyiniz </a:t>
            </a:r>
          </a:p>
        </p:txBody>
      </p:sp>
    </p:spTree>
    <p:extLst>
      <p:ext uri="{BB962C8B-B14F-4D97-AF65-F5344CB8AC3E}">
        <p14:creationId xmlns:p14="http://schemas.microsoft.com/office/powerpoint/2010/main" val="3253303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838200" y="2904014"/>
          <a:ext cx="10515600" cy="2194560"/>
        </p:xfrm>
        <a:graphic>
          <a:graphicData uri="http://schemas.openxmlformats.org/drawingml/2006/table">
            <a:tbl>
              <a:tblPr/>
              <a:tblGrid>
                <a:gridCol w="5257800">
                  <a:extLst>
                    <a:ext uri="{9D8B030D-6E8A-4147-A177-3AD203B41FA5}">
                      <a16:colId xmlns:a16="http://schemas.microsoft.com/office/drawing/2014/main" val="1657349739"/>
                    </a:ext>
                  </a:extLst>
                </a:gridCol>
                <a:gridCol w="5257800">
                  <a:extLst>
                    <a:ext uri="{9D8B030D-6E8A-4147-A177-3AD203B41FA5}">
                      <a16:colId xmlns:a16="http://schemas.microsoft.com/office/drawing/2014/main" val="4254404222"/>
                    </a:ext>
                  </a:extLst>
                </a:gridCol>
              </a:tblGrid>
              <a:tr h="0">
                <a:tc>
                  <a:txBody>
                    <a:bodyPr/>
                    <a:lstStyle/>
                    <a:p>
                      <a:r>
                        <a:rPr lang="az-Latn-AZ"/>
                        <a:t>Ay</a:t>
                      </a:r>
                    </a:p>
                  </a:txBody>
                  <a:tcPr anchor="ctr">
                    <a:lnL>
                      <a:noFill/>
                    </a:lnL>
                    <a:lnR>
                      <a:noFill/>
                    </a:lnR>
                    <a:lnT>
                      <a:noFill/>
                    </a:lnT>
                    <a:lnB>
                      <a:noFill/>
                    </a:lnB>
                  </a:tcPr>
                </a:tc>
                <a:tc>
                  <a:txBody>
                    <a:bodyPr/>
                    <a:lstStyle/>
                    <a:p>
                      <a:r>
                        <a:rPr lang="az-Latn-AZ"/>
                        <a:t>Satışlar</a:t>
                      </a:r>
                    </a:p>
                  </a:txBody>
                  <a:tcPr anchor="ctr">
                    <a:lnL>
                      <a:noFill/>
                    </a:lnL>
                    <a:lnR>
                      <a:noFill/>
                    </a:lnR>
                    <a:lnT>
                      <a:noFill/>
                    </a:lnT>
                    <a:lnB>
                      <a:noFill/>
                    </a:lnB>
                  </a:tcPr>
                </a:tc>
                <a:extLst>
                  <a:ext uri="{0D108BD9-81ED-4DB2-BD59-A6C34878D82A}">
                    <a16:rowId xmlns:a16="http://schemas.microsoft.com/office/drawing/2014/main" val="2832836273"/>
                  </a:ext>
                </a:extLst>
              </a:tr>
              <a:tr h="0">
                <a:tc>
                  <a:txBody>
                    <a:bodyPr/>
                    <a:lstStyle/>
                    <a:p>
                      <a:r>
                        <a:rPr lang="az-Latn-AZ"/>
                        <a:t>Yanvar</a:t>
                      </a:r>
                    </a:p>
                  </a:txBody>
                  <a:tcPr anchor="ctr">
                    <a:lnL>
                      <a:noFill/>
                    </a:lnL>
                    <a:lnR>
                      <a:noFill/>
                    </a:lnR>
                    <a:lnT>
                      <a:noFill/>
                    </a:lnT>
                    <a:lnB>
                      <a:noFill/>
                    </a:lnB>
                  </a:tcPr>
                </a:tc>
                <a:tc>
                  <a:txBody>
                    <a:bodyPr/>
                    <a:lstStyle/>
                    <a:p>
                      <a:r>
                        <a:rPr lang="ru-RU"/>
                        <a:t>1500</a:t>
                      </a:r>
                    </a:p>
                  </a:txBody>
                  <a:tcPr anchor="ctr">
                    <a:lnL>
                      <a:noFill/>
                    </a:lnL>
                    <a:lnR>
                      <a:noFill/>
                    </a:lnR>
                    <a:lnT>
                      <a:noFill/>
                    </a:lnT>
                    <a:lnB>
                      <a:noFill/>
                    </a:lnB>
                  </a:tcPr>
                </a:tc>
                <a:extLst>
                  <a:ext uri="{0D108BD9-81ED-4DB2-BD59-A6C34878D82A}">
                    <a16:rowId xmlns:a16="http://schemas.microsoft.com/office/drawing/2014/main" val="233210179"/>
                  </a:ext>
                </a:extLst>
              </a:tr>
              <a:tr h="0">
                <a:tc>
                  <a:txBody>
                    <a:bodyPr/>
                    <a:lstStyle/>
                    <a:p>
                      <a:r>
                        <a:rPr lang="az-Latn-AZ"/>
                        <a:t>Fevral</a:t>
                      </a:r>
                    </a:p>
                  </a:txBody>
                  <a:tcPr anchor="ctr">
                    <a:lnL>
                      <a:noFill/>
                    </a:lnL>
                    <a:lnR>
                      <a:noFill/>
                    </a:lnR>
                    <a:lnT>
                      <a:noFill/>
                    </a:lnT>
                    <a:lnB>
                      <a:noFill/>
                    </a:lnB>
                  </a:tcPr>
                </a:tc>
                <a:tc>
                  <a:txBody>
                    <a:bodyPr/>
                    <a:lstStyle/>
                    <a:p>
                      <a:r>
                        <a:rPr lang="ru-RU"/>
                        <a:t>1800</a:t>
                      </a:r>
                    </a:p>
                  </a:txBody>
                  <a:tcPr anchor="ctr">
                    <a:lnL>
                      <a:noFill/>
                    </a:lnL>
                    <a:lnR>
                      <a:noFill/>
                    </a:lnR>
                    <a:lnT>
                      <a:noFill/>
                    </a:lnT>
                    <a:lnB>
                      <a:noFill/>
                    </a:lnB>
                  </a:tcPr>
                </a:tc>
                <a:extLst>
                  <a:ext uri="{0D108BD9-81ED-4DB2-BD59-A6C34878D82A}">
                    <a16:rowId xmlns:a16="http://schemas.microsoft.com/office/drawing/2014/main" val="999836685"/>
                  </a:ext>
                </a:extLst>
              </a:tr>
              <a:tr h="0">
                <a:tc>
                  <a:txBody>
                    <a:bodyPr/>
                    <a:lstStyle/>
                    <a:p>
                      <a:r>
                        <a:rPr lang="az-Latn-AZ"/>
                        <a:t>Mart</a:t>
                      </a:r>
                    </a:p>
                  </a:txBody>
                  <a:tcPr anchor="ctr">
                    <a:lnL>
                      <a:noFill/>
                    </a:lnL>
                    <a:lnR>
                      <a:noFill/>
                    </a:lnR>
                    <a:lnT>
                      <a:noFill/>
                    </a:lnT>
                    <a:lnB>
                      <a:noFill/>
                    </a:lnB>
                  </a:tcPr>
                </a:tc>
                <a:tc>
                  <a:txBody>
                    <a:bodyPr/>
                    <a:lstStyle/>
                    <a:p>
                      <a:r>
                        <a:rPr lang="ru-RU"/>
                        <a:t>2000</a:t>
                      </a:r>
                    </a:p>
                  </a:txBody>
                  <a:tcPr anchor="ctr">
                    <a:lnL>
                      <a:noFill/>
                    </a:lnL>
                    <a:lnR>
                      <a:noFill/>
                    </a:lnR>
                    <a:lnT>
                      <a:noFill/>
                    </a:lnT>
                    <a:lnB>
                      <a:noFill/>
                    </a:lnB>
                  </a:tcPr>
                </a:tc>
                <a:extLst>
                  <a:ext uri="{0D108BD9-81ED-4DB2-BD59-A6C34878D82A}">
                    <a16:rowId xmlns:a16="http://schemas.microsoft.com/office/drawing/2014/main" val="3354503674"/>
                  </a:ext>
                </a:extLst>
              </a:tr>
              <a:tr h="0">
                <a:tc>
                  <a:txBody>
                    <a:bodyPr/>
                    <a:lstStyle/>
                    <a:p>
                      <a:r>
                        <a:rPr lang="az-Latn-AZ"/>
                        <a:t>Aprel</a:t>
                      </a:r>
                    </a:p>
                  </a:txBody>
                  <a:tcPr anchor="ctr">
                    <a:lnL>
                      <a:noFill/>
                    </a:lnL>
                    <a:lnR>
                      <a:noFill/>
                    </a:lnR>
                    <a:lnT>
                      <a:noFill/>
                    </a:lnT>
                    <a:lnB>
                      <a:noFill/>
                    </a:lnB>
                  </a:tcPr>
                </a:tc>
                <a:tc>
                  <a:txBody>
                    <a:bodyPr/>
                    <a:lstStyle/>
                    <a:p>
                      <a:r>
                        <a:rPr lang="ru-RU"/>
                        <a:t>2200</a:t>
                      </a:r>
                    </a:p>
                  </a:txBody>
                  <a:tcPr anchor="ctr">
                    <a:lnL>
                      <a:noFill/>
                    </a:lnL>
                    <a:lnR>
                      <a:noFill/>
                    </a:lnR>
                    <a:lnT>
                      <a:noFill/>
                    </a:lnT>
                    <a:lnB>
                      <a:noFill/>
                    </a:lnB>
                  </a:tcPr>
                </a:tc>
                <a:extLst>
                  <a:ext uri="{0D108BD9-81ED-4DB2-BD59-A6C34878D82A}">
                    <a16:rowId xmlns:a16="http://schemas.microsoft.com/office/drawing/2014/main" val="1856817909"/>
                  </a:ext>
                </a:extLst>
              </a:tr>
              <a:tr h="0">
                <a:tc>
                  <a:txBody>
                    <a:bodyPr/>
                    <a:lstStyle/>
                    <a:p>
                      <a:r>
                        <a:rPr lang="az-Latn-AZ"/>
                        <a:t>May</a:t>
                      </a:r>
                    </a:p>
                  </a:txBody>
                  <a:tcPr anchor="ctr">
                    <a:lnL>
                      <a:noFill/>
                    </a:lnL>
                    <a:lnR>
                      <a:noFill/>
                    </a:lnR>
                    <a:lnT>
                      <a:noFill/>
                    </a:lnT>
                    <a:lnB>
                      <a:noFill/>
                    </a:lnB>
                  </a:tcPr>
                </a:tc>
                <a:tc>
                  <a:txBody>
                    <a:bodyPr/>
                    <a:lstStyle/>
                    <a:p>
                      <a:r>
                        <a:rPr lang="ru-RU" dirty="0"/>
                        <a:t>2500</a:t>
                      </a:r>
                    </a:p>
                  </a:txBody>
                  <a:tcPr anchor="ctr">
                    <a:lnL>
                      <a:noFill/>
                    </a:lnL>
                    <a:lnR>
                      <a:noFill/>
                    </a:lnR>
                    <a:lnT>
                      <a:noFill/>
                    </a:lnT>
                    <a:lnB>
                      <a:noFill/>
                    </a:lnB>
                  </a:tcPr>
                </a:tc>
                <a:extLst>
                  <a:ext uri="{0D108BD9-81ED-4DB2-BD59-A6C34878D82A}">
                    <a16:rowId xmlns:a16="http://schemas.microsoft.com/office/drawing/2014/main" val="550743308"/>
                  </a:ext>
                </a:extLst>
              </a:tr>
            </a:tbl>
          </a:graphicData>
        </a:graphic>
      </p:graphicFrame>
      <p:sp>
        <p:nvSpPr>
          <p:cNvPr id="3" name="Rectangle 1"/>
          <p:cNvSpPr>
            <a:spLocks noChangeArrowheads="1"/>
          </p:cNvSpPr>
          <p:nvPr/>
        </p:nvSpPr>
        <p:spPr bwMode="auto">
          <a:xfrm>
            <a:off x="0" y="-66973"/>
            <a:ext cx="12268200" cy="6924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Adım 3: Qrafiki Düzəltmək və Formatlamaq Yaradılan qrafik üzərində bir çox dəyişiklik və formatlama əməliyyatları edə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Başlıq əlavə etmək: Qrafikin başlığını dəyişmək üçün başlıq sahəsinə klikləyin və istədiyiniz mətnlə dəyişdirin.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Yaxınlaşdırma və ya kiçiltmə: Qrafikdəki məlumatları daha yaxşı görmək üçün eksenləri (X və Y eksenləri) tənzimləyin.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Dizayn dəyişdirmək: Chart Tools altında Design və Format sekmeleri ilə qrafikinizin rəngini, fontunu, xətti və digər dizayn elementlərini dəyişdirə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Əlavə məlumatlar: Qrafiklərə Legend, Data Labels, Trendlines və ya Axes əlavə edə bilərsiniz.</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1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3. Qrafik Növlərinə Daxil Edilən Əlavələr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Data Labels (Məlumat Etiketləri)</a:t>
            </a:r>
            <a:r>
              <a:rPr kumimoji="0" lang="az-Latn-AZ" altLang="ru-RU" sz="1800" b="1" i="0" u="none" strike="noStrike" cap="none" normalizeH="0" baseline="0" dirty="0" smtClean="0">
                <a:ln>
                  <a:noFill/>
                </a:ln>
                <a:solidFill>
                  <a:schemeClr val="tx1"/>
                </a:solidFill>
                <a:effectLst/>
                <a:latin typeface="Arial" panose="020B0604020202020204" pitchFamily="34" charset="0"/>
              </a:rPr>
              <a:t>: Qrafikdəki hər bir nöqtənin və ya sütunun üzərində dəqiq rəqəm məlumatları göstərmək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Legend (Əfsanə): Qrafikdə hansı rəngin hansı məlumatı təmsil etdiyini göstərən açıq bir izahdır.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Trendline (Trendlər Xətti): Zamanla məlumatlarınızın ümumi meylini göstərir. Bu xüsusiyyət, xüsusilə tədqiqat və təhlillər üçün faydalıdır.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1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4. Qrafik və Diaqramın Nümunə Yaradılması</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Məsələn</a:t>
            </a:r>
            <a:r>
              <a:rPr kumimoji="0" lang="az-Latn-AZ" altLang="ru-RU" sz="1800" b="1" i="0" u="none" strike="noStrike" cap="none" normalizeH="0" baseline="0" dirty="0" smtClean="0">
                <a:ln>
                  <a:noFill/>
                </a:ln>
                <a:solidFill>
                  <a:schemeClr val="tx1"/>
                </a:solidFill>
                <a:effectLst/>
                <a:latin typeface="Arial" panose="020B0604020202020204" pitchFamily="34" charset="0"/>
              </a:rPr>
              <a:t>: Aşağıdakı cədvəldə aylıq satış məlumatlarını istifadə edərək bir Line Chart (Xətti Qrafik) yaratmaq üçün addımlar.</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Cədvəlinizi seçin: A1</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aralığını seçin.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Insert sekmesinə gedin.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Line Chart-i seçin (Line və ya Line with Markers).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Excel avtomatik olaraq bu məlumatları istifadə edərək bir xətti qrafik yaradacaq.</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Əlavə olaraq başlıq, məlumat etiketləri və ya trendline əlavə etmək mümkündür.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1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5.</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1670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Microsoft Excel — Vikipediy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718354"/>
            <a:ext cx="4482625" cy="417444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p:cNvCxnSpPr/>
          <p:nvPr/>
        </p:nvCxnSpPr>
        <p:spPr>
          <a:xfrm flipV="1">
            <a:off x="7982857" y="1959429"/>
            <a:ext cx="1161143" cy="841828"/>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5" name="Straight Arrow Connector 4"/>
          <p:cNvCxnSpPr/>
          <p:nvPr/>
        </p:nvCxnSpPr>
        <p:spPr>
          <a:xfrm flipH="1" flipV="1">
            <a:off x="1422400" y="2380343"/>
            <a:ext cx="1553029" cy="1219200"/>
          </a:xfrm>
          <a:prstGeom prst="straightConnector1">
            <a:avLst/>
          </a:prstGeom>
          <a:ln w="5715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7" name="Straight Arrow Connector 6"/>
          <p:cNvCxnSpPr/>
          <p:nvPr/>
        </p:nvCxnSpPr>
        <p:spPr>
          <a:xfrm>
            <a:off x="7982857" y="4992914"/>
            <a:ext cx="957943" cy="682172"/>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flipH="1">
            <a:off x="2525486" y="5334000"/>
            <a:ext cx="1016000" cy="558799"/>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10244" name="Picture 4" descr="MICROSOFT EXCEL 20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1432" y="629104"/>
            <a:ext cx="2283884" cy="146821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Топ 11 блогів про Excel | nt.u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8042" y="469106"/>
            <a:ext cx="2588716" cy="1788206"/>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Обработка данных. Word и Excel - Умскул Учебни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0" y="4824640"/>
            <a:ext cx="2396331" cy="1700892"/>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descr="Элементы управления формы - Служба поддержки Майкрософт"/>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580" y="5170883"/>
            <a:ext cx="2287190" cy="1443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774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MICROSOFT EXCEL 20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458857" cy="488088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458857" y="0"/>
            <a:ext cx="5529943" cy="5909310"/>
          </a:xfrm>
          <a:prstGeom prst="rect">
            <a:avLst/>
          </a:prstGeom>
        </p:spPr>
        <p:txBody>
          <a:bodyPr wrap="square">
            <a:spAutoFit/>
          </a:bodyPr>
          <a:lstStyle/>
          <a:p>
            <a:pPr>
              <a:buFont typeface="+mj-lt"/>
              <a:buAutoNum type="arabicPeriod"/>
            </a:pPr>
            <a:r>
              <a:rPr lang="az-Latn-AZ" b="1" dirty="0" smtClean="0"/>
              <a:t>Cədvəlinizi seçin: A1</a:t>
            </a:r>
          </a:p>
          <a:p>
            <a:pPr>
              <a:buFont typeface="+mj-lt"/>
              <a:buAutoNum type="arabicPeriod"/>
            </a:pPr>
            <a:r>
              <a:rPr lang="az-Latn-AZ" b="1" dirty="0" smtClean="0"/>
              <a:t>aralığını seçin.</a:t>
            </a:r>
          </a:p>
          <a:p>
            <a:pPr>
              <a:buFont typeface="+mj-lt"/>
              <a:buAutoNum type="arabicPeriod"/>
            </a:pPr>
            <a:r>
              <a:rPr lang="az-Latn-AZ" b="1" dirty="0" smtClean="0"/>
              <a:t>Insert sekmesinə gedin.</a:t>
            </a:r>
          </a:p>
          <a:p>
            <a:pPr>
              <a:buFont typeface="+mj-lt"/>
              <a:buAutoNum type="arabicPeriod"/>
            </a:pPr>
            <a:r>
              <a:rPr lang="az-Latn-AZ" b="1" dirty="0" smtClean="0"/>
              <a:t>Line Chart-i seçin (Line və ya Line with Markers).</a:t>
            </a:r>
          </a:p>
          <a:p>
            <a:pPr>
              <a:buFont typeface="+mj-lt"/>
              <a:buAutoNum type="arabicPeriod"/>
            </a:pPr>
            <a:r>
              <a:rPr lang="az-Latn-AZ" b="1" dirty="0" smtClean="0"/>
              <a:t>Excel avtomatik olaraq bu məlumatları istifadə edərək bir xətti qrafik yaradacaq.</a:t>
            </a:r>
          </a:p>
          <a:p>
            <a:pPr>
              <a:buFont typeface="+mj-lt"/>
              <a:buAutoNum type="arabicPeriod"/>
            </a:pPr>
            <a:r>
              <a:rPr lang="az-Latn-AZ" b="1" dirty="0" smtClean="0"/>
              <a:t>Əlavə olaraq başlıq, məlumat etiketləri və ya trendline əlavə etmək mümkündür.</a:t>
            </a:r>
          </a:p>
          <a:p>
            <a:r>
              <a:rPr lang="az-Latn-AZ" b="1" dirty="0" smtClean="0"/>
              <a:t>5. Qrafikin Formatlanması və Gözəlləşdirilməsi</a:t>
            </a:r>
          </a:p>
          <a:p>
            <a:r>
              <a:rPr lang="az-Latn-AZ" b="1" dirty="0" smtClean="0"/>
              <a:t>Qrafikinizi daha oxunaqlı etmək üçün bəzi əlavə dəyişikliklər edə bilərsiniz:</a:t>
            </a:r>
          </a:p>
          <a:p>
            <a:pPr>
              <a:buFont typeface="Arial" panose="020B0604020202020204" pitchFamily="34" charset="0"/>
              <a:buChar char="•"/>
            </a:pPr>
            <a:r>
              <a:rPr lang="az-Latn-AZ" b="1" dirty="0" smtClean="0"/>
              <a:t>Başlıq əlavə edin: Qrafikin başlığını dəyişdirmək üçün qrafikin üzərində klikləyin və başlığı daxil edin (məsələn, "Aylıq Satışların Trendi").</a:t>
            </a:r>
          </a:p>
          <a:p>
            <a:pPr>
              <a:buFont typeface="Arial" panose="020B0604020202020204" pitchFamily="34" charset="0"/>
              <a:buChar char="•"/>
            </a:pPr>
            <a:r>
              <a:rPr lang="az-Latn-AZ" b="1" dirty="0" smtClean="0"/>
              <a:t>Rəng dəyişdirmək: Qrafikinizdəki rəngləri dəyişdirmək üçün qrafik sahəsində sağ klikləyin və "Format Data Series" seçin. Buradan rənglər və şablonlar dəyişdirilə bilər.</a:t>
            </a:r>
          </a:p>
          <a:p>
            <a:pPr>
              <a:buFont typeface="Arial" panose="020B0604020202020204" pitchFamily="34" charset="0"/>
              <a:buChar char="•"/>
            </a:pPr>
            <a:r>
              <a:rPr lang="az-Latn-AZ" b="1" dirty="0" smtClean="0"/>
              <a:t>X və Y oxlarını dəyişdirmək: Əgər oxların göstərdiyi dəyərləri dəyişmək və ya formatlamaq istəyirsinizsə, oxları sağ klikləyin və "Format Axis" seçin.</a:t>
            </a:r>
          </a:p>
        </p:txBody>
      </p:sp>
    </p:spTree>
    <p:extLst>
      <p:ext uri="{BB962C8B-B14F-4D97-AF65-F5344CB8AC3E}">
        <p14:creationId xmlns:p14="http://schemas.microsoft.com/office/powerpoint/2010/main" val="1787381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Exceldə kiçikdən böyüyə, böyükdən kiçiyə doğru sıralama | Muhasibat.A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48" y="0"/>
            <a:ext cx="8886824" cy="581705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8886824" y="0"/>
            <a:ext cx="328022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Excel-də qrafiklər və diaqramlar yaratmaq, məlumatları asanlıqla təhlil etməyə və başqalarına daha vizual şəkildə təqdim etməyə imkan verir. Bu xüsusiyyətlərdən istifadə etməklə, verilən məlumatları daha asan və effektiv şəkildə izah edə bilərsiniz. Qrafik və diaqram növlərini düzgün seçərək, məlumatlarınızı daha aydın və peşəkar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8886824" y="3894409"/>
            <a:ext cx="3062514" cy="2585323"/>
          </a:xfrm>
          <a:prstGeom prst="rect">
            <a:avLst/>
          </a:prstGeom>
        </p:spPr>
        <p:txBody>
          <a:bodyPr wrap="square">
            <a:spAutoFit/>
          </a:bodyPr>
          <a:lstStyle/>
          <a:p>
            <a:r>
              <a:rPr lang="az-Latn-AZ" b="1" dirty="0" smtClean="0"/>
              <a:t>Microsoft Word-a və ya PowerPoint-ə əlavə edərək təqdimatlar hazırlaya və ya PDF olaraq saxlayaraq digər insanlarla paylaşa bilərsiniz.</a:t>
            </a:r>
          </a:p>
          <a:p>
            <a:pPr>
              <a:buFont typeface="Arial" panose="020B0604020202020204" pitchFamily="34" charset="0"/>
              <a:buChar char="•"/>
            </a:pPr>
            <a:r>
              <a:rPr lang="az-Latn-AZ" b="1" dirty="0" smtClean="0"/>
              <a:t>Excel-də qrafiklər üçün çap: Qrafiki birbaşa çap etmək üçün "File" → seçimlərdən istifadə edin.</a:t>
            </a:r>
            <a:endParaRPr lang="az-Latn-AZ" b="1" dirty="0"/>
          </a:p>
        </p:txBody>
      </p:sp>
      <p:sp>
        <p:nvSpPr>
          <p:cNvPr id="4" name="Rectangle 3"/>
          <p:cNvSpPr/>
          <p:nvPr/>
        </p:nvSpPr>
        <p:spPr>
          <a:xfrm>
            <a:off x="145142" y="5965149"/>
            <a:ext cx="8523967" cy="646331"/>
          </a:xfrm>
          <a:prstGeom prst="rect">
            <a:avLst/>
          </a:prstGeom>
        </p:spPr>
        <p:txBody>
          <a:bodyPr wrap="square">
            <a:spAutoFit/>
          </a:bodyPr>
          <a:lstStyle/>
          <a:p>
            <a:r>
              <a:rPr lang="az-Latn-AZ" b="1" dirty="0" smtClean="0"/>
              <a:t>rafikin başlığını dəyişdirmək üçün qrafikin üzərində klikləyin və başlığı daxil edin (məsələn, "Aylıq Satışların Trendi").</a:t>
            </a:r>
            <a:endParaRPr lang="ru-RU" b="1" dirty="0"/>
          </a:p>
        </p:txBody>
      </p:sp>
    </p:spTree>
    <p:extLst>
      <p:ext uri="{BB962C8B-B14F-4D97-AF65-F5344CB8AC3E}">
        <p14:creationId xmlns:p14="http://schemas.microsoft.com/office/powerpoint/2010/main" val="4291020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714" y="2222954"/>
            <a:ext cx="10515600" cy="1325563"/>
          </a:xfrm>
        </p:spPr>
        <p:txBody>
          <a:bodyPr>
            <a:normAutofit fontScale="90000"/>
          </a:bodyPr>
          <a:lstStyle/>
          <a:p>
            <a:r>
              <a:rPr lang="az-Latn-AZ" sz="5400" dirty="0" smtClean="0">
                <a:latin typeface="Algerian" panose="04020705040A02060702" pitchFamily="82" charset="0"/>
              </a:rPr>
              <a:t>İZLƏDİYİNİZ ÜÇÜN TƏŞƏKKÜRLƏR!</a:t>
            </a:r>
            <a:endParaRPr lang="ru-RU" sz="5400" dirty="0"/>
          </a:p>
        </p:txBody>
      </p:sp>
    </p:spTree>
    <p:extLst>
      <p:ext uri="{BB962C8B-B14F-4D97-AF65-F5344CB8AC3E}">
        <p14:creationId xmlns:p14="http://schemas.microsoft.com/office/powerpoint/2010/main" val="5205120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1968</Words>
  <Application>Microsoft Office PowerPoint</Application>
  <PresentationFormat>Widescreen</PresentationFormat>
  <Paragraphs>180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Algerian</vt:lpstr>
      <vt:lpstr>Arial</vt:lpstr>
      <vt:lpstr>Arial Unicode MS</vt:lpstr>
      <vt:lpstr>Bahnschrift SemiCondensed</vt:lpstr>
      <vt:lpstr>Britannic Bold</vt:lpstr>
      <vt:lpstr>Calibri</vt:lpstr>
      <vt:lpstr>Calibri Light</vt:lpstr>
      <vt:lpstr>Office Theme</vt:lpstr>
      <vt:lpstr>PowerPoint Presentation</vt:lpstr>
      <vt:lpstr>MİCROSOFT EXCEL</vt:lpstr>
      <vt:lpstr>ƏSAS FUNKSİYALARI</vt:lpstr>
      <vt:lpstr>FORMÜLLƏR VƏ HESABLAMALAR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İZLƏDİYİNİZ ÜÇÜN TƏŞƏKKÜRLƏR!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7</cp:revision>
  <dcterms:created xsi:type="dcterms:W3CDTF">2024-11-06T18:40:08Z</dcterms:created>
  <dcterms:modified xsi:type="dcterms:W3CDTF">2024-12-15T18:27:36Z</dcterms:modified>
</cp:coreProperties>
</file>