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9" r:id="rId3"/>
    <p:sldId id="260" r:id="rId4"/>
    <p:sldId id="261"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8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CDE7A9-4914-4BC2-A9BE-D7F5F864772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027A111-2584-4B46-AF92-015ADBFF9CC6}">
      <dgm:prSet phldrT="[Text]"/>
      <dgm:spPr>
        <a:solidFill>
          <a:srgbClr val="C00000"/>
        </a:solidFill>
      </dgm:spPr>
      <dgm:t>
        <a:bodyPr/>
        <a:lstStyle/>
        <a:p>
          <a:r>
            <a:rPr lang="az-Latn-AZ" dirty="0" smtClean="0"/>
            <a:t>1</a:t>
          </a:r>
          <a:endParaRPr lang="en-US" dirty="0"/>
        </a:p>
      </dgm:t>
    </dgm:pt>
    <dgm:pt modelId="{D6E0D1AA-060F-4441-A544-EDE51056C3A9}" type="parTrans" cxnId="{C3B4BF8B-A1A4-4FD0-9747-C6C25D1725C0}">
      <dgm:prSet/>
      <dgm:spPr/>
      <dgm:t>
        <a:bodyPr/>
        <a:lstStyle/>
        <a:p>
          <a:endParaRPr lang="en-US"/>
        </a:p>
      </dgm:t>
    </dgm:pt>
    <dgm:pt modelId="{25A9DCCF-CF94-4108-8B43-333F7C602174}" type="sibTrans" cxnId="{C3B4BF8B-A1A4-4FD0-9747-C6C25D1725C0}">
      <dgm:prSet/>
      <dgm:spPr/>
      <dgm:t>
        <a:bodyPr/>
        <a:lstStyle/>
        <a:p>
          <a:endParaRPr lang="en-US"/>
        </a:p>
      </dgm:t>
    </dgm:pt>
    <dgm:pt modelId="{22FB02B3-BB07-4B9D-8953-FAB83C83ABA6}">
      <dgm:prSet phldrT="[Text]"/>
      <dgm:spPr/>
      <dgm:t>
        <a:bodyPr/>
        <a:lstStyle/>
        <a:p>
          <a:r>
            <a:rPr lang="az-Latn-AZ" dirty="0" smtClean="0"/>
            <a:t>Bütün maddələr atom və molekullardan təşkil olunmuşdur</a:t>
          </a:r>
          <a:r>
            <a:rPr lang="en-US" dirty="0" smtClean="0"/>
            <a:t>.</a:t>
          </a:r>
          <a:endParaRPr lang="en-US" dirty="0"/>
        </a:p>
      </dgm:t>
    </dgm:pt>
    <dgm:pt modelId="{267CBAF6-D37F-40AB-B392-0B99C8BF3DFA}" type="parTrans" cxnId="{E83E3835-3FA4-4481-A22F-2E63D2C788A0}">
      <dgm:prSet/>
      <dgm:spPr/>
      <dgm:t>
        <a:bodyPr/>
        <a:lstStyle/>
        <a:p>
          <a:endParaRPr lang="en-US"/>
        </a:p>
      </dgm:t>
    </dgm:pt>
    <dgm:pt modelId="{764AEA5E-3668-4E15-AD9B-09B66BD62887}" type="sibTrans" cxnId="{E83E3835-3FA4-4481-A22F-2E63D2C788A0}">
      <dgm:prSet/>
      <dgm:spPr/>
      <dgm:t>
        <a:bodyPr/>
        <a:lstStyle/>
        <a:p>
          <a:endParaRPr lang="en-US"/>
        </a:p>
      </dgm:t>
    </dgm:pt>
    <dgm:pt modelId="{F46D12F6-1204-4D85-B304-2FC80C34BC6D}">
      <dgm:prSet phldrT="[Text]"/>
      <dgm:spPr>
        <a:solidFill>
          <a:srgbClr val="C00000"/>
        </a:solidFill>
      </dgm:spPr>
      <dgm:t>
        <a:bodyPr/>
        <a:lstStyle/>
        <a:p>
          <a:r>
            <a:rPr lang="az-Latn-AZ" dirty="0" smtClean="0"/>
            <a:t>2</a:t>
          </a:r>
          <a:endParaRPr lang="en-US" dirty="0"/>
        </a:p>
      </dgm:t>
    </dgm:pt>
    <dgm:pt modelId="{DADF81EA-DD48-4E71-AEE4-BB82D911C7D5}" type="parTrans" cxnId="{1C7C6618-AB13-4CB5-B4D5-EDC860A47431}">
      <dgm:prSet/>
      <dgm:spPr/>
      <dgm:t>
        <a:bodyPr/>
        <a:lstStyle/>
        <a:p>
          <a:endParaRPr lang="en-US"/>
        </a:p>
      </dgm:t>
    </dgm:pt>
    <dgm:pt modelId="{181EC87B-D00A-4160-ABCB-D0C6A0276B69}" type="sibTrans" cxnId="{1C7C6618-AB13-4CB5-B4D5-EDC860A47431}">
      <dgm:prSet/>
      <dgm:spPr/>
      <dgm:t>
        <a:bodyPr/>
        <a:lstStyle/>
        <a:p>
          <a:endParaRPr lang="en-US"/>
        </a:p>
      </dgm:t>
    </dgm:pt>
    <dgm:pt modelId="{CD5C4327-EC6C-4752-AE2C-61871E39BA9D}">
      <dgm:prSet phldrT="[Text]"/>
      <dgm:spPr/>
      <dgm:t>
        <a:bodyPr/>
        <a:lstStyle/>
        <a:p>
          <a:r>
            <a:rPr lang="en-US" dirty="0" smtClean="0"/>
            <a:t>Atom v</a:t>
          </a:r>
          <a:r>
            <a:rPr lang="az-Latn-AZ" dirty="0" smtClean="0"/>
            <a:t>ə molekullar daim nizamsız və xaotik hərərkət edir</a:t>
          </a:r>
          <a:r>
            <a:rPr lang="en-US" dirty="0" smtClean="0"/>
            <a:t>.</a:t>
          </a:r>
          <a:endParaRPr lang="en-US" dirty="0"/>
        </a:p>
      </dgm:t>
    </dgm:pt>
    <dgm:pt modelId="{7C376844-CB88-4047-8502-C94250AD9874}" type="parTrans" cxnId="{883E9CE7-96AE-4222-9BFE-8CD1DCCECF32}">
      <dgm:prSet/>
      <dgm:spPr/>
      <dgm:t>
        <a:bodyPr/>
        <a:lstStyle/>
        <a:p>
          <a:endParaRPr lang="en-US"/>
        </a:p>
      </dgm:t>
    </dgm:pt>
    <dgm:pt modelId="{909118EE-7974-4753-AB06-C54CCD75437B}" type="sibTrans" cxnId="{883E9CE7-96AE-4222-9BFE-8CD1DCCECF32}">
      <dgm:prSet/>
      <dgm:spPr/>
      <dgm:t>
        <a:bodyPr/>
        <a:lstStyle/>
        <a:p>
          <a:endParaRPr lang="en-US"/>
        </a:p>
      </dgm:t>
    </dgm:pt>
    <dgm:pt modelId="{C29F3B3F-BB2A-4663-AAB1-6BC342E732C2}">
      <dgm:prSet phldrT="[Text]"/>
      <dgm:spPr>
        <a:solidFill>
          <a:srgbClr val="C00000"/>
        </a:solidFill>
      </dgm:spPr>
      <dgm:t>
        <a:bodyPr/>
        <a:lstStyle/>
        <a:p>
          <a:r>
            <a:rPr lang="az-Latn-AZ" dirty="0" smtClean="0"/>
            <a:t>3</a:t>
          </a:r>
          <a:endParaRPr lang="en-US" dirty="0"/>
        </a:p>
      </dgm:t>
    </dgm:pt>
    <dgm:pt modelId="{DA026E55-9D10-444C-912F-F71E67775A12}" type="parTrans" cxnId="{3A665BAB-98E8-49C3-9891-F75AD3257A9A}">
      <dgm:prSet/>
      <dgm:spPr/>
      <dgm:t>
        <a:bodyPr/>
        <a:lstStyle/>
        <a:p>
          <a:endParaRPr lang="en-US"/>
        </a:p>
      </dgm:t>
    </dgm:pt>
    <dgm:pt modelId="{74186E20-5AE0-46AB-8FFE-D8B8A40DF895}" type="sibTrans" cxnId="{3A665BAB-98E8-49C3-9891-F75AD3257A9A}">
      <dgm:prSet/>
      <dgm:spPr/>
      <dgm:t>
        <a:bodyPr/>
        <a:lstStyle/>
        <a:p>
          <a:endParaRPr lang="en-US"/>
        </a:p>
      </dgm:t>
    </dgm:pt>
    <dgm:pt modelId="{D40CA8AA-997E-40F7-B5D2-502B421BE53E}">
      <dgm:prSet phldrT="[Text]"/>
      <dgm:spPr/>
      <dgm:t>
        <a:bodyPr/>
        <a:lstStyle/>
        <a:p>
          <a:r>
            <a:rPr lang="az-Latn-AZ" noProof="0" dirty="0" smtClean="0"/>
            <a:t>Molekullar ara</a:t>
          </a:r>
          <a:r>
            <a:rPr lang="en-US" dirty="0" smtClean="0"/>
            <a:t>s</a:t>
          </a:r>
          <a:r>
            <a:rPr lang="az-Latn-AZ" dirty="0" smtClean="0"/>
            <a:t>ında itələmə və cazibə qüvvəsi mövcuddur</a:t>
          </a:r>
          <a:r>
            <a:rPr lang="en-US" dirty="0" smtClean="0"/>
            <a:t>.</a:t>
          </a:r>
          <a:endParaRPr lang="en-US" dirty="0"/>
        </a:p>
      </dgm:t>
    </dgm:pt>
    <dgm:pt modelId="{2D0D1A02-8951-4D5B-849B-BABC4B24F33A}" type="parTrans" cxnId="{336D4CE6-9F22-4D09-A5B0-1C3BDE6075E6}">
      <dgm:prSet/>
      <dgm:spPr/>
      <dgm:t>
        <a:bodyPr/>
        <a:lstStyle/>
        <a:p>
          <a:endParaRPr lang="en-US"/>
        </a:p>
      </dgm:t>
    </dgm:pt>
    <dgm:pt modelId="{221288C4-CAEC-43B6-A429-A470C4354CF1}" type="sibTrans" cxnId="{336D4CE6-9F22-4D09-A5B0-1C3BDE6075E6}">
      <dgm:prSet/>
      <dgm:spPr/>
      <dgm:t>
        <a:bodyPr/>
        <a:lstStyle/>
        <a:p>
          <a:endParaRPr lang="en-US"/>
        </a:p>
      </dgm:t>
    </dgm:pt>
    <dgm:pt modelId="{9D2672D7-2217-4068-AC2B-2633497C70B5}" type="pres">
      <dgm:prSet presAssocID="{3ECDE7A9-4914-4BC2-A9BE-D7F5F8647722}" presName="Name0" presStyleCnt="0">
        <dgm:presLayoutVars>
          <dgm:dir/>
          <dgm:animLvl val="lvl"/>
          <dgm:resizeHandles val="exact"/>
        </dgm:presLayoutVars>
      </dgm:prSet>
      <dgm:spPr/>
      <dgm:t>
        <a:bodyPr/>
        <a:lstStyle/>
        <a:p>
          <a:endParaRPr lang="en-US"/>
        </a:p>
      </dgm:t>
    </dgm:pt>
    <dgm:pt modelId="{7AB4884B-05DE-47D2-ACD9-FD5912DA5E50}" type="pres">
      <dgm:prSet presAssocID="{7027A111-2584-4B46-AF92-015ADBFF9CC6}" presName="linNode" presStyleCnt="0"/>
      <dgm:spPr/>
    </dgm:pt>
    <dgm:pt modelId="{A2087ADC-7D62-4B1E-A69A-D601E85F28C6}" type="pres">
      <dgm:prSet presAssocID="{7027A111-2584-4B46-AF92-015ADBFF9CC6}" presName="parentText" presStyleLbl="node1" presStyleIdx="0" presStyleCnt="3">
        <dgm:presLayoutVars>
          <dgm:chMax val="1"/>
          <dgm:bulletEnabled val="1"/>
        </dgm:presLayoutVars>
      </dgm:prSet>
      <dgm:spPr/>
      <dgm:t>
        <a:bodyPr/>
        <a:lstStyle/>
        <a:p>
          <a:endParaRPr lang="en-US"/>
        </a:p>
      </dgm:t>
    </dgm:pt>
    <dgm:pt modelId="{89EA1004-57E7-4EB0-A689-D1096512AA2C}" type="pres">
      <dgm:prSet presAssocID="{7027A111-2584-4B46-AF92-015ADBFF9CC6}" presName="descendantText" presStyleLbl="alignAccFollowNode1" presStyleIdx="0" presStyleCnt="3">
        <dgm:presLayoutVars>
          <dgm:bulletEnabled val="1"/>
        </dgm:presLayoutVars>
      </dgm:prSet>
      <dgm:spPr/>
      <dgm:t>
        <a:bodyPr/>
        <a:lstStyle/>
        <a:p>
          <a:endParaRPr lang="en-US"/>
        </a:p>
      </dgm:t>
    </dgm:pt>
    <dgm:pt modelId="{8266E70A-D6DE-47C8-9915-7A63D4F1FA4F}" type="pres">
      <dgm:prSet presAssocID="{25A9DCCF-CF94-4108-8B43-333F7C602174}" presName="sp" presStyleCnt="0"/>
      <dgm:spPr/>
    </dgm:pt>
    <dgm:pt modelId="{C4FF255F-2101-4CB7-8772-EC5250903D66}" type="pres">
      <dgm:prSet presAssocID="{F46D12F6-1204-4D85-B304-2FC80C34BC6D}" presName="linNode" presStyleCnt="0"/>
      <dgm:spPr/>
    </dgm:pt>
    <dgm:pt modelId="{7E406DF2-8604-4FD4-9E6E-8890384FDF13}" type="pres">
      <dgm:prSet presAssocID="{F46D12F6-1204-4D85-B304-2FC80C34BC6D}" presName="parentText" presStyleLbl="node1" presStyleIdx="1" presStyleCnt="3">
        <dgm:presLayoutVars>
          <dgm:chMax val="1"/>
          <dgm:bulletEnabled val="1"/>
        </dgm:presLayoutVars>
      </dgm:prSet>
      <dgm:spPr/>
      <dgm:t>
        <a:bodyPr/>
        <a:lstStyle/>
        <a:p>
          <a:endParaRPr lang="en-US"/>
        </a:p>
      </dgm:t>
    </dgm:pt>
    <dgm:pt modelId="{89D307BE-0585-4C94-83E5-C92119C1144A}" type="pres">
      <dgm:prSet presAssocID="{F46D12F6-1204-4D85-B304-2FC80C34BC6D}" presName="descendantText" presStyleLbl="alignAccFollowNode1" presStyleIdx="1" presStyleCnt="3" custLinFactNeighborX="496" custLinFactNeighborY="-7272">
        <dgm:presLayoutVars>
          <dgm:bulletEnabled val="1"/>
        </dgm:presLayoutVars>
      </dgm:prSet>
      <dgm:spPr/>
      <dgm:t>
        <a:bodyPr/>
        <a:lstStyle/>
        <a:p>
          <a:endParaRPr lang="en-US"/>
        </a:p>
      </dgm:t>
    </dgm:pt>
    <dgm:pt modelId="{CDC53627-2FDE-468A-96F5-AFD4F49B877D}" type="pres">
      <dgm:prSet presAssocID="{181EC87B-D00A-4160-ABCB-D0C6A0276B69}" presName="sp" presStyleCnt="0"/>
      <dgm:spPr/>
    </dgm:pt>
    <dgm:pt modelId="{B2B222ED-B3E0-4169-89ED-FF8E9AC7C99B}" type="pres">
      <dgm:prSet presAssocID="{C29F3B3F-BB2A-4663-AAB1-6BC342E732C2}" presName="linNode" presStyleCnt="0"/>
      <dgm:spPr/>
    </dgm:pt>
    <dgm:pt modelId="{516638F9-DB61-4A20-912C-EA8DC3287E1D}" type="pres">
      <dgm:prSet presAssocID="{C29F3B3F-BB2A-4663-AAB1-6BC342E732C2}" presName="parentText" presStyleLbl="node1" presStyleIdx="2" presStyleCnt="3">
        <dgm:presLayoutVars>
          <dgm:chMax val="1"/>
          <dgm:bulletEnabled val="1"/>
        </dgm:presLayoutVars>
      </dgm:prSet>
      <dgm:spPr/>
      <dgm:t>
        <a:bodyPr/>
        <a:lstStyle/>
        <a:p>
          <a:endParaRPr lang="en-US"/>
        </a:p>
      </dgm:t>
    </dgm:pt>
    <dgm:pt modelId="{D6B4B004-AB3B-4974-8DC2-AFACA00C57D5}" type="pres">
      <dgm:prSet presAssocID="{C29F3B3F-BB2A-4663-AAB1-6BC342E732C2}" presName="descendantText" presStyleLbl="alignAccFollowNode1" presStyleIdx="2" presStyleCnt="3">
        <dgm:presLayoutVars>
          <dgm:bulletEnabled val="1"/>
        </dgm:presLayoutVars>
      </dgm:prSet>
      <dgm:spPr/>
      <dgm:t>
        <a:bodyPr/>
        <a:lstStyle/>
        <a:p>
          <a:endParaRPr lang="en-US"/>
        </a:p>
      </dgm:t>
    </dgm:pt>
  </dgm:ptLst>
  <dgm:cxnLst>
    <dgm:cxn modelId="{1C7C6618-AB13-4CB5-B4D5-EDC860A47431}" srcId="{3ECDE7A9-4914-4BC2-A9BE-D7F5F8647722}" destId="{F46D12F6-1204-4D85-B304-2FC80C34BC6D}" srcOrd="1" destOrd="0" parTransId="{DADF81EA-DD48-4E71-AEE4-BB82D911C7D5}" sibTransId="{181EC87B-D00A-4160-ABCB-D0C6A0276B69}"/>
    <dgm:cxn modelId="{C5F9809B-F598-41E5-9D65-51E23C66B333}" type="presOf" srcId="{22FB02B3-BB07-4B9D-8953-FAB83C83ABA6}" destId="{89EA1004-57E7-4EB0-A689-D1096512AA2C}" srcOrd="0" destOrd="0" presId="urn:microsoft.com/office/officeart/2005/8/layout/vList5"/>
    <dgm:cxn modelId="{E83E3835-3FA4-4481-A22F-2E63D2C788A0}" srcId="{7027A111-2584-4B46-AF92-015ADBFF9CC6}" destId="{22FB02B3-BB07-4B9D-8953-FAB83C83ABA6}" srcOrd="0" destOrd="0" parTransId="{267CBAF6-D37F-40AB-B392-0B99C8BF3DFA}" sibTransId="{764AEA5E-3668-4E15-AD9B-09B66BD62887}"/>
    <dgm:cxn modelId="{0F1AA917-FA67-4745-A187-26DF3BF89A24}" type="presOf" srcId="{F46D12F6-1204-4D85-B304-2FC80C34BC6D}" destId="{7E406DF2-8604-4FD4-9E6E-8890384FDF13}" srcOrd="0" destOrd="0" presId="urn:microsoft.com/office/officeart/2005/8/layout/vList5"/>
    <dgm:cxn modelId="{93FD7067-09B7-4FEF-88EE-3BD09A5E4BBF}" type="presOf" srcId="{C29F3B3F-BB2A-4663-AAB1-6BC342E732C2}" destId="{516638F9-DB61-4A20-912C-EA8DC3287E1D}" srcOrd="0" destOrd="0" presId="urn:microsoft.com/office/officeart/2005/8/layout/vList5"/>
    <dgm:cxn modelId="{3A665BAB-98E8-49C3-9891-F75AD3257A9A}" srcId="{3ECDE7A9-4914-4BC2-A9BE-D7F5F8647722}" destId="{C29F3B3F-BB2A-4663-AAB1-6BC342E732C2}" srcOrd="2" destOrd="0" parTransId="{DA026E55-9D10-444C-912F-F71E67775A12}" sibTransId="{74186E20-5AE0-46AB-8FFE-D8B8A40DF895}"/>
    <dgm:cxn modelId="{336D4CE6-9F22-4D09-A5B0-1C3BDE6075E6}" srcId="{C29F3B3F-BB2A-4663-AAB1-6BC342E732C2}" destId="{D40CA8AA-997E-40F7-B5D2-502B421BE53E}" srcOrd="0" destOrd="0" parTransId="{2D0D1A02-8951-4D5B-849B-BABC4B24F33A}" sibTransId="{221288C4-CAEC-43B6-A429-A470C4354CF1}"/>
    <dgm:cxn modelId="{883E9CE7-96AE-4222-9BFE-8CD1DCCECF32}" srcId="{F46D12F6-1204-4D85-B304-2FC80C34BC6D}" destId="{CD5C4327-EC6C-4752-AE2C-61871E39BA9D}" srcOrd="0" destOrd="0" parTransId="{7C376844-CB88-4047-8502-C94250AD9874}" sibTransId="{909118EE-7974-4753-AB06-C54CCD75437B}"/>
    <dgm:cxn modelId="{681A6A14-47A8-4BD3-892E-A22D301B70A8}" type="presOf" srcId="{D40CA8AA-997E-40F7-B5D2-502B421BE53E}" destId="{D6B4B004-AB3B-4974-8DC2-AFACA00C57D5}" srcOrd="0" destOrd="0" presId="urn:microsoft.com/office/officeart/2005/8/layout/vList5"/>
    <dgm:cxn modelId="{D9BE5005-5997-4E26-9C5D-097ED2AD81EE}" type="presOf" srcId="{3ECDE7A9-4914-4BC2-A9BE-D7F5F8647722}" destId="{9D2672D7-2217-4068-AC2B-2633497C70B5}" srcOrd="0" destOrd="0" presId="urn:microsoft.com/office/officeart/2005/8/layout/vList5"/>
    <dgm:cxn modelId="{156C2360-9B66-443C-9438-94CEC7498AD5}" type="presOf" srcId="{CD5C4327-EC6C-4752-AE2C-61871E39BA9D}" destId="{89D307BE-0585-4C94-83E5-C92119C1144A}" srcOrd="0" destOrd="0" presId="urn:microsoft.com/office/officeart/2005/8/layout/vList5"/>
    <dgm:cxn modelId="{27354DF5-162E-4EDF-91BD-CB5186A9C86D}" type="presOf" srcId="{7027A111-2584-4B46-AF92-015ADBFF9CC6}" destId="{A2087ADC-7D62-4B1E-A69A-D601E85F28C6}" srcOrd="0" destOrd="0" presId="urn:microsoft.com/office/officeart/2005/8/layout/vList5"/>
    <dgm:cxn modelId="{C3B4BF8B-A1A4-4FD0-9747-C6C25D1725C0}" srcId="{3ECDE7A9-4914-4BC2-A9BE-D7F5F8647722}" destId="{7027A111-2584-4B46-AF92-015ADBFF9CC6}" srcOrd="0" destOrd="0" parTransId="{D6E0D1AA-060F-4441-A544-EDE51056C3A9}" sibTransId="{25A9DCCF-CF94-4108-8B43-333F7C602174}"/>
    <dgm:cxn modelId="{7EA2CE9C-30BA-44DA-9323-C088BAE90D00}" type="presParOf" srcId="{9D2672D7-2217-4068-AC2B-2633497C70B5}" destId="{7AB4884B-05DE-47D2-ACD9-FD5912DA5E50}" srcOrd="0" destOrd="0" presId="urn:microsoft.com/office/officeart/2005/8/layout/vList5"/>
    <dgm:cxn modelId="{25E8434C-A2A3-49DB-9972-CB184FB66C37}" type="presParOf" srcId="{7AB4884B-05DE-47D2-ACD9-FD5912DA5E50}" destId="{A2087ADC-7D62-4B1E-A69A-D601E85F28C6}" srcOrd="0" destOrd="0" presId="urn:microsoft.com/office/officeart/2005/8/layout/vList5"/>
    <dgm:cxn modelId="{38469533-3308-40CF-990F-5E99DCB17D9D}" type="presParOf" srcId="{7AB4884B-05DE-47D2-ACD9-FD5912DA5E50}" destId="{89EA1004-57E7-4EB0-A689-D1096512AA2C}" srcOrd="1" destOrd="0" presId="urn:microsoft.com/office/officeart/2005/8/layout/vList5"/>
    <dgm:cxn modelId="{36EFF582-104E-41A7-B1BD-B4DF24F4D4D3}" type="presParOf" srcId="{9D2672D7-2217-4068-AC2B-2633497C70B5}" destId="{8266E70A-D6DE-47C8-9915-7A63D4F1FA4F}" srcOrd="1" destOrd="0" presId="urn:microsoft.com/office/officeart/2005/8/layout/vList5"/>
    <dgm:cxn modelId="{E41B333E-DAFD-4899-AC6E-A586356682A2}" type="presParOf" srcId="{9D2672D7-2217-4068-AC2B-2633497C70B5}" destId="{C4FF255F-2101-4CB7-8772-EC5250903D66}" srcOrd="2" destOrd="0" presId="urn:microsoft.com/office/officeart/2005/8/layout/vList5"/>
    <dgm:cxn modelId="{9E16063D-FB21-430A-B0D0-2B9997535842}" type="presParOf" srcId="{C4FF255F-2101-4CB7-8772-EC5250903D66}" destId="{7E406DF2-8604-4FD4-9E6E-8890384FDF13}" srcOrd="0" destOrd="0" presId="urn:microsoft.com/office/officeart/2005/8/layout/vList5"/>
    <dgm:cxn modelId="{8A1E215E-AE91-4B88-A078-B29CFB9D147F}" type="presParOf" srcId="{C4FF255F-2101-4CB7-8772-EC5250903D66}" destId="{89D307BE-0585-4C94-83E5-C92119C1144A}" srcOrd="1" destOrd="0" presId="urn:microsoft.com/office/officeart/2005/8/layout/vList5"/>
    <dgm:cxn modelId="{41118210-DFE9-4855-AC95-A7E94D30EE3D}" type="presParOf" srcId="{9D2672D7-2217-4068-AC2B-2633497C70B5}" destId="{CDC53627-2FDE-468A-96F5-AFD4F49B877D}" srcOrd="3" destOrd="0" presId="urn:microsoft.com/office/officeart/2005/8/layout/vList5"/>
    <dgm:cxn modelId="{2C087877-BC9B-4E36-AC4C-5E96A507E6A9}" type="presParOf" srcId="{9D2672D7-2217-4068-AC2B-2633497C70B5}" destId="{B2B222ED-B3E0-4169-89ED-FF8E9AC7C99B}" srcOrd="4" destOrd="0" presId="urn:microsoft.com/office/officeart/2005/8/layout/vList5"/>
    <dgm:cxn modelId="{DE263045-4A79-48CE-B075-7598B5D4837D}" type="presParOf" srcId="{B2B222ED-B3E0-4169-89ED-FF8E9AC7C99B}" destId="{516638F9-DB61-4A20-912C-EA8DC3287E1D}" srcOrd="0" destOrd="0" presId="urn:microsoft.com/office/officeart/2005/8/layout/vList5"/>
    <dgm:cxn modelId="{FA91914C-D3D3-49C5-B2A8-A9143553D769}" type="presParOf" srcId="{B2B222ED-B3E0-4169-89ED-FF8E9AC7C99B}" destId="{D6B4B004-AB3B-4974-8DC2-AFACA00C57D5}"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EA1004-57E7-4EB0-A689-D1096512AA2C}">
      <dsp:nvSpPr>
        <dsp:cNvPr id="0" name=""/>
        <dsp:cNvSpPr/>
      </dsp:nvSpPr>
      <dsp:spPr>
        <a:xfrm rot="5400000">
          <a:off x="4828539" y="-1725189"/>
          <a:ext cx="1397000" cy="520192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az-Latn-AZ" sz="2700" kern="1200" dirty="0" smtClean="0"/>
            <a:t>Bütün maddələr atom və molekullardan təşkil olunmuşdur</a:t>
          </a:r>
          <a:r>
            <a:rPr lang="en-US" sz="2700" kern="1200" dirty="0" smtClean="0"/>
            <a:t>.</a:t>
          </a:r>
          <a:endParaRPr lang="en-US" sz="2700" kern="1200" dirty="0"/>
        </a:p>
      </dsp:txBody>
      <dsp:txXfrm rot="-5400000">
        <a:off x="2926079" y="245467"/>
        <a:ext cx="5133724" cy="1260608"/>
      </dsp:txXfrm>
    </dsp:sp>
    <dsp:sp modelId="{A2087ADC-7D62-4B1E-A69A-D601E85F28C6}">
      <dsp:nvSpPr>
        <dsp:cNvPr id="0" name=""/>
        <dsp:cNvSpPr/>
      </dsp:nvSpPr>
      <dsp:spPr>
        <a:xfrm>
          <a:off x="0" y="2645"/>
          <a:ext cx="2926080" cy="1746250"/>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ctr" defTabSz="2889250">
            <a:lnSpc>
              <a:spcPct val="90000"/>
            </a:lnSpc>
            <a:spcBef>
              <a:spcPct val="0"/>
            </a:spcBef>
            <a:spcAft>
              <a:spcPct val="35000"/>
            </a:spcAft>
          </a:pPr>
          <a:r>
            <a:rPr lang="az-Latn-AZ" sz="6500" kern="1200" dirty="0" smtClean="0"/>
            <a:t>1</a:t>
          </a:r>
          <a:endParaRPr lang="en-US" sz="6500" kern="1200" dirty="0"/>
        </a:p>
      </dsp:txBody>
      <dsp:txXfrm>
        <a:off x="85245" y="87890"/>
        <a:ext cx="2755590" cy="1575760"/>
      </dsp:txXfrm>
    </dsp:sp>
    <dsp:sp modelId="{89D307BE-0585-4C94-83E5-C92119C1144A}">
      <dsp:nvSpPr>
        <dsp:cNvPr id="0" name=""/>
        <dsp:cNvSpPr/>
      </dsp:nvSpPr>
      <dsp:spPr>
        <a:xfrm rot="5400000">
          <a:off x="4828539" y="6783"/>
          <a:ext cx="1397000" cy="520192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n-US" sz="2700" kern="1200" dirty="0" smtClean="0"/>
            <a:t>Atom v</a:t>
          </a:r>
          <a:r>
            <a:rPr lang="az-Latn-AZ" sz="2700" kern="1200" dirty="0" smtClean="0"/>
            <a:t>ə molekullar daim nizamsız və xaotik hərərkət edir</a:t>
          </a:r>
          <a:r>
            <a:rPr lang="en-US" sz="2700" kern="1200" dirty="0" smtClean="0"/>
            <a:t>.</a:t>
          </a:r>
          <a:endParaRPr lang="en-US" sz="2700" kern="1200" dirty="0"/>
        </a:p>
      </dsp:txBody>
      <dsp:txXfrm rot="-5400000">
        <a:off x="2926079" y="1977439"/>
        <a:ext cx="5133724" cy="1260608"/>
      </dsp:txXfrm>
    </dsp:sp>
    <dsp:sp modelId="{7E406DF2-8604-4FD4-9E6E-8890384FDF13}">
      <dsp:nvSpPr>
        <dsp:cNvPr id="0" name=""/>
        <dsp:cNvSpPr/>
      </dsp:nvSpPr>
      <dsp:spPr>
        <a:xfrm>
          <a:off x="0" y="1836208"/>
          <a:ext cx="2926080" cy="1746250"/>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ctr" defTabSz="2889250">
            <a:lnSpc>
              <a:spcPct val="90000"/>
            </a:lnSpc>
            <a:spcBef>
              <a:spcPct val="0"/>
            </a:spcBef>
            <a:spcAft>
              <a:spcPct val="35000"/>
            </a:spcAft>
          </a:pPr>
          <a:r>
            <a:rPr lang="az-Latn-AZ" sz="6500" kern="1200" dirty="0" smtClean="0"/>
            <a:t>2</a:t>
          </a:r>
          <a:endParaRPr lang="en-US" sz="6500" kern="1200" dirty="0"/>
        </a:p>
      </dsp:txBody>
      <dsp:txXfrm>
        <a:off x="85245" y="1921453"/>
        <a:ext cx="2755590" cy="1575760"/>
      </dsp:txXfrm>
    </dsp:sp>
    <dsp:sp modelId="{D6B4B004-AB3B-4974-8DC2-AFACA00C57D5}">
      <dsp:nvSpPr>
        <dsp:cNvPr id="0" name=""/>
        <dsp:cNvSpPr/>
      </dsp:nvSpPr>
      <dsp:spPr>
        <a:xfrm rot="5400000">
          <a:off x="4828539" y="1941936"/>
          <a:ext cx="1397000" cy="5201920"/>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az-Latn-AZ" sz="2700" kern="1200" noProof="0" dirty="0" smtClean="0"/>
            <a:t>Molekullar ara</a:t>
          </a:r>
          <a:r>
            <a:rPr lang="en-US" sz="2700" kern="1200" dirty="0" smtClean="0"/>
            <a:t>s</a:t>
          </a:r>
          <a:r>
            <a:rPr lang="az-Latn-AZ" sz="2700" kern="1200" dirty="0" smtClean="0"/>
            <a:t>ında itələmə və cazibə qüvvəsi mövcuddur</a:t>
          </a:r>
          <a:r>
            <a:rPr lang="en-US" sz="2700" kern="1200" dirty="0" smtClean="0"/>
            <a:t>.</a:t>
          </a:r>
          <a:endParaRPr lang="en-US" sz="2700" kern="1200" dirty="0"/>
        </a:p>
      </dsp:txBody>
      <dsp:txXfrm rot="-5400000">
        <a:off x="2926079" y="3912592"/>
        <a:ext cx="5133724" cy="1260608"/>
      </dsp:txXfrm>
    </dsp:sp>
    <dsp:sp modelId="{516638F9-DB61-4A20-912C-EA8DC3287E1D}">
      <dsp:nvSpPr>
        <dsp:cNvPr id="0" name=""/>
        <dsp:cNvSpPr/>
      </dsp:nvSpPr>
      <dsp:spPr>
        <a:xfrm>
          <a:off x="0" y="3669771"/>
          <a:ext cx="2926080" cy="1746250"/>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lvl="0" algn="ctr" defTabSz="2889250">
            <a:lnSpc>
              <a:spcPct val="90000"/>
            </a:lnSpc>
            <a:spcBef>
              <a:spcPct val="0"/>
            </a:spcBef>
            <a:spcAft>
              <a:spcPct val="35000"/>
            </a:spcAft>
          </a:pPr>
          <a:r>
            <a:rPr lang="az-Latn-AZ" sz="6500" kern="1200" dirty="0" smtClean="0"/>
            <a:t>3</a:t>
          </a:r>
          <a:endParaRPr lang="en-US" sz="6500" kern="1200" dirty="0"/>
        </a:p>
      </dsp:txBody>
      <dsp:txXfrm>
        <a:off x="85245" y="3755016"/>
        <a:ext cx="2755590" cy="157576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9C176F06-BC90-439E-9C4E-2B083B2D89A7}" type="datetimeFigureOut">
              <a:rPr lang="ru-RU" smtClean="0"/>
              <a:t>14.12.2024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3816925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C176F06-BC90-439E-9C4E-2B083B2D89A7}" type="datetimeFigureOut">
              <a:rPr lang="ru-RU" smtClean="0"/>
              <a:t>14.12.2024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1124838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C176F06-BC90-439E-9C4E-2B083B2D89A7}" type="datetimeFigureOut">
              <a:rPr lang="ru-RU" smtClean="0"/>
              <a:t>14.12.2024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1781476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9C176F06-BC90-439E-9C4E-2B083B2D89A7}" type="datetimeFigureOut">
              <a:rPr lang="ru-RU" smtClean="0"/>
              <a:t>14.12.2024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273053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9C176F06-BC90-439E-9C4E-2B083B2D89A7}" type="datetimeFigureOut">
              <a:rPr lang="ru-RU" smtClean="0"/>
              <a:t>14.12.2024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2002761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9C176F06-BC90-439E-9C4E-2B083B2D89A7}" type="datetimeFigureOut">
              <a:rPr lang="ru-RU" smtClean="0"/>
              <a:t>14.12.2024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3150176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176F06-BC90-439E-9C4E-2B083B2D89A7}" type="datetimeFigureOut">
              <a:rPr lang="ru-RU" smtClean="0"/>
              <a:t>14.12.2024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1240517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C176F06-BC90-439E-9C4E-2B083B2D89A7}" type="datetimeFigureOut">
              <a:rPr lang="ru-RU" smtClean="0"/>
              <a:t>14.12.2024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4125119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C176F06-BC90-439E-9C4E-2B083B2D89A7}" type="datetimeFigureOut">
              <a:rPr lang="ru-RU" smtClean="0"/>
              <a:t>14.12.2024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1946545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C176F06-BC90-439E-9C4E-2B083B2D89A7}" type="datetimeFigureOut">
              <a:rPr lang="ru-RU" smtClean="0"/>
              <a:t>14.12.2024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1316481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C176F06-BC90-439E-9C4E-2B083B2D89A7}" type="datetimeFigureOut">
              <a:rPr lang="ru-RU" smtClean="0"/>
              <a:t>14.12.2024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535A159-752E-4B38-AC22-A6BA1AEE9414}" type="slidenum">
              <a:rPr lang="ru-RU" smtClean="0"/>
              <a:t>‹#›</a:t>
            </a:fld>
            <a:endParaRPr lang="ru-RU"/>
          </a:p>
        </p:txBody>
      </p:sp>
    </p:spTree>
    <p:extLst>
      <p:ext uri="{BB962C8B-B14F-4D97-AF65-F5344CB8AC3E}">
        <p14:creationId xmlns:p14="http://schemas.microsoft.com/office/powerpoint/2010/main" val="4263613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1000" b="-8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176F06-BC90-439E-9C4E-2B083B2D89A7}" type="datetimeFigureOut">
              <a:rPr lang="ru-RU" smtClean="0"/>
              <a:t>14.12.2024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35A159-752E-4B38-AC22-A6BA1AEE9414}" type="slidenum">
              <a:rPr lang="ru-RU" smtClean="0"/>
              <a:t>‹#›</a:t>
            </a:fld>
            <a:endParaRPr lang="ru-RU"/>
          </a:p>
        </p:txBody>
      </p:sp>
    </p:spTree>
    <p:extLst>
      <p:ext uri="{BB962C8B-B14F-4D97-AF65-F5344CB8AC3E}">
        <p14:creationId xmlns:p14="http://schemas.microsoft.com/office/powerpoint/2010/main" val="1929817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g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89"/>
            <a:ext cx="5806440" cy="349989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202681" y="1855586"/>
            <a:ext cx="5875314" cy="1200329"/>
          </a:xfrm>
          <a:prstGeom prst="rect">
            <a:avLst/>
          </a:prstGeom>
        </p:spPr>
        <p:txBody>
          <a:bodyPr wrap="square">
            <a:spAutoFit/>
          </a:bodyPr>
          <a:lstStyle/>
          <a:p>
            <a:pPr algn="ctr"/>
            <a:r>
              <a:rPr lang="az-Latn-AZ" sz="3600" dirty="0">
                <a:ln w="0"/>
                <a:solidFill>
                  <a:schemeClr val="bg1"/>
                </a:solidFill>
                <a:effectLst>
                  <a:outerShdw blurRad="38100" dist="19050" dir="2700000" algn="tl" rotWithShape="0">
                    <a:schemeClr val="dk1">
                      <a:alpha val="40000"/>
                    </a:schemeClr>
                  </a:outerShdw>
                </a:effectLst>
              </a:rPr>
              <a:t>AZƏRBAYCAN RESPUBLİKASI ELM VƏ TƏHSİL NAZİRLİYİ</a:t>
            </a:r>
            <a:endParaRPr lang="en-US" sz="3600" dirty="0">
              <a:ln w="0"/>
              <a:solidFill>
                <a:schemeClr val="bg1"/>
              </a:solidFill>
              <a:effectLst>
                <a:outerShdw blurRad="38100" dist="19050" dir="2700000" algn="tl" rotWithShape="0">
                  <a:schemeClr val="dk1">
                    <a:alpha val="40000"/>
                  </a:schemeClr>
                </a:outerShdw>
              </a:effectLst>
            </a:endParaRPr>
          </a:p>
        </p:txBody>
      </p:sp>
      <p:pic>
        <p:nvPicPr>
          <p:cNvPr id="5122" name="Picture 2" descr="Azərbaycan Respublikası Elm və Təhsil Nazirliy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2078" y="217197"/>
            <a:ext cx="2636520" cy="1600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324594" y="3499892"/>
            <a:ext cx="7329850" cy="3354765"/>
          </a:xfrm>
          <a:prstGeom prst="rect">
            <a:avLst/>
          </a:prstGeom>
        </p:spPr>
        <p:txBody>
          <a:bodyPr wrap="square">
            <a:spAutoFit/>
          </a:bodyPr>
          <a:lstStyle/>
          <a:p>
            <a:pPr marL="285750" indent="-285750">
              <a:buFont typeface="Arial" panose="020B0604020202020204" pitchFamily="34" charset="0"/>
              <a:buChar char="•"/>
            </a:pPr>
            <a:r>
              <a:rPr lang="az-Latn-AZ" sz="2000" b="1" dirty="0">
                <a:solidFill>
                  <a:schemeClr val="bg1"/>
                </a:solidFill>
              </a:rPr>
              <a:t>Fakultə</a:t>
            </a:r>
            <a:r>
              <a:rPr lang="en-US" sz="2000" b="1" dirty="0">
                <a:solidFill>
                  <a:schemeClr val="bg1"/>
                </a:solidFill>
              </a:rPr>
              <a:t>: </a:t>
            </a:r>
            <a:r>
              <a:rPr lang="az-Latn-AZ" sz="2000" b="1" dirty="0">
                <a:solidFill>
                  <a:schemeClr val="bg1"/>
                </a:solidFill>
              </a:rPr>
              <a:t>İnformasiya və telekommunikasiya texnologiyaları</a:t>
            </a:r>
          </a:p>
          <a:p>
            <a:pPr marL="285750" indent="-285750">
              <a:buFont typeface="Arial" panose="020B0604020202020204" pitchFamily="34" charset="0"/>
              <a:buChar char="•"/>
            </a:pPr>
            <a:r>
              <a:rPr lang="az-Latn-AZ" sz="2000" b="1" dirty="0">
                <a:solidFill>
                  <a:schemeClr val="bg1"/>
                </a:solidFill>
              </a:rPr>
              <a:t>Kafedra</a:t>
            </a:r>
            <a:r>
              <a:rPr lang="en-US" sz="2000" b="1" dirty="0">
                <a:solidFill>
                  <a:schemeClr val="bg1"/>
                </a:solidFill>
              </a:rPr>
              <a:t>: </a:t>
            </a:r>
            <a:r>
              <a:rPr lang="az-Latn-AZ" sz="2000" b="1" dirty="0">
                <a:solidFill>
                  <a:schemeClr val="bg1"/>
                </a:solidFill>
              </a:rPr>
              <a:t>Mühəndis fizikası və elektronika</a:t>
            </a:r>
          </a:p>
          <a:p>
            <a:pPr marL="285750" indent="-285750">
              <a:buFont typeface="Arial" panose="020B0604020202020204" pitchFamily="34" charset="0"/>
              <a:buChar char="•"/>
            </a:pPr>
            <a:r>
              <a:rPr lang="az-Latn-AZ" sz="2000" b="1" dirty="0">
                <a:solidFill>
                  <a:schemeClr val="bg1"/>
                </a:solidFill>
              </a:rPr>
              <a:t>İxtisas</a:t>
            </a:r>
            <a:r>
              <a:rPr lang="en-US" sz="2000" b="1" dirty="0">
                <a:solidFill>
                  <a:schemeClr val="bg1"/>
                </a:solidFill>
              </a:rPr>
              <a:t>:</a:t>
            </a:r>
            <a:r>
              <a:rPr lang="az-Latn-AZ" sz="2000" b="1" dirty="0">
                <a:solidFill>
                  <a:schemeClr val="bg1"/>
                </a:solidFill>
              </a:rPr>
              <a:t> İnformasiya texnologiyalarının əsasları</a:t>
            </a:r>
          </a:p>
          <a:p>
            <a:pPr marL="285750" indent="-285750">
              <a:buFont typeface="Arial" panose="020B0604020202020204" pitchFamily="34" charset="0"/>
              <a:buChar char="•"/>
            </a:pPr>
            <a:r>
              <a:rPr lang="az-Latn-AZ" sz="2000" b="1" dirty="0">
                <a:solidFill>
                  <a:schemeClr val="bg1"/>
                </a:solidFill>
              </a:rPr>
              <a:t>Fənn:Fizika</a:t>
            </a:r>
          </a:p>
          <a:p>
            <a:pPr algn="ctr"/>
            <a:r>
              <a:rPr lang="en-US" sz="3200" b="1" dirty="0" smtClean="0">
                <a:solidFill>
                  <a:schemeClr val="bg1"/>
                </a:solidFill>
              </a:rPr>
              <a:t>S</a:t>
            </a:r>
            <a:r>
              <a:rPr lang="az-Latn-AZ" sz="3200" b="1" dirty="0" smtClean="0">
                <a:solidFill>
                  <a:schemeClr val="bg1"/>
                </a:solidFill>
              </a:rPr>
              <a:t>ƏRBƏST İŞ</a:t>
            </a:r>
          </a:p>
          <a:p>
            <a:pPr marL="342900" indent="-342900">
              <a:buFont typeface="Arial" panose="020B0604020202020204" pitchFamily="34" charset="0"/>
              <a:buChar char="•"/>
            </a:pPr>
            <a:r>
              <a:rPr lang="az-Latn-AZ" sz="2000" b="1" dirty="0">
                <a:solidFill>
                  <a:schemeClr val="bg1"/>
                </a:solidFill>
              </a:rPr>
              <a:t>Mövzu:Molekulyar fizikanın və termodinamikanın əsasları</a:t>
            </a:r>
          </a:p>
          <a:p>
            <a:pPr marL="342900" indent="-342900">
              <a:buFont typeface="Arial" panose="020B0604020202020204" pitchFamily="34" charset="0"/>
              <a:buChar char="•"/>
            </a:pPr>
            <a:r>
              <a:rPr lang="az-Latn-AZ" sz="2000" b="1" dirty="0">
                <a:solidFill>
                  <a:schemeClr val="bg1"/>
                </a:solidFill>
              </a:rPr>
              <a:t>Kurs</a:t>
            </a:r>
            <a:r>
              <a:rPr lang="en-US" sz="2000" b="1" dirty="0">
                <a:solidFill>
                  <a:schemeClr val="bg1"/>
                </a:solidFill>
              </a:rPr>
              <a:t>:1</a:t>
            </a:r>
          </a:p>
          <a:p>
            <a:pPr marL="342900" indent="-342900">
              <a:buFont typeface="Arial" panose="020B0604020202020204" pitchFamily="34" charset="0"/>
              <a:buChar char="•"/>
            </a:pPr>
            <a:r>
              <a:rPr lang="en-US" sz="2000" b="1" dirty="0">
                <a:solidFill>
                  <a:schemeClr val="bg1"/>
                </a:solidFill>
              </a:rPr>
              <a:t>Qrup:6224a1</a:t>
            </a:r>
          </a:p>
          <a:p>
            <a:pPr marL="342900" indent="-342900">
              <a:buFont typeface="Arial" panose="020B0604020202020204" pitchFamily="34" charset="0"/>
              <a:buChar char="•"/>
            </a:pPr>
            <a:r>
              <a:rPr lang="en-US" sz="2000" b="1" dirty="0">
                <a:solidFill>
                  <a:schemeClr val="bg1"/>
                </a:solidFill>
              </a:rPr>
              <a:t>T</a:t>
            </a:r>
            <a:r>
              <a:rPr lang="az-Latn-AZ" sz="2000" b="1" dirty="0">
                <a:solidFill>
                  <a:schemeClr val="bg1"/>
                </a:solidFill>
              </a:rPr>
              <a:t>ələbə</a:t>
            </a:r>
            <a:r>
              <a:rPr lang="en-US" sz="2000" b="1" dirty="0">
                <a:solidFill>
                  <a:schemeClr val="bg1"/>
                </a:solidFill>
              </a:rPr>
              <a:t>:C</a:t>
            </a:r>
            <a:r>
              <a:rPr lang="az-Latn-AZ" sz="2000" b="1" dirty="0">
                <a:solidFill>
                  <a:schemeClr val="bg1"/>
                </a:solidFill>
              </a:rPr>
              <a:t>əfərova Nazlı</a:t>
            </a:r>
          </a:p>
          <a:p>
            <a:pPr marL="342900" indent="-342900">
              <a:buFont typeface="Arial" panose="020B0604020202020204" pitchFamily="34" charset="0"/>
              <a:buChar char="•"/>
            </a:pPr>
            <a:r>
              <a:rPr lang="az-Latn-AZ" sz="2000" b="1" dirty="0">
                <a:solidFill>
                  <a:schemeClr val="bg1"/>
                </a:solidFill>
              </a:rPr>
              <a:t>Müəllim</a:t>
            </a:r>
            <a:r>
              <a:rPr lang="en-US" sz="2000" b="1" dirty="0">
                <a:solidFill>
                  <a:schemeClr val="bg1"/>
                </a:solidFill>
              </a:rPr>
              <a:t>:</a:t>
            </a:r>
            <a:r>
              <a:rPr lang="az-Latn-AZ" sz="2000" b="1" dirty="0">
                <a:solidFill>
                  <a:schemeClr val="bg1"/>
                </a:solidFill>
              </a:rPr>
              <a:t>Mehdiyeva Şəfiqə</a:t>
            </a:r>
          </a:p>
        </p:txBody>
      </p:sp>
    </p:spTree>
    <p:extLst>
      <p:ext uri="{BB962C8B-B14F-4D97-AF65-F5344CB8AC3E}">
        <p14:creationId xmlns:p14="http://schemas.microsoft.com/office/powerpoint/2010/main" val="2147819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1000" b="-8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506857" cy="1325563"/>
          </a:xfrm>
        </p:spPr>
        <p:txBody>
          <a:bodyPr>
            <a:normAutofit/>
          </a:bodyPr>
          <a:lstStyle/>
          <a:p>
            <a:r>
              <a:rPr lang="az-Latn-AZ" sz="4000" b="1" dirty="0" smtClean="0">
                <a:solidFill>
                  <a:schemeClr val="bg1"/>
                </a:solidFill>
                <a:latin typeface="+mn-lt"/>
              </a:rPr>
              <a:t>MOLEKULYAR KİNETİK </a:t>
            </a:r>
            <a:br>
              <a:rPr lang="az-Latn-AZ" sz="4000" b="1" dirty="0" smtClean="0">
                <a:solidFill>
                  <a:schemeClr val="bg1"/>
                </a:solidFill>
                <a:latin typeface="+mn-lt"/>
              </a:rPr>
            </a:br>
            <a:r>
              <a:rPr lang="az-Latn-AZ" sz="4000" b="1" dirty="0" smtClean="0">
                <a:solidFill>
                  <a:schemeClr val="bg1"/>
                </a:solidFill>
                <a:latin typeface="+mn-lt"/>
              </a:rPr>
              <a:t>NƏZƏRİYYƏNİN ƏSAS MÜDDƏALARI</a:t>
            </a:r>
            <a:endParaRPr lang="ru-RU" sz="4000" b="1" dirty="0">
              <a:solidFill>
                <a:schemeClr val="bg1"/>
              </a:solidFill>
              <a:latin typeface="+mn-lt"/>
            </a:endParaRPr>
          </a:p>
        </p:txBody>
      </p:sp>
      <p:graphicFrame>
        <p:nvGraphicFramePr>
          <p:cNvPr id="3" name="Diagram 2"/>
          <p:cNvGraphicFramePr/>
          <p:nvPr>
            <p:extLst>
              <p:ext uri="{D42A27DB-BD31-4B8C-83A1-F6EECF244321}">
                <p14:modId xmlns:p14="http://schemas.microsoft.com/office/powerpoint/2010/main" val="1751662508"/>
              </p:ext>
            </p:extLst>
          </p:nvPr>
        </p:nvGraphicFramePr>
        <p:xfrm>
          <a:off x="1204686" y="1325563"/>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1747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3868"/>
            <a:ext cx="5954486" cy="1325563"/>
          </a:xfrm>
        </p:spPr>
        <p:txBody>
          <a:bodyPr/>
          <a:lstStyle/>
          <a:p>
            <a:r>
              <a:rPr lang="en-US" b="1" dirty="0" smtClean="0">
                <a:solidFill>
                  <a:schemeClr val="bg2">
                    <a:lumMod val="90000"/>
                  </a:schemeClr>
                </a:solidFill>
                <a:latin typeface="+mn-lt"/>
              </a:rPr>
              <a:t>IDEAL QAZ</a:t>
            </a:r>
            <a:r>
              <a:rPr lang="az-Latn-AZ" b="1" dirty="0" smtClean="0">
                <a:solidFill>
                  <a:schemeClr val="bg2">
                    <a:lumMod val="90000"/>
                  </a:schemeClr>
                </a:solidFill>
                <a:latin typeface="+mn-lt"/>
              </a:rPr>
              <a:t>IN HAL TƏNLİYİ</a:t>
            </a:r>
            <a:endParaRPr lang="ru-RU" b="1" dirty="0">
              <a:solidFill>
                <a:schemeClr val="bg2">
                  <a:lumMod val="90000"/>
                </a:schemeClr>
              </a:solidFill>
              <a:latin typeface="+mn-lt"/>
            </a:endParaRPr>
          </a:p>
        </p:txBody>
      </p:sp>
      <p:pic>
        <p:nvPicPr>
          <p:cNvPr id="3074" name="Picture 2" descr="Equation of State of an Ideal Gas"/>
          <p:cNvPicPr>
            <a:picLocks noChangeAspect="1" noChangeArrowheads="1"/>
          </p:cNvPicPr>
          <p:nvPr/>
        </p:nvPicPr>
        <p:blipFill rotWithShape="1">
          <a:blip r:embed="rId2">
            <a:extLst>
              <a:ext uri="{28A0092B-C50C-407E-A947-70E740481C1C}">
                <a14:useLocalDpi xmlns:a14="http://schemas.microsoft.com/office/drawing/2010/main" val="0"/>
              </a:ext>
            </a:extLst>
          </a:blip>
          <a:srcRect b="5717"/>
          <a:stretch/>
        </p:blipFill>
        <p:spPr bwMode="auto">
          <a:xfrm>
            <a:off x="73766" y="1554371"/>
            <a:ext cx="6637111" cy="351994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7467268" y="1047714"/>
            <a:ext cx="3059430" cy="1013314"/>
          </a:xfrm>
          <a:prstGeom prst="rect">
            <a:avLst/>
          </a:prstGeom>
        </p:spPr>
      </p:pic>
      <p:sp>
        <p:nvSpPr>
          <p:cNvPr id="4" name="Rectangle 3"/>
          <p:cNvSpPr/>
          <p:nvPr/>
        </p:nvSpPr>
        <p:spPr>
          <a:xfrm>
            <a:off x="6858000" y="1922030"/>
            <a:ext cx="5029200" cy="4154984"/>
          </a:xfrm>
          <a:prstGeom prst="rect">
            <a:avLst/>
          </a:prstGeom>
        </p:spPr>
        <p:txBody>
          <a:bodyPr wrap="square">
            <a:spAutoFit/>
          </a:bodyPr>
          <a:lstStyle/>
          <a:p>
            <a:endParaRPr lang="az-Latn-AZ" sz="2400" b="1" dirty="0" smtClean="0">
              <a:solidFill>
                <a:schemeClr val="bg1"/>
              </a:solidFill>
            </a:endParaRPr>
          </a:p>
          <a:p>
            <a:pPr>
              <a:buFont typeface="Arial" panose="020B0604020202020204" pitchFamily="34" charset="0"/>
              <a:buChar char="•"/>
            </a:pPr>
            <a:r>
              <a:rPr lang="az-Latn-AZ" sz="2400" b="1" dirty="0" smtClean="0">
                <a:solidFill>
                  <a:schemeClr val="bg1"/>
                </a:solidFill>
              </a:rPr>
              <a:t>PPP — qazın təzyiqi (Pa, atmosfer və ya başqa bir təzyiq ölçü vahidi ilə)</a:t>
            </a:r>
          </a:p>
          <a:p>
            <a:pPr>
              <a:buFont typeface="Arial" panose="020B0604020202020204" pitchFamily="34" charset="0"/>
              <a:buChar char="•"/>
            </a:pPr>
            <a:r>
              <a:rPr lang="az-Latn-AZ" sz="2400" b="1" dirty="0" smtClean="0">
                <a:solidFill>
                  <a:schemeClr val="bg1"/>
                </a:solidFill>
              </a:rPr>
              <a:t>VVV — qazın həcmi (m³ və ya digər uyğun ölçü vahidi)</a:t>
            </a:r>
          </a:p>
          <a:p>
            <a:pPr>
              <a:buFont typeface="Arial" panose="020B0604020202020204" pitchFamily="34" charset="0"/>
              <a:buChar char="•"/>
            </a:pPr>
            <a:r>
              <a:rPr lang="az-Latn-AZ" sz="2400" b="1" dirty="0" smtClean="0">
                <a:solidFill>
                  <a:schemeClr val="bg1"/>
                </a:solidFill>
              </a:rPr>
              <a:t>nnn — qazın mol sayısı (mol ilə ölçülür)</a:t>
            </a:r>
          </a:p>
          <a:p>
            <a:pPr>
              <a:buFont typeface="Arial" panose="020B0604020202020204" pitchFamily="34" charset="0"/>
              <a:buChar char="•"/>
            </a:pPr>
            <a:r>
              <a:rPr lang="az-Latn-AZ" sz="2400" b="1" dirty="0" smtClean="0">
                <a:solidFill>
                  <a:schemeClr val="bg1"/>
                </a:solidFill>
              </a:rPr>
              <a:t>RRR — universal qaz sabiti (8.314 J/(mol·K))</a:t>
            </a:r>
          </a:p>
          <a:p>
            <a:pPr>
              <a:buFont typeface="Arial" panose="020B0604020202020204" pitchFamily="34" charset="0"/>
              <a:buChar char="•"/>
            </a:pPr>
            <a:r>
              <a:rPr lang="az-Latn-AZ" sz="2400" b="1" dirty="0" smtClean="0">
                <a:solidFill>
                  <a:schemeClr val="bg1"/>
                </a:solidFill>
              </a:rPr>
              <a:t>TTT — qazın temperaturu (Kelvin ilə ölçülür)</a:t>
            </a:r>
            <a:endParaRPr lang="az-Latn-AZ" sz="2400" b="1" dirty="0">
              <a:solidFill>
                <a:schemeClr val="bg1"/>
              </a:solidFill>
            </a:endParaRPr>
          </a:p>
        </p:txBody>
      </p:sp>
    </p:spTree>
    <p:extLst>
      <p:ext uri="{BB962C8B-B14F-4D97-AF65-F5344CB8AC3E}">
        <p14:creationId xmlns:p14="http://schemas.microsoft.com/office/powerpoint/2010/main" val="3173174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7485"/>
            <a:ext cx="7604760" cy="1325563"/>
          </a:xfrm>
        </p:spPr>
        <p:txBody>
          <a:bodyPr/>
          <a:lstStyle/>
          <a:p>
            <a:r>
              <a:rPr lang="az-Latn-AZ" b="1" dirty="0" smtClean="0">
                <a:solidFill>
                  <a:schemeClr val="bg1"/>
                </a:solidFill>
                <a:latin typeface="+mn-lt"/>
              </a:rPr>
              <a:t>MOLEKULLARIN SÜRƏTLƏRƏ GÖRƏ MAKSVELL PAYLANMASI</a:t>
            </a:r>
            <a:endParaRPr lang="ru-RU" b="1" dirty="0">
              <a:solidFill>
                <a:schemeClr val="bg1"/>
              </a:solidFill>
              <a:latin typeface="+mn-lt"/>
            </a:endParaRPr>
          </a:p>
        </p:txBody>
      </p:sp>
      <p:pic>
        <p:nvPicPr>
          <p:cNvPr id="4098" name="Picture 2" descr="ÜMUMİ FİZİK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74" y="1760855"/>
            <a:ext cx="5056505" cy="421375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669280" y="1523048"/>
            <a:ext cx="6096000" cy="1631216"/>
          </a:xfrm>
          <a:prstGeom prst="rect">
            <a:avLst/>
          </a:prstGeom>
        </p:spPr>
        <p:txBody>
          <a:bodyPr>
            <a:spAutoFit/>
          </a:bodyPr>
          <a:lstStyle/>
          <a:p>
            <a:r>
              <a:rPr lang="az-Latn-AZ" sz="2000" b="1" dirty="0">
                <a:solidFill>
                  <a:schemeClr val="bg1"/>
                </a:solidFill>
              </a:rPr>
              <a:t>M</a:t>
            </a:r>
            <a:r>
              <a:rPr lang="az-Latn-AZ" sz="2000" b="1" dirty="0" smtClean="0">
                <a:solidFill>
                  <a:schemeClr val="bg1"/>
                </a:solidFill>
              </a:rPr>
              <a:t>olekulların sürətlərinin necə paylandığını izah edən bir statistik paylanmadır. Bu paylanma, molekulyar-kinetik nəzəriyyəyə əsaslanaraq qaz molekullarının sürətlərinin temperatur, təzyiq və qazın növü ilə necə əlaqəli olduğunu göstərir.</a:t>
            </a:r>
            <a:endParaRPr lang="ru-RU" sz="2000" b="1" dirty="0">
              <a:solidFill>
                <a:schemeClr val="bg1"/>
              </a:solidFill>
            </a:endParaRPr>
          </a:p>
        </p:txBody>
      </p:sp>
      <p:pic>
        <p:nvPicPr>
          <p:cNvPr id="4" name="Picture 3"/>
          <p:cNvPicPr>
            <a:picLocks noChangeAspect="1"/>
          </p:cNvPicPr>
          <p:nvPr/>
        </p:nvPicPr>
        <p:blipFill>
          <a:blip r:embed="rId3"/>
          <a:stretch>
            <a:fillRect/>
          </a:stretch>
        </p:blipFill>
        <p:spPr>
          <a:xfrm>
            <a:off x="8198711" y="3154264"/>
            <a:ext cx="3947570" cy="1036736"/>
          </a:xfrm>
          <a:prstGeom prst="rect">
            <a:avLst/>
          </a:prstGeom>
        </p:spPr>
      </p:pic>
      <p:sp>
        <p:nvSpPr>
          <p:cNvPr id="6" name="Rectangle 5"/>
          <p:cNvSpPr/>
          <p:nvPr/>
        </p:nvSpPr>
        <p:spPr>
          <a:xfrm>
            <a:off x="5669280" y="4587360"/>
            <a:ext cx="6096000" cy="1631216"/>
          </a:xfrm>
          <a:prstGeom prst="rect">
            <a:avLst/>
          </a:prstGeom>
        </p:spPr>
        <p:txBody>
          <a:bodyPr>
            <a:spAutoFit/>
          </a:bodyPr>
          <a:lstStyle/>
          <a:p>
            <a:r>
              <a:rPr lang="az-Latn-AZ" sz="2000" b="1" dirty="0">
                <a:solidFill>
                  <a:schemeClr val="bg1"/>
                </a:solidFill>
              </a:rPr>
              <a:t>Q</a:t>
            </a:r>
            <a:r>
              <a:rPr lang="az-Latn-AZ" sz="2000" b="1" dirty="0" smtClean="0">
                <a:solidFill>
                  <a:schemeClr val="bg1"/>
                </a:solidFill>
              </a:rPr>
              <a:t>az molekullarının sürətlərinin təsadüfi olduğunu, lakin bu sürətlərin müəyyən bir temperaturda müəyyən bir paylanmaya uyğun olduğunu bildirir. Bu paylanma, molekulların sürətinin orta dəyəri və temperaturu ilə əlaqədar olan statistik məlumatları təqdim edir.</a:t>
            </a:r>
            <a:endParaRPr lang="ru-RU" sz="2000" b="1" dirty="0">
              <a:solidFill>
                <a:schemeClr val="bg1"/>
              </a:solidFill>
            </a:endParaRPr>
          </a:p>
        </p:txBody>
      </p:sp>
    </p:spTree>
    <p:extLst>
      <p:ext uri="{BB962C8B-B14F-4D97-AF65-F5344CB8AC3E}">
        <p14:creationId xmlns:p14="http://schemas.microsoft.com/office/powerpoint/2010/main" val="926044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760720" cy="1325563"/>
          </a:xfrm>
        </p:spPr>
        <p:txBody>
          <a:bodyPr/>
          <a:lstStyle/>
          <a:p>
            <a:r>
              <a:rPr lang="az-Latn-AZ" b="1" dirty="0" smtClean="0">
                <a:solidFill>
                  <a:schemeClr val="bg1"/>
                </a:solidFill>
                <a:latin typeface="+mn-lt"/>
              </a:rPr>
              <a:t>BOLSMAN PAYLANMASI</a:t>
            </a:r>
            <a:endParaRPr lang="ru-RU" b="1" dirty="0">
              <a:solidFill>
                <a:schemeClr val="bg1"/>
              </a:solidFill>
              <a:latin typeface="+mn-lt"/>
            </a:endParaRPr>
          </a:p>
        </p:txBody>
      </p:sp>
      <p:pic>
        <p:nvPicPr>
          <p:cNvPr id="6148" name="Picture 4" descr="Toqquşma nəzəriyyəsi və Maksvel-Boltzman paylanması"/>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953"/>
            <a:ext cx="7647305" cy="430161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092440" y="662781"/>
            <a:ext cx="3642360" cy="5909310"/>
          </a:xfrm>
          <a:prstGeom prst="rect">
            <a:avLst/>
          </a:prstGeom>
        </p:spPr>
        <p:txBody>
          <a:bodyPr wrap="square">
            <a:spAutoFit/>
          </a:bodyPr>
          <a:lstStyle/>
          <a:p>
            <a:r>
              <a:rPr lang="az-Latn-AZ" b="1" dirty="0">
                <a:solidFill>
                  <a:schemeClr val="bg1"/>
                </a:solidFill>
              </a:rPr>
              <a:t>S</a:t>
            </a:r>
            <a:r>
              <a:rPr lang="az-Latn-AZ" b="1" dirty="0" smtClean="0">
                <a:solidFill>
                  <a:schemeClr val="bg1"/>
                </a:solidFill>
              </a:rPr>
              <a:t>tatistik fizikanın əsas prinsiplərindən biri olub, makroskopik sistemlərin mikroskopik vəziyyətlərinin ehtimallarını təsvir etmək üçün istifadə olunur. Bu paylanma, bir sistemin müxtəlif mikroskopik vəziyyətlərində enerji səviyyələrinin və bu vəziyyətlərin həddindən artıq çox olduğu zaman onların ehtimallarını təyin edir.</a:t>
            </a:r>
          </a:p>
          <a:p>
            <a:r>
              <a:rPr lang="az-Latn-AZ" b="1" dirty="0" smtClean="0">
                <a:solidFill>
                  <a:schemeClr val="bg1"/>
                </a:solidFill>
              </a:rPr>
              <a:t>Boltzmann paylanması, xüsusən qazların, mayelərin və digər termodinamik sistemlərin mikro vəziyyətləri ilə əlaqəli olan ehtimal paylanmalarını təhlil etməkdə geniş istifadə olunur. Bu paylanma, ümumiyyətlə, bir sistemin enerji səviyyəsinin paylanmasını və ya termodinamik dəyişiklikləri izah edən nəzəriyyədir.</a:t>
            </a:r>
            <a:endParaRPr lang="az-Latn-AZ" b="1" dirty="0">
              <a:solidFill>
                <a:schemeClr val="bg1"/>
              </a:solidFill>
            </a:endParaRPr>
          </a:p>
        </p:txBody>
      </p:sp>
    </p:spTree>
    <p:extLst>
      <p:ext uri="{BB962C8B-B14F-4D97-AF65-F5344CB8AC3E}">
        <p14:creationId xmlns:p14="http://schemas.microsoft.com/office/powerpoint/2010/main" val="4045733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HAPTER IV THEORETICAL AND MATHEMATICAL PHYSICS, HIGH ENERGY PHYSICS,  ASTRO-PARTICLE PHYSICS AND 'ECO-SCIEN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4" y="212950"/>
            <a:ext cx="6222188" cy="305276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KVANT ELEKTRONİKASININ ƏSASLAR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6545" y="666295"/>
            <a:ext cx="3618141" cy="4081128"/>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ÜMUMİ FİZİKA KUR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66667" y="3520622"/>
            <a:ext cx="3641313" cy="3184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455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2886" y="118382"/>
            <a:ext cx="7754257" cy="1325563"/>
          </a:xfrm>
        </p:spPr>
        <p:txBody>
          <a:bodyPr/>
          <a:lstStyle/>
          <a:p>
            <a:r>
              <a:rPr lang="az-Latn-AZ" b="1" dirty="0" smtClean="0">
                <a:solidFill>
                  <a:schemeClr val="bg1"/>
                </a:solidFill>
                <a:latin typeface="+mn-lt"/>
              </a:rPr>
              <a:t>TERMODİNAMİKANIN ƏSASLARI</a:t>
            </a:r>
            <a:endParaRPr lang="ru-RU" b="1" dirty="0">
              <a:solidFill>
                <a:schemeClr val="bg1"/>
              </a:solidFill>
              <a:latin typeface="+mn-lt"/>
            </a:endParaRPr>
          </a:p>
        </p:txBody>
      </p:sp>
      <p:pic>
        <p:nvPicPr>
          <p:cNvPr id="8194" name="Picture 2" descr="Termodinamika və 3 qanun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5230" y="1320800"/>
            <a:ext cx="5069567" cy="38021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24316" y="1320800"/>
            <a:ext cx="2960914" cy="4708981"/>
          </a:xfrm>
          <a:prstGeom prst="rect">
            <a:avLst/>
          </a:prstGeom>
        </p:spPr>
        <p:txBody>
          <a:bodyPr wrap="square">
            <a:spAutoFit/>
          </a:bodyPr>
          <a:lstStyle/>
          <a:p>
            <a:r>
              <a:rPr lang="az-Latn-AZ" sz="2000" b="1" dirty="0" smtClean="0">
                <a:solidFill>
                  <a:schemeClr val="bg1"/>
                </a:solidFill>
              </a:rPr>
              <a:t>Termodinamika</a:t>
            </a:r>
            <a:r>
              <a:rPr lang="az-Latn-AZ" sz="2000" dirty="0" smtClean="0">
                <a:solidFill>
                  <a:schemeClr val="bg1"/>
                </a:solidFill>
              </a:rPr>
              <a:t>, enerji və onun maddə ilə qarşılıqlı əlaqələrini öyrənən fizika sahəsidir. Bu elm sahəsi, enerjinin ötürülməsi, çevrilməsi və maddənin makroskopik xüsusiyyətlərinin necə dəyişdiyini təhlil edir. Termodinamikanın əsasları bir neçə fundamental qanuna əsaslanır və bu qanunlar sistemlərin ümumi davranışını izah edir.</a:t>
            </a:r>
            <a:endParaRPr lang="ru-RU" sz="2000" dirty="0">
              <a:solidFill>
                <a:schemeClr val="bg1"/>
              </a:solidFill>
            </a:endParaRPr>
          </a:p>
        </p:txBody>
      </p:sp>
      <p:sp>
        <p:nvSpPr>
          <p:cNvPr id="4" name="Rectangle 3"/>
          <p:cNvSpPr/>
          <p:nvPr/>
        </p:nvSpPr>
        <p:spPr>
          <a:xfrm>
            <a:off x="8577943" y="1225689"/>
            <a:ext cx="3454400" cy="5632311"/>
          </a:xfrm>
          <a:prstGeom prst="rect">
            <a:avLst/>
          </a:prstGeom>
        </p:spPr>
        <p:txBody>
          <a:bodyPr wrap="square">
            <a:spAutoFit/>
          </a:bodyPr>
          <a:lstStyle/>
          <a:p>
            <a:r>
              <a:rPr lang="az-Latn-AZ" sz="2000" dirty="0" smtClean="0">
                <a:solidFill>
                  <a:schemeClr val="bg1"/>
                </a:solidFill>
              </a:rPr>
              <a:t>Termodinamikanın əsas qanunları enerjinin və maddənin davranışını anlamaqda mühüm rol oynayır. Bu qanunlar, makroskopik sistemlərin istilik və enerji mübadiləsini təhlil etməyə imkan verir. İkinci qanun xüsusilə mühümdür, çünki o, təbii proseslərin istiqamətini və mümkünsüz prosesləri müəyyən edir. Termodinamikanın prinsipləri, bir çox sahələrdə (enerji, mühəndislik, kimya, biologiya və s.) tətbiq edilir və gündəlik həyatımızda mühüm rol oynayır</a:t>
            </a:r>
            <a:r>
              <a:rPr lang="az-Latn-AZ" dirty="0" smtClean="0"/>
              <a:t>.</a:t>
            </a:r>
            <a:endParaRPr lang="ru-RU" dirty="0"/>
          </a:p>
        </p:txBody>
      </p:sp>
    </p:spTree>
    <p:extLst>
      <p:ext uri="{BB962C8B-B14F-4D97-AF65-F5344CB8AC3E}">
        <p14:creationId xmlns:p14="http://schemas.microsoft.com/office/powerpoint/2010/main" val="609337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512" y="170042"/>
            <a:ext cx="3791857" cy="1325563"/>
          </a:xfrm>
        </p:spPr>
        <p:txBody>
          <a:bodyPr>
            <a:normAutofit/>
          </a:bodyPr>
          <a:lstStyle/>
          <a:p>
            <a:r>
              <a:rPr lang="az-Latn-AZ" sz="4800" b="1" dirty="0" smtClean="0">
                <a:solidFill>
                  <a:schemeClr val="bg1"/>
                </a:solidFill>
                <a:latin typeface="+mn-lt"/>
              </a:rPr>
              <a:t>DAXİLİ ENERJİ</a:t>
            </a:r>
            <a:endParaRPr lang="ru-RU" sz="4800" b="1" dirty="0">
              <a:solidFill>
                <a:schemeClr val="bg1"/>
              </a:solidFill>
              <a:latin typeface="+mn-lt"/>
            </a:endParaRPr>
          </a:p>
        </p:txBody>
      </p:sp>
      <p:pic>
        <p:nvPicPr>
          <p:cNvPr id="9218" name="Picture 2" descr="Fizika -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4459" y="1036320"/>
            <a:ext cx="7957541" cy="48006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69025" y="1495605"/>
            <a:ext cx="3422832" cy="4893647"/>
          </a:xfrm>
          <a:prstGeom prst="rect">
            <a:avLst/>
          </a:prstGeom>
        </p:spPr>
        <p:txBody>
          <a:bodyPr wrap="square">
            <a:spAutoFit/>
          </a:bodyPr>
          <a:lstStyle/>
          <a:p>
            <a:r>
              <a:rPr lang="az-Latn-AZ" sz="2400" b="1" dirty="0" smtClean="0">
                <a:solidFill>
                  <a:schemeClr val="bg1"/>
                </a:solidFill>
              </a:rPr>
              <a:t>Bu enerji, həm kinetik, həm də potensial enerjilərdən ibarət ola bilər. Daxili enerji, termodinamikanın əsas anlayışlarından biridir və sistemin vəziyyətini təyin edən mühüm parametrlərdən biridir. Daxili enerji, əsasən sistemin temperaturu, təzyiqi, həcmi və maddə tərkibi ilə əlaqəlidir.</a:t>
            </a:r>
            <a:endParaRPr lang="ru-RU" sz="2400" b="1" dirty="0">
              <a:solidFill>
                <a:schemeClr val="bg1"/>
              </a:solidFill>
            </a:endParaRPr>
          </a:p>
        </p:txBody>
      </p:sp>
    </p:spTree>
    <p:extLst>
      <p:ext uri="{BB962C8B-B14F-4D97-AF65-F5344CB8AC3E}">
        <p14:creationId xmlns:p14="http://schemas.microsoft.com/office/powerpoint/2010/main" val="2011407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8382"/>
            <a:ext cx="5838371" cy="1325563"/>
          </a:xfrm>
        </p:spPr>
        <p:txBody>
          <a:bodyPr/>
          <a:lstStyle/>
          <a:p>
            <a:r>
              <a:rPr lang="az-Latn-AZ" b="1" dirty="0" smtClean="0">
                <a:solidFill>
                  <a:schemeClr val="bg1"/>
                </a:solidFill>
                <a:latin typeface="+mn-lt"/>
              </a:rPr>
              <a:t>TERMODİNAMİKADA İŞ</a:t>
            </a:r>
            <a:endParaRPr lang="ru-RU" b="1" dirty="0">
              <a:solidFill>
                <a:schemeClr val="bg1"/>
              </a:solidFill>
              <a:latin typeface="+mn-lt"/>
            </a:endParaRPr>
          </a:p>
        </p:txBody>
      </p:sp>
      <p:pic>
        <p:nvPicPr>
          <p:cNvPr id="10242" name="Picture 2" descr="Fizika -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172" y="1289957"/>
            <a:ext cx="6717801" cy="290467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271671" y="1211051"/>
            <a:ext cx="4760687" cy="3785652"/>
          </a:xfrm>
          <a:prstGeom prst="rect">
            <a:avLst/>
          </a:prstGeom>
        </p:spPr>
        <p:txBody>
          <a:bodyPr wrap="square">
            <a:spAutoFit/>
          </a:bodyPr>
          <a:lstStyle/>
          <a:p>
            <a:r>
              <a:rPr lang="az-Latn-AZ" sz="2000" dirty="0" smtClean="0">
                <a:solidFill>
                  <a:schemeClr val="bg1"/>
                </a:solidFill>
              </a:rPr>
              <a:t>Termodinamikanın iş anlayışı, bir sistemin enerjisinin çevrilməsi və ya ötürülməsi prosesində mühüm rol oynayır. İş (iş görmə), bir sistemin xarici bir təsirə qarşı tətbiq etdiyi və ya sistemin etdiyi enerjinin başqa bir formaya çevrilməsidir. İş, bir sistemin termodinamik vəziyyətinin dəyişməsinə, xüsusilə həcminin dəyişməsinə səbəb olur. Termodinamikada iş, ümumiyyətlə, bir sistemin xarici cisimlərlə qarşılıqlı təsiri nəticəsində sistemə və ya sistemdən enerjinin ötürülməsi kimi qəbul edilir</a:t>
            </a:r>
            <a:r>
              <a:rPr lang="az-Latn-AZ" sz="2000" dirty="0" smtClean="0"/>
              <a:t>.</a:t>
            </a:r>
            <a:endParaRPr lang="ru-RU" sz="2000" dirty="0"/>
          </a:p>
        </p:txBody>
      </p:sp>
      <p:pic>
        <p:nvPicPr>
          <p:cNvPr id="4" name="Picture 3"/>
          <p:cNvPicPr>
            <a:picLocks noChangeAspect="1"/>
          </p:cNvPicPr>
          <p:nvPr/>
        </p:nvPicPr>
        <p:blipFill>
          <a:blip r:embed="rId3"/>
          <a:stretch>
            <a:fillRect/>
          </a:stretch>
        </p:blipFill>
        <p:spPr>
          <a:xfrm>
            <a:off x="174172" y="4858204"/>
            <a:ext cx="3205495" cy="1420156"/>
          </a:xfrm>
          <a:prstGeom prst="rect">
            <a:avLst/>
          </a:prstGeom>
        </p:spPr>
      </p:pic>
      <p:sp>
        <p:nvSpPr>
          <p:cNvPr id="5" name="Rectangle 5"/>
          <p:cNvSpPr>
            <a:spLocks noChangeArrowheads="1"/>
          </p:cNvSpPr>
          <p:nvPr/>
        </p:nvSpPr>
        <p:spPr bwMode="auto">
          <a:xfrm>
            <a:off x="3565743" y="4996703"/>
            <a:ext cx="525821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bg1"/>
                </a:solidFill>
                <a:effectLst/>
                <a:latin typeface="Arial" panose="020B0604020202020204" pitchFamily="34" charset="0"/>
              </a:rPr>
              <a:t>W — sistemin gördüyü iş.</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bg1"/>
                </a:solidFill>
                <a:effectLst/>
                <a:latin typeface="Arial" panose="020B0604020202020204" pitchFamily="34" charset="0"/>
              </a:rPr>
              <a:t>PPP — sistemin təzyiqi.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bg1"/>
                </a:solidFill>
                <a:effectLst/>
                <a:latin typeface="Arial" panose="020B0604020202020204" pitchFamily="34" charset="0"/>
              </a:rPr>
              <a:t>dVdVdV — sistemin həcminin dəyişikliyi.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bg1"/>
                </a:solidFill>
                <a:effectLst/>
                <a:latin typeface="Arial" panose="020B0604020202020204" pitchFamily="34" charset="0"/>
              </a:rPr>
              <a:t>V1V_1V1​ və V2V_2V2​ — sistemin başlanğıc və sonrakı həcmləri. </a:t>
            </a:r>
          </a:p>
        </p:txBody>
      </p:sp>
    </p:spTree>
    <p:extLst>
      <p:ext uri="{BB962C8B-B14F-4D97-AF65-F5344CB8AC3E}">
        <p14:creationId xmlns:p14="http://schemas.microsoft.com/office/powerpoint/2010/main" val="47579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743" y="0"/>
            <a:ext cx="10515600" cy="1325563"/>
          </a:xfrm>
        </p:spPr>
        <p:txBody>
          <a:bodyPr/>
          <a:lstStyle/>
          <a:p>
            <a:r>
              <a:rPr lang="az-Latn-AZ" b="1" dirty="0" smtClean="0">
                <a:solidFill>
                  <a:schemeClr val="bg1"/>
                </a:solidFill>
                <a:latin typeface="+mn-lt"/>
              </a:rPr>
              <a:t>TERMODİNAMİKANIN 1-Cİ QANUNU</a:t>
            </a:r>
            <a:endParaRPr lang="ru-RU" b="1" dirty="0">
              <a:solidFill>
                <a:schemeClr val="bg1"/>
              </a:solidFill>
              <a:latin typeface="+mn-lt"/>
            </a:endParaRPr>
          </a:p>
        </p:txBody>
      </p:sp>
      <p:pic>
        <p:nvPicPr>
          <p:cNvPr id="11266" name="Picture 2" descr="Video.edu.az"/>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41856" r="7203" b="25753"/>
          <a:stretch/>
        </p:blipFill>
        <p:spPr bwMode="auto">
          <a:xfrm>
            <a:off x="290285" y="1494973"/>
            <a:ext cx="6357258" cy="124822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930572" y="1325563"/>
            <a:ext cx="4974771" cy="3170099"/>
          </a:xfrm>
          <a:prstGeom prst="rect">
            <a:avLst/>
          </a:prstGeom>
        </p:spPr>
        <p:txBody>
          <a:bodyPr wrap="square">
            <a:spAutoFit/>
          </a:bodyPr>
          <a:lstStyle/>
          <a:p>
            <a:r>
              <a:rPr lang="az-Latn-AZ" sz="2000" b="1" dirty="0" smtClean="0">
                <a:solidFill>
                  <a:schemeClr val="bg1"/>
                </a:solidFill>
              </a:rPr>
              <a:t>Termodinamikanın birinci qanunu, enerjinin qorunması prinsipinə əsaslanır və enerjinin müxtəlif formalarının bir-birinə çevrilməsini izah edir. Bu qanun, bir sistemdə enerji dəyişmələrinin istilik (istilik mübadiləsi) və iş (mexaniki iş) ilə necə baş verdiyini açıqlayır. Termodinamikanın birinci qanunu enerjinin sistemdə qorunduğunu bildirir, yəni enerji məhv edilə və ya yaradılmaya bilməz, ancaq bir formadan digərinə çevrilə bilər.</a:t>
            </a:r>
            <a:endParaRPr lang="ru-RU" sz="2000" b="1" dirty="0">
              <a:solidFill>
                <a:schemeClr val="bg1"/>
              </a:solidFill>
            </a:endParaRPr>
          </a:p>
        </p:txBody>
      </p:sp>
      <p:sp>
        <p:nvSpPr>
          <p:cNvPr id="4" name="Rectangle 3"/>
          <p:cNvSpPr>
            <a:spLocks noChangeArrowheads="1"/>
          </p:cNvSpPr>
          <p:nvPr/>
        </p:nvSpPr>
        <p:spPr bwMode="auto">
          <a:xfrm>
            <a:off x="471351" y="4671467"/>
            <a:ext cx="617619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bg1"/>
                </a:solidFill>
                <a:effectLst/>
                <a:latin typeface="Arial" panose="020B0604020202020204" pitchFamily="34" charset="0"/>
              </a:rPr>
              <a:t>ΔU — sistemin daxili enerjisindəki dəyişiklik.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bg1"/>
                </a:solidFill>
                <a:effectLst/>
                <a:latin typeface="Arial" panose="020B0604020202020204" pitchFamily="34" charset="0"/>
              </a:rPr>
              <a:t>QQQ — sisteme verilən istilik (istilik mübadiləsi ilə sistemə daxil olan enerji).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bg1"/>
                </a:solidFill>
                <a:effectLst/>
                <a:latin typeface="Arial" panose="020B0604020202020204" pitchFamily="34" charset="0"/>
              </a:rPr>
              <a:t>WWW — sistem tərəfindən görülən iş (xarici qüvvə qarşısında iş görmək üçün sərf olunan enerji). </a:t>
            </a:r>
          </a:p>
        </p:txBody>
      </p:sp>
      <p:sp>
        <p:nvSpPr>
          <p:cNvPr id="6" name="Down Arrow 5"/>
          <p:cNvSpPr/>
          <p:nvPr/>
        </p:nvSpPr>
        <p:spPr>
          <a:xfrm>
            <a:off x="3048181" y="2910612"/>
            <a:ext cx="841465" cy="158505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333524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0"/>
            <a:ext cx="10515600" cy="1325563"/>
          </a:xfrm>
        </p:spPr>
        <p:txBody>
          <a:bodyPr/>
          <a:lstStyle/>
          <a:p>
            <a:r>
              <a:rPr lang="az-Latn-AZ" b="1" dirty="0" smtClean="0">
                <a:solidFill>
                  <a:schemeClr val="bg1"/>
                </a:solidFill>
                <a:latin typeface="+mn-lt"/>
              </a:rPr>
              <a:t>İDEAL QAZIN İSTİLİK TUTUMLARI</a:t>
            </a:r>
            <a:endParaRPr lang="ru-RU" b="1" dirty="0">
              <a:solidFill>
                <a:schemeClr val="bg1"/>
              </a:solidFill>
              <a:latin typeface="+mn-lt"/>
            </a:endParaRPr>
          </a:p>
        </p:txBody>
      </p:sp>
      <p:sp>
        <p:nvSpPr>
          <p:cNvPr id="3" name="Rectangle 2"/>
          <p:cNvSpPr/>
          <p:nvPr/>
        </p:nvSpPr>
        <p:spPr>
          <a:xfrm>
            <a:off x="200297" y="1178510"/>
            <a:ext cx="5118463" cy="5262979"/>
          </a:xfrm>
          <a:prstGeom prst="rect">
            <a:avLst/>
          </a:prstGeom>
        </p:spPr>
        <p:txBody>
          <a:bodyPr wrap="square">
            <a:spAutoFit/>
          </a:bodyPr>
          <a:lstStyle/>
          <a:p>
            <a:r>
              <a:rPr lang="az-Latn-AZ" sz="2400" b="1" dirty="0" smtClean="0">
                <a:solidFill>
                  <a:schemeClr val="bg1"/>
                </a:solidFill>
              </a:rPr>
              <a:t>İdeal qazın istilik tutumu müxtəlif hallarda fərqli ola bilər, çünki bu, qazın necə dəyişdiyini (məsələn, sabit təzyiqdə, sabit həcmdə və s.) müəyyən edir. İdeal qaz üçün istilik tutumları əsasən iki növdə verilir:</a:t>
            </a:r>
          </a:p>
          <a:p>
            <a:pPr>
              <a:buFont typeface="+mj-lt"/>
              <a:buAutoNum type="arabicPeriod"/>
            </a:pPr>
            <a:r>
              <a:rPr lang="az-Latn-AZ" sz="2400" b="1" dirty="0" smtClean="0">
                <a:solidFill>
                  <a:schemeClr val="bg1"/>
                </a:solidFill>
              </a:rPr>
              <a:t>Sabit Həcmdə İstilik Tutumu: Bu, sistemin həcmi sabit qalarkən, temperaturun dəyişməsi üçün lazım olan istilik miqdarını ifadə edir.</a:t>
            </a:r>
          </a:p>
          <a:p>
            <a:pPr>
              <a:buFont typeface="+mj-lt"/>
              <a:buAutoNum type="arabicPeriod"/>
            </a:pPr>
            <a:r>
              <a:rPr lang="az-Latn-AZ" sz="2400" b="1" dirty="0" smtClean="0">
                <a:solidFill>
                  <a:schemeClr val="bg1"/>
                </a:solidFill>
              </a:rPr>
              <a:t>Sabit Təzyiqdə İstilik Tutumu: Bu, sistemin təzyiqi sabit qalarkən, temperaturun dəyişməsi üçün lazım olan istilik miqdarını ifadə edir</a:t>
            </a:r>
            <a:r>
              <a:rPr lang="az-Latn-AZ" b="1" dirty="0" smtClean="0">
                <a:solidFill>
                  <a:schemeClr val="bg1"/>
                </a:solidFill>
              </a:rPr>
              <a:t>.</a:t>
            </a:r>
            <a:endParaRPr lang="az-Latn-AZ" b="1" dirty="0">
              <a:solidFill>
                <a:schemeClr val="bg1"/>
              </a:solidFill>
            </a:endParaRPr>
          </a:p>
        </p:txBody>
      </p:sp>
      <p:sp>
        <p:nvSpPr>
          <p:cNvPr id="5" name="Rectangle 4"/>
          <p:cNvSpPr/>
          <p:nvPr/>
        </p:nvSpPr>
        <p:spPr>
          <a:xfrm>
            <a:off x="6357257" y="1214067"/>
            <a:ext cx="5712823" cy="1200329"/>
          </a:xfrm>
          <a:prstGeom prst="rect">
            <a:avLst/>
          </a:prstGeom>
        </p:spPr>
        <p:txBody>
          <a:bodyPr wrap="square">
            <a:spAutoFit/>
          </a:bodyPr>
          <a:lstStyle/>
          <a:p>
            <a:r>
              <a:rPr lang="az-Latn-AZ" b="1" dirty="0" smtClean="0">
                <a:solidFill>
                  <a:schemeClr val="bg1"/>
                </a:solidFill>
              </a:rPr>
              <a:t>Sabit Həcmdə İstilik Tutumu: Sabit həcmdə ideal qazın istilik tutumu, qazın daxili enerjisinin temperaturla necə dəyişdiyini göstərir. Sabit həcmdə istilik tutumu aşağıdakı kimi ifadə olunur:</a:t>
            </a:r>
            <a:endParaRPr lang="ru-RU" b="1" dirty="0">
              <a:solidFill>
                <a:schemeClr val="bg1"/>
              </a:solidFill>
            </a:endParaRPr>
          </a:p>
        </p:txBody>
      </p:sp>
      <p:pic>
        <p:nvPicPr>
          <p:cNvPr id="6" name="Picture 5"/>
          <p:cNvPicPr>
            <a:picLocks noChangeAspect="1"/>
          </p:cNvPicPr>
          <p:nvPr/>
        </p:nvPicPr>
        <p:blipFill>
          <a:blip r:embed="rId2"/>
          <a:stretch>
            <a:fillRect/>
          </a:stretch>
        </p:blipFill>
        <p:spPr>
          <a:xfrm>
            <a:off x="8155577" y="2414396"/>
            <a:ext cx="3456806" cy="1395604"/>
          </a:xfrm>
          <a:prstGeom prst="rect">
            <a:avLst/>
          </a:prstGeom>
        </p:spPr>
      </p:pic>
      <p:sp>
        <p:nvSpPr>
          <p:cNvPr id="7" name="Rectangle 6"/>
          <p:cNvSpPr/>
          <p:nvPr/>
        </p:nvSpPr>
        <p:spPr>
          <a:xfrm>
            <a:off x="6096000" y="3937232"/>
            <a:ext cx="6096000" cy="1200329"/>
          </a:xfrm>
          <a:prstGeom prst="rect">
            <a:avLst/>
          </a:prstGeom>
        </p:spPr>
        <p:txBody>
          <a:bodyPr>
            <a:spAutoFit/>
          </a:bodyPr>
          <a:lstStyle/>
          <a:p>
            <a:r>
              <a:rPr lang="az-Latn-AZ" b="1" dirty="0" smtClean="0">
                <a:solidFill>
                  <a:schemeClr val="bg1"/>
                </a:solidFill>
              </a:rPr>
              <a:t>Sabit Təzyiqdə İstilik Tutumu: Sabit təzyiqdə ideal qazın istilik tutumu, qazın entalpiyasının temperaturla necə dəyişdiyini göstərir. Sabit təzyiqdə istilik tutumu aşağıdakı kimi ifadə olunur:</a:t>
            </a:r>
            <a:endParaRPr lang="ru-RU" b="1" dirty="0">
              <a:solidFill>
                <a:schemeClr val="bg1"/>
              </a:solidFill>
            </a:endParaRPr>
          </a:p>
        </p:txBody>
      </p:sp>
      <p:pic>
        <p:nvPicPr>
          <p:cNvPr id="8" name="Picture 7"/>
          <p:cNvPicPr>
            <a:picLocks noChangeAspect="1"/>
          </p:cNvPicPr>
          <p:nvPr/>
        </p:nvPicPr>
        <p:blipFill>
          <a:blip r:embed="rId3"/>
          <a:stretch>
            <a:fillRect/>
          </a:stretch>
        </p:blipFill>
        <p:spPr>
          <a:xfrm>
            <a:off x="8459949" y="5026065"/>
            <a:ext cx="3490701" cy="1511895"/>
          </a:xfrm>
          <a:prstGeom prst="rect">
            <a:avLst/>
          </a:prstGeom>
        </p:spPr>
      </p:pic>
    </p:spTree>
    <p:extLst>
      <p:ext uri="{BB962C8B-B14F-4D97-AF65-F5344CB8AC3E}">
        <p14:creationId xmlns:p14="http://schemas.microsoft.com/office/powerpoint/2010/main" val="3190953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72640" y="151765"/>
            <a:ext cx="8427720" cy="1325563"/>
          </a:xfrm>
        </p:spPr>
        <p:txBody>
          <a:bodyPr>
            <a:normAutofit fontScale="90000"/>
          </a:bodyPr>
          <a:lstStyle/>
          <a:p>
            <a:r>
              <a:rPr lang="az-Latn-AZ" b="1" dirty="0" smtClean="0">
                <a:solidFill>
                  <a:schemeClr val="bg1"/>
                </a:solidFill>
                <a:latin typeface="+mn-lt"/>
              </a:rPr>
              <a:t>TERMODİNAMİKANIN 1Cİ QANUNUNUN PROSESLƏRƏ TƏTBİQİ</a:t>
            </a:r>
            <a:endParaRPr lang="ru-RU" b="1" dirty="0">
              <a:solidFill>
                <a:schemeClr val="bg1"/>
              </a:solidFill>
              <a:latin typeface="+mn-lt"/>
            </a:endParaRPr>
          </a:p>
        </p:txBody>
      </p:sp>
      <p:sp>
        <p:nvSpPr>
          <p:cNvPr id="4" name="Title 1"/>
          <p:cNvSpPr txBox="1">
            <a:spLocks/>
          </p:cNvSpPr>
          <p:nvPr/>
        </p:nvSpPr>
        <p:spPr>
          <a:xfrm>
            <a:off x="152400" y="1957705"/>
            <a:ext cx="4724400" cy="3033395"/>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az-Latn-AZ" b="1" dirty="0" smtClean="0">
                <a:solidFill>
                  <a:schemeClr val="bg1"/>
                </a:solidFill>
              </a:rPr>
              <a:t/>
            </a:r>
            <a:br>
              <a:rPr lang="az-Latn-AZ" b="1" dirty="0" smtClean="0">
                <a:solidFill>
                  <a:schemeClr val="bg1"/>
                </a:solidFill>
              </a:rPr>
            </a:br>
            <a:r>
              <a:rPr lang="az-Latn-AZ" b="1" dirty="0" smtClean="0">
                <a:solidFill>
                  <a:schemeClr val="bg1"/>
                </a:solidFill>
              </a:rPr>
              <a:t/>
            </a:r>
            <a:br>
              <a:rPr lang="az-Latn-AZ" b="1" dirty="0" smtClean="0">
                <a:solidFill>
                  <a:schemeClr val="bg1"/>
                </a:solidFill>
              </a:rPr>
            </a:br>
            <a:r>
              <a:rPr lang="az-Latn-AZ" b="1" dirty="0" smtClean="0">
                <a:solidFill>
                  <a:schemeClr val="bg1"/>
                </a:solidFill>
              </a:rPr>
              <a:t/>
            </a:r>
            <a:br>
              <a:rPr lang="az-Latn-AZ" b="1" dirty="0" smtClean="0">
                <a:solidFill>
                  <a:schemeClr val="bg1"/>
                </a:solidFill>
              </a:rPr>
            </a:br>
            <a:r>
              <a:rPr lang="az-Latn-AZ" b="1" dirty="0" smtClean="0">
                <a:solidFill>
                  <a:schemeClr val="bg1"/>
                </a:solidFill>
              </a:rPr>
              <a:t/>
            </a:r>
            <a:br>
              <a:rPr lang="az-Latn-AZ" b="1" dirty="0" smtClean="0">
                <a:solidFill>
                  <a:schemeClr val="bg1"/>
                </a:solidFill>
              </a:rPr>
            </a:br>
            <a:r>
              <a:rPr lang="az-Latn-AZ" b="1" dirty="0" smtClean="0">
                <a:solidFill>
                  <a:schemeClr val="bg1"/>
                </a:solidFill>
              </a:rPr>
              <a:t/>
            </a:r>
            <a:br>
              <a:rPr lang="az-Latn-AZ" b="1" dirty="0" smtClean="0">
                <a:solidFill>
                  <a:schemeClr val="bg1"/>
                </a:solidFill>
              </a:rPr>
            </a:br>
            <a:r>
              <a:rPr lang="az-Latn-AZ" b="1" dirty="0" smtClean="0">
                <a:solidFill>
                  <a:schemeClr val="bg1"/>
                </a:solidFill>
              </a:rPr>
              <a:t/>
            </a:r>
            <a:br>
              <a:rPr lang="az-Latn-AZ" b="1" dirty="0" smtClean="0">
                <a:solidFill>
                  <a:schemeClr val="bg1"/>
                </a:solidFill>
              </a:rPr>
            </a:br>
            <a:r>
              <a:rPr lang="az-Latn-AZ" b="1" dirty="0" smtClean="0">
                <a:solidFill>
                  <a:schemeClr val="bg1"/>
                </a:solidFill>
              </a:rPr>
              <a:t/>
            </a:r>
            <a:br>
              <a:rPr lang="az-Latn-AZ" b="1" dirty="0" smtClean="0">
                <a:solidFill>
                  <a:schemeClr val="bg1"/>
                </a:solidFill>
              </a:rPr>
            </a:br>
            <a:r>
              <a:rPr lang="az-Latn-AZ" b="1" dirty="0" smtClean="0">
                <a:solidFill>
                  <a:schemeClr val="bg1"/>
                </a:solidFill>
              </a:rPr>
              <a:t/>
            </a:r>
            <a:br>
              <a:rPr lang="az-Latn-AZ" b="1" dirty="0" smtClean="0">
                <a:solidFill>
                  <a:schemeClr val="bg1"/>
                </a:solidFill>
              </a:rPr>
            </a:br>
            <a:r>
              <a:rPr lang="az-Latn-AZ" b="1" dirty="0" smtClean="0">
                <a:solidFill>
                  <a:schemeClr val="bg1"/>
                </a:solidFill>
              </a:rPr>
              <a:t/>
            </a:r>
            <a:br>
              <a:rPr lang="az-Latn-AZ" b="1" dirty="0" smtClean="0">
                <a:solidFill>
                  <a:schemeClr val="bg1"/>
                </a:solidFill>
              </a:rPr>
            </a:br>
            <a:r>
              <a:rPr lang="az-Latn-AZ" sz="11200" dirty="0" smtClean="0">
                <a:solidFill>
                  <a:schemeClr val="bg1"/>
                </a:solidFill>
              </a:rPr>
              <a:t/>
            </a:r>
            <a:br>
              <a:rPr lang="az-Latn-AZ" sz="11200" dirty="0" smtClean="0">
                <a:solidFill>
                  <a:schemeClr val="bg1"/>
                </a:solidFill>
              </a:rPr>
            </a:br>
            <a:r>
              <a:rPr lang="az-Latn-AZ" sz="12800" b="1" dirty="0" smtClean="0">
                <a:solidFill>
                  <a:schemeClr val="bg1"/>
                </a:solidFill>
              </a:rPr>
              <a:t>Termodinamikanın birinci qanunu, müxtəlif termodinamik proseslərdə enerji mübadiləsini izah edir. Bu qanun, istilik və işin daxili enerji ilə necə əlaqələndiyini göstərir. Hər bir termodinamik prosesdə birinci qanun aşağıdakı şəkildə tətbiq edilir</a:t>
            </a:r>
            <a:br>
              <a:rPr lang="az-Latn-AZ" sz="12800" b="1" dirty="0" smtClean="0">
                <a:solidFill>
                  <a:schemeClr val="bg1"/>
                </a:solidFill>
              </a:rPr>
            </a:br>
            <a:endParaRPr lang="ru-RU" sz="12800" b="1" dirty="0">
              <a:solidFill>
                <a:schemeClr val="bg1"/>
              </a:solidFill>
            </a:endParaRPr>
          </a:p>
        </p:txBody>
      </p:sp>
      <p:pic>
        <p:nvPicPr>
          <p:cNvPr id="5" name="Picture 4"/>
          <p:cNvPicPr>
            <a:picLocks noChangeAspect="1"/>
          </p:cNvPicPr>
          <p:nvPr/>
        </p:nvPicPr>
        <p:blipFill>
          <a:blip r:embed="rId2"/>
          <a:stretch>
            <a:fillRect/>
          </a:stretch>
        </p:blipFill>
        <p:spPr>
          <a:xfrm>
            <a:off x="5309841" y="2667000"/>
            <a:ext cx="6653559" cy="2727960"/>
          </a:xfrm>
          <a:prstGeom prst="rect">
            <a:avLst/>
          </a:prstGeom>
        </p:spPr>
      </p:pic>
    </p:spTree>
    <p:extLst>
      <p:ext uri="{BB962C8B-B14F-4D97-AF65-F5344CB8AC3E}">
        <p14:creationId xmlns:p14="http://schemas.microsoft.com/office/powerpoint/2010/main" val="1980512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7857" y="0"/>
            <a:ext cx="4880429" cy="1325563"/>
          </a:xfrm>
        </p:spPr>
        <p:txBody>
          <a:bodyPr/>
          <a:lstStyle/>
          <a:p>
            <a:r>
              <a:rPr lang="az-Latn-AZ" b="1" dirty="0" smtClean="0">
                <a:solidFill>
                  <a:schemeClr val="bg1"/>
                </a:solidFill>
                <a:latin typeface="+mn-lt"/>
              </a:rPr>
              <a:t>ADİABATİK PROSES</a:t>
            </a:r>
            <a:endParaRPr lang="ru-RU" b="1" dirty="0">
              <a:solidFill>
                <a:schemeClr val="bg1"/>
              </a:solidFill>
              <a:latin typeface="+mn-lt"/>
            </a:endParaRPr>
          </a:p>
        </p:txBody>
      </p:sp>
      <p:pic>
        <p:nvPicPr>
          <p:cNvPr id="13314" name="Picture 2" descr="Konsep Proses Adiabati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43" y="1325563"/>
            <a:ext cx="5678715" cy="49600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535058" y="1325563"/>
            <a:ext cx="4771571" cy="2677656"/>
          </a:xfrm>
          <a:prstGeom prst="rect">
            <a:avLst/>
          </a:prstGeom>
        </p:spPr>
        <p:txBody>
          <a:bodyPr wrap="square">
            <a:spAutoFit/>
          </a:bodyPr>
          <a:lstStyle/>
          <a:p>
            <a:r>
              <a:rPr lang="az-Latn-AZ" sz="2400" b="1" dirty="0" smtClean="0">
                <a:solidFill>
                  <a:schemeClr val="bg1"/>
                </a:solidFill>
              </a:rPr>
              <a:t>İstilik mübadiləsi yoxdur: Adyabatik proseslərdə sistemlə mühit arasında istilik mübadiləsi (Q=0Q = 0Q=0) baş vermir. Bu halda, sistemin temperaturunun dəyişməsi yalnız qazın genişlənməsi və ya sıxılması ilə əlaqəli olur.</a:t>
            </a:r>
            <a:endParaRPr lang="ru-RU" sz="2400" b="1" dirty="0">
              <a:solidFill>
                <a:schemeClr val="bg1"/>
              </a:solidFill>
            </a:endParaRPr>
          </a:p>
        </p:txBody>
      </p:sp>
      <p:sp>
        <p:nvSpPr>
          <p:cNvPr id="4" name="Rectangle 3"/>
          <p:cNvSpPr/>
          <p:nvPr/>
        </p:nvSpPr>
        <p:spPr>
          <a:xfrm>
            <a:off x="6535058" y="3947983"/>
            <a:ext cx="5413102" cy="1569660"/>
          </a:xfrm>
          <a:prstGeom prst="rect">
            <a:avLst/>
          </a:prstGeom>
        </p:spPr>
        <p:txBody>
          <a:bodyPr wrap="square">
            <a:spAutoFit/>
          </a:bodyPr>
          <a:lstStyle/>
          <a:p>
            <a:r>
              <a:rPr lang="az-Latn-AZ" sz="2400" b="1" dirty="0" smtClean="0">
                <a:solidFill>
                  <a:schemeClr val="bg1"/>
                </a:solidFill>
              </a:rPr>
              <a:t>Adyabatik proses sistemin daxilində heç bir istilik mübadiləsinin olmadığı, yalnız iş və daxili enerjinin dəyişməsi ilə nəticələnən bir prosesdir.</a:t>
            </a:r>
            <a:endParaRPr lang="ru-RU" sz="2400" b="1" dirty="0">
              <a:solidFill>
                <a:schemeClr val="bg1"/>
              </a:solidFill>
            </a:endParaRPr>
          </a:p>
        </p:txBody>
      </p:sp>
    </p:spTree>
    <p:extLst>
      <p:ext uri="{BB962C8B-B14F-4D97-AF65-F5344CB8AC3E}">
        <p14:creationId xmlns:p14="http://schemas.microsoft.com/office/powerpoint/2010/main" val="3451298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8382"/>
            <a:ext cx="5272314" cy="1325563"/>
          </a:xfrm>
        </p:spPr>
        <p:txBody>
          <a:bodyPr/>
          <a:lstStyle/>
          <a:p>
            <a:r>
              <a:rPr lang="az-Latn-AZ" b="1" dirty="0" smtClean="0">
                <a:solidFill>
                  <a:schemeClr val="bg1"/>
                </a:solidFill>
                <a:latin typeface="+mn-lt"/>
              </a:rPr>
              <a:t>DAİRƏVİ PROSESLƏR</a:t>
            </a:r>
            <a:endParaRPr lang="ru-RU" b="1" dirty="0">
              <a:solidFill>
                <a:schemeClr val="bg1"/>
              </a:solidFill>
              <a:latin typeface="+mn-lt"/>
            </a:endParaRPr>
          </a:p>
        </p:txBody>
      </p:sp>
      <p:pic>
        <p:nvPicPr>
          <p:cNvPr id="14338" name="Picture 2" descr="Mövzu № 10 - Mühazirəçi: f r. e n., dosent Q. Ü. Ağayev Ədəbiyyat: Ağayev  Q.Ü., Cəfərov M. B. Fizika kursu. Bakı, 20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631" y="1443945"/>
            <a:ext cx="3924231" cy="387213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485945" y="379192"/>
            <a:ext cx="6096000" cy="6001643"/>
          </a:xfrm>
          <a:prstGeom prst="rect">
            <a:avLst/>
          </a:prstGeom>
        </p:spPr>
        <p:txBody>
          <a:bodyPr>
            <a:spAutoFit/>
          </a:bodyPr>
          <a:lstStyle/>
          <a:p>
            <a:r>
              <a:rPr lang="az-Latn-AZ" sz="2400" b="1" dirty="0" smtClean="0">
                <a:solidFill>
                  <a:schemeClr val="bg1"/>
                </a:solidFill>
              </a:rPr>
              <a:t>Termodinamikada sistemin ilkin və son vəziyyətlərinin eyni olduğu proseslərdir. Bu cür proseslərdə, sistemin xüsusiyyətləri, məsələn, temperatur, təzyiq və həcm, müəyyən bir dövrə daxilində dəyişir və sonunda əvvəlki vəziyyətə qayıdır. Dairəvi proseslər bir çox mühərrik və termodinamik dövrələrdə (məsələn, istilik mühərriklərində) tətbiq edilir. Bu proseslərdə işlənən enerji, ümumiyyətlə, istilik və iş mübadiləsi ilə əlaqədardır.</a:t>
            </a:r>
          </a:p>
          <a:p>
            <a:r>
              <a:rPr lang="az-Latn-AZ" sz="2400" b="1" dirty="0" smtClean="0">
                <a:solidFill>
                  <a:schemeClr val="bg1"/>
                </a:solidFill>
              </a:rPr>
              <a:t>Dairəvi proseslərdə sistemin başlanğıc və son vəziyyətləri eyni olduğundan, sistemin ümumi enerji dəyişməsi sıfırdır. Bununla yanaşı, müxtəlif növ dairəvi proseslər müxtəlif istilik tutumları və iş başa çatdırma mexanizmləri ilə əlaqəlidir.</a:t>
            </a:r>
            <a:endParaRPr lang="az-Latn-AZ" sz="2400" b="1" dirty="0">
              <a:solidFill>
                <a:schemeClr val="bg1"/>
              </a:solidFill>
            </a:endParaRPr>
          </a:p>
        </p:txBody>
      </p:sp>
    </p:spTree>
    <p:extLst>
      <p:ext uri="{BB962C8B-B14F-4D97-AF65-F5344CB8AC3E}">
        <p14:creationId xmlns:p14="http://schemas.microsoft.com/office/powerpoint/2010/main" val="630423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1628" y="0"/>
            <a:ext cx="8712200" cy="1216932"/>
          </a:xfrm>
        </p:spPr>
        <p:txBody>
          <a:bodyPr/>
          <a:lstStyle/>
          <a:p>
            <a:r>
              <a:rPr lang="az-Latn-AZ" b="1" dirty="0" smtClean="0">
                <a:solidFill>
                  <a:schemeClr val="bg1"/>
                </a:solidFill>
                <a:latin typeface="+mn-lt"/>
              </a:rPr>
              <a:t>TERMODİNAMİKANIN 2-Cİ QANUNU</a:t>
            </a:r>
            <a:endParaRPr lang="ru-RU" b="1" dirty="0">
              <a:solidFill>
                <a:schemeClr val="bg1"/>
              </a:solidFill>
              <a:latin typeface="+mn-lt"/>
            </a:endParaRPr>
          </a:p>
        </p:txBody>
      </p:sp>
      <p:sp>
        <p:nvSpPr>
          <p:cNvPr id="3" name="Rectangle 2"/>
          <p:cNvSpPr/>
          <p:nvPr/>
        </p:nvSpPr>
        <p:spPr>
          <a:xfrm>
            <a:off x="256964" y="1685799"/>
            <a:ext cx="5612177" cy="400110"/>
          </a:xfrm>
          <a:prstGeom prst="rect">
            <a:avLst/>
          </a:prstGeom>
        </p:spPr>
        <p:txBody>
          <a:bodyPr wrap="none">
            <a:spAutoFit/>
          </a:bodyPr>
          <a:lstStyle/>
          <a:p>
            <a:r>
              <a:rPr lang="az-Latn-AZ" sz="2000" b="1" dirty="0" smtClean="0">
                <a:solidFill>
                  <a:schemeClr val="bg1"/>
                </a:solidFill>
              </a:rPr>
              <a:t>Carnot Dövrəsi və İstilik Mühərriklərinin Effektivliyi</a:t>
            </a:r>
            <a:endParaRPr lang="ru-RU" sz="2000" b="1" dirty="0">
              <a:solidFill>
                <a:schemeClr val="bg1"/>
              </a:solidFill>
            </a:endParaRPr>
          </a:p>
        </p:txBody>
      </p:sp>
      <p:sp>
        <p:nvSpPr>
          <p:cNvPr id="5" name="Rectangle 4"/>
          <p:cNvSpPr/>
          <p:nvPr/>
        </p:nvSpPr>
        <p:spPr>
          <a:xfrm>
            <a:off x="256964" y="1316467"/>
            <a:ext cx="6112379" cy="400110"/>
          </a:xfrm>
          <a:prstGeom prst="rect">
            <a:avLst/>
          </a:prstGeom>
        </p:spPr>
        <p:txBody>
          <a:bodyPr wrap="none">
            <a:spAutoFit/>
          </a:bodyPr>
          <a:lstStyle/>
          <a:p>
            <a:r>
              <a:rPr lang="az-Latn-AZ" sz="2000" b="1" dirty="0" smtClean="0">
                <a:solidFill>
                  <a:schemeClr val="bg1"/>
                </a:solidFill>
              </a:rPr>
              <a:t>Entropiya və İstilik İrəliləməsi (Klausus və Kelvin ifadəsi)</a:t>
            </a:r>
            <a:endParaRPr lang="ru-RU" sz="2000" b="1" dirty="0">
              <a:solidFill>
                <a:schemeClr val="bg1"/>
              </a:solidFill>
            </a:endParaRPr>
          </a:p>
        </p:txBody>
      </p:sp>
      <p:sp>
        <p:nvSpPr>
          <p:cNvPr id="6" name="Rectangle 5"/>
          <p:cNvSpPr/>
          <p:nvPr/>
        </p:nvSpPr>
        <p:spPr>
          <a:xfrm>
            <a:off x="256964" y="2055131"/>
            <a:ext cx="5341206" cy="400110"/>
          </a:xfrm>
          <a:prstGeom prst="rect">
            <a:avLst/>
          </a:prstGeom>
        </p:spPr>
        <p:txBody>
          <a:bodyPr wrap="none">
            <a:spAutoFit/>
          </a:bodyPr>
          <a:lstStyle/>
          <a:p>
            <a:r>
              <a:rPr lang="az-Latn-AZ" sz="2000" b="1" dirty="0" smtClean="0">
                <a:solidFill>
                  <a:schemeClr val="bg1"/>
                </a:solidFill>
              </a:rPr>
              <a:t>İzolyasiya Olunmuş Sistemlərdə Entropiya Artımı</a:t>
            </a:r>
            <a:endParaRPr lang="ru-RU" sz="2000" b="1" dirty="0">
              <a:solidFill>
                <a:schemeClr val="bg1"/>
              </a:solidFill>
            </a:endParaRPr>
          </a:p>
        </p:txBody>
      </p:sp>
      <p:sp>
        <p:nvSpPr>
          <p:cNvPr id="7" name="Rectangle 6"/>
          <p:cNvSpPr/>
          <p:nvPr/>
        </p:nvSpPr>
        <p:spPr>
          <a:xfrm>
            <a:off x="256964" y="2470629"/>
            <a:ext cx="6096000" cy="707886"/>
          </a:xfrm>
          <a:prstGeom prst="rect">
            <a:avLst/>
          </a:prstGeom>
        </p:spPr>
        <p:txBody>
          <a:bodyPr>
            <a:spAutoFit/>
          </a:bodyPr>
          <a:lstStyle/>
          <a:p>
            <a:r>
              <a:rPr lang="az-Latn-AZ" sz="2000" b="1" dirty="0" smtClean="0">
                <a:solidFill>
                  <a:schemeClr val="bg1"/>
                </a:solidFill>
              </a:rPr>
              <a:t>İkinci Qanunun Mikroskopik Təfsiri (Boltzmann və Statistikanın Əsasları)</a:t>
            </a:r>
            <a:endParaRPr lang="ru-RU" sz="2000" b="1" dirty="0">
              <a:solidFill>
                <a:schemeClr val="bg1"/>
              </a:solidFill>
            </a:endParaRPr>
          </a:p>
        </p:txBody>
      </p:sp>
      <p:sp>
        <p:nvSpPr>
          <p:cNvPr id="8" name="Rectangle 7"/>
          <p:cNvSpPr/>
          <p:nvPr/>
        </p:nvSpPr>
        <p:spPr>
          <a:xfrm>
            <a:off x="7168242" y="1316467"/>
            <a:ext cx="4893129" cy="4832092"/>
          </a:xfrm>
          <a:prstGeom prst="rect">
            <a:avLst/>
          </a:prstGeom>
        </p:spPr>
        <p:txBody>
          <a:bodyPr wrap="square">
            <a:spAutoFit/>
          </a:bodyPr>
          <a:lstStyle/>
          <a:p>
            <a:r>
              <a:rPr lang="az-Latn-AZ" sz="2800" b="1" dirty="0" smtClean="0">
                <a:solidFill>
                  <a:schemeClr val="bg1"/>
                </a:solidFill>
              </a:rPr>
              <a:t>Termodinamikanın ikinci qanunu enerjinin çevrilməsi və istilik mübadiləsi ilə bağlı vacib bir prinsipdir. Bu qanun, istilik mühərriklərinin effektivliyini və istilik enerjisinin necə axdığını izah edir. Termodinamikanın ikinci qanunu müxtəlif formalarda ifadə oluna bilər, lakin əsas olaraq iki mühüm təməl prinsip üzərində qurulur:</a:t>
            </a:r>
            <a:endParaRPr lang="ru-RU" sz="2800" b="1" dirty="0">
              <a:solidFill>
                <a:schemeClr val="bg1"/>
              </a:solidFill>
            </a:endParaRPr>
          </a:p>
        </p:txBody>
      </p:sp>
      <p:pic>
        <p:nvPicPr>
          <p:cNvPr id="9" name="Picture 8"/>
          <p:cNvPicPr>
            <a:picLocks noChangeAspect="1"/>
          </p:cNvPicPr>
          <p:nvPr/>
        </p:nvPicPr>
        <p:blipFill>
          <a:blip r:embed="rId2"/>
          <a:stretch>
            <a:fillRect/>
          </a:stretch>
        </p:blipFill>
        <p:spPr>
          <a:xfrm>
            <a:off x="585249" y="3563235"/>
            <a:ext cx="2709638" cy="1536173"/>
          </a:xfrm>
          <a:prstGeom prst="rect">
            <a:avLst/>
          </a:prstGeom>
        </p:spPr>
      </p:pic>
      <p:pic>
        <p:nvPicPr>
          <p:cNvPr id="10" name="Picture 9"/>
          <p:cNvPicPr>
            <a:picLocks noChangeAspect="1"/>
          </p:cNvPicPr>
          <p:nvPr/>
        </p:nvPicPr>
        <p:blipFill>
          <a:blip r:embed="rId3"/>
          <a:stretch>
            <a:fillRect/>
          </a:stretch>
        </p:blipFill>
        <p:spPr>
          <a:xfrm>
            <a:off x="3884523" y="3869055"/>
            <a:ext cx="2884270" cy="1230353"/>
          </a:xfrm>
          <a:prstGeom prst="rect">
            <a:avLst/>
          </a:prstGeom>
        </p:spPr>
      </p:pic>
    </p:spTree>
    <p:extLst>
      <p:ext uri="{BB962C8B-B14F-4D97-AF65-F5344CB8AC3E}">
        <p14:creationId xmlns:p14="http://schemas.microsoft.com/office/powerpoint/2010/main" val="250690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86" y="234496"/>
            <a:ext cx="5577115" cy="1325563"/>
          </a:xfrm>
        </p:spPr>
        <p:txBody>
          <a:bodyPr>
            <a:normAutofit/>
          </a:bodyPr>
          <a:lstStyle/>
          <a:p>
            <a:r>
              <a:rPr lang="az-Latn-AZ" sz="4800" b="1" dirty="0" smtClean="0">
                <a:solidFill>
                  <a:schemeClr val="bg1"/>
                </a:solidFill>
                <a:latin typeface="+mn-lt"/>
              </a:rPr>
              <a:t>İSTİLİK MAŞINLARI</a:t>
            </a:r>
            <a:endParaRPr lang="ru-RU" sz="4800" b="1" dirty="0">
              <a:solidFill>
                <a:schemeClr val="bg1"/>
              </a:solidFill>
              <a:latin typeface="+mn-lt"/>
            </a:endParaRPr>
          </a:p>
        </p:txBody>
      </p:sp>
      <p:pic>
        <p:nvPicPr>
          <p:cNvPr id="15362" name="Picture 2" descr="Fizika -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9601" y="1008516"/>
            <a:ext cx="6259739" cy="470922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2486" y="1560059"/>
            <a:ext cx="5373914" cy="4401205"/>
          </a:xfrm>
          <a:prstGeom prst="rect">
            <a:avLst/>
          </a:prstGeom>
        </p:spPr>
        <p:txBody>
          <a:bodyPr wrap="square">
            <a:spAutoFit/>
          </a:bodyPr>
          <a:lstStyle/>
          <a:p>
            <a:r>
              <a:rPr lang="az-Latn-AZ" sz="2000" b="1" dirty="0" smtClean="0">
                <a:solidFill>
                  <a:schemeClr val="bg1"/>
                </a:solidFill>
              </a:rPr>
              <a:t>İstilik maşınları termodinamikada istilik enerjisini işə çevirmək üçün istifadə olunan cihazlardır. Bu maşınlar, əsasən, istilik enerjisini daha faydalı bir formaya — işə (mexaniki enerji) çevirməyə imkan verir. İstilik maşınlarının fəaliyyət prinsipi, termodinamik qanunlar, xüsusilə ikinci qanun əsasında işləyir.</a:t>
            </a:r>
          </a:p>
          <a:p>
            <a:r>
              <a:rPr lang="az-Latn-AZ" sz="2000" b="1" dirty="0" smtClean="0">
                <a:solidFill>
                  <a:schemeClr val="bg1"/>
                </a:solidFill>
              </a:rPr>
              <a:t>İstilik maşınları, mühərriklər, soyutma sistemləri və digər enerji çevirmə cihazları daxil olmaqla geniş tətbiq sahələrinə malikdir. İstilik maşınlarının effektivliyini müəyyən edən ən mühüm amil Carnot dövrəsidir, çünki Carnot dövrəsi ideal istilik mühərrikinin maksimum effektivliyini müəyyən edir</a:t>
            </a:r>
            <a:r>
              <a:rPr lang="az-Latn-AZ" sz="2000" b="1" dirty="0" smtClean="0"/>
              <a:t>.</a:t>
            </a:r>
            <a:endParaRPr lang="az-Latn-AZ" sz="2000" b="1" dirty="0"/>
          </a:p>
        </p:txBody>
      </p:sp>
    </p:spTree>
    <p:extLst>
      <p:ext uri="{BB962C8B-B14F-4D97-AF65-F5344CB8AC3E}">
        <p14:creationId xmlns:p14="http://schemas.microsoft.com/office/powerpoint/2010/main" val="73131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7171" y="0"/>
            <a:ext cx="9423400" cy="1325563"/>
          </a:xfrm>
        </p:spPr>
        <p:txBody>
          <a:bodyPr/>
          <a:lstStyle/>
          <a:p>
            <a:r>
              <a:rPr lang="az-Latn-AZ" b="1" dirty="0" smtClean="0">
                <a:solidFill>
                  <a:schemeClr val="bg1"/>
                </a:solidFill>
                <a:latin typeface="+mn-lt"/>
              </a:rPr>
              <a:t>REAL QAZLAR</a:t>
            </a:r>
            <a:r>
              <a:rPr lang="en-US" b="1" dirty="0" smtClean="0">
                <a:solidFill>
                  <a:schemeClr val="bg1"/>
                </a:solidFill>
                <a:latin typeface="+mn-lt"/>
              </a:rPr>
              <a:t>,VAN-DER-VAALS T</a:t>
            </a:r>
            <a:r>
              <a:rPr lang="az-Latn-AZ" b="1" dirty="0" smtClean="0">
                <a:solidFill>
                  <a:schemeClr val="bg1"/>
                </a:solidFill>
                <a:latin typeface="+mn-lt"/>
              </a:rPr>
              <a:t>ƏNLİYİ</a:t>
            </a:r>
            <a:endParaRPr lang="ru-RU" b="1" dirty="0">
              <a:solidFill>
                <a:schemeClr val="bg1"/>
              </a:solidFill>
              <a:latin typeface="+mn-lt"/>
            </a:endParaRPr>
          </a:p>
        </p:txBody>
      </p:sp>
      <p:pic>
        <p:nvPicPr>
          <p:cNvPr id="16386" name="Picture 2" descr="Mühazirə 12 Real qazlar. Van-der-Vaals tənliy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7617" y="966969"/>
            <a:ext cx="8375696" cy="3073016"/>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Mühazirə 12 Real qazlar. Van-der-Vaals tənliy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3838" y="4199642"/>
            <a:ext cx="6870065" cy="2351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7414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1164</Words>
  <Application>Microsoft Office PowerPoint</Application>
  <PresentationFormat>Widescreen</PresentationFormat>
  <Paragraphs>71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PowerPoint Presentation</vt:lpstr>
      <vt:lpstr>MOLEKULYAR KİNETİK  NƏZƏRİYYƏNİN ƏSAS MÜDDƏALARI</vt:lpstr>
      <vt:lpstr>IDEAL QAZIN HAL TƏNLİYİ</vt:lpstr>
      <vt:lpstr>MOLEKULLARIN SÜRƏTLƏRƏ GÖRƏ MAKSVELL PAYLANMASI</vt:lpstr>
      <vt:lpstr>BOLSMAN PAYLANMASI</vt:lpstr>
      <vt:lpstr>PowerPoint Presentation</vt:lpstr>
      <vt:lpstr>TERMODİNAMİKANIN ƏSASLARI</vt:lpstr>
      <vt:lpstr>DAXİLİ ENERJİ</vt:lpstr>
      <vt:lpstr>TERMODİNAMİKADA İŞ</vt:lpstr>
      <vt:lpstr>TERMODİNAMİKANIN 1-Cİ QANUNU</vt:lpstr>
      <vt:lpstr>İDEAL QAZIN İSTİLİK TUTUMLARI</vt:lpstr>
      <vt:lpstr>TERMODİNAMİKANIN 1Cİ QANUNUNUN PROSESLƏRƏ TƏTBİQİ</vt:lpstr>
      <vt:lpstr>ADİABATİK PROSES</vt:lpstr>
      <vt:lpstr>DAİRƏVİ PROSESLƏR</vt:lpstr>
      <vt:lpstr>TERMODİNAMİKANIN 2-Cİ QANUNU</vt:lpstr>
      <vt:lpstr>İSTİLİK MAŞINLARI</vt:lpstr>
      <vt:lpstr>REAL QAZLAR,VAN-DER-VAALS TƏNLİYİ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16</cp:revision>
  <dcterms:created xsi:type="dcterms:W3CDTF">2024-12-14T12:47:47Z</dcterms:created>
  <dcterms:modified xsi:type="dcterms:W3CDTF">2024-12-14T14:44:34Z</dcterms:modified>
</cp:coreProperties>
</file>