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58" r:id="rId4"/>
    <p:sldId id="263" r:id="rId5"/>
    <p:sldId id="259" r:id="rId6"/>
    <p:sldId id="260" r:id="rId7"/>
    <p:sldId id="268" r:id="rId8"/>
    <p:sldId id="265" r:id="rId9"/>
    <p:sldId id="267" r:id="rId10"/>
    <p:sldId id="266" r:id="rId11"/>
    <p:sldId id="269" r:id="rId12"/>
    <p:sldId id="270" r:id="rId13"/>
    <p:sldId id="271" r:id="rId14"/>
    <p:sldId id="272" r:id="rId15"/>
    <p:sldId id="273"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6" d="100"/>
          <a:sy n="66" d="100"/>
        </p:scale>
        <p:origin x="4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ru-R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ru-RU"/>
          </a:p>
        </p:txBody>
      </p:sp>
      <p:sp>
        <p:nvSpPr>
          <p:cNvPr id="4" name="Date Placeholder 3"/>
          <p:cNvSpPr>
            <a:spLocks noGrp="1"/>
          </p:cNvSpPr>
          <p:nvPr>
            <p:ph type="dt" sz="half" idx="10"/>
          </p:nvPr>
        </p:nvSpPr>
        <p:spPr/>
        <p:txBody>
          <a:bodyPr/>
          <a:lstStyle/>
          <a:p>
            <a:fld id="{34CD65E0-97F0-4ABB-BAD5-B3301FE99C09}" type="datetimeFigureOut">
              <a:rPr lang="ru-RU" smtClean="0"/>
              <a:t>15.11.2024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3279095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34CD65E0-97F0-4ABB-BAD5-B3301FE99C09}" type="datetimeFigureOut">
              <a:rPr lang="ru-RU" smtClean="0"/>
              <a:t>15.11.2024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1506940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ru-R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4CD65E0-97F0-4ABB-BAD5-B3301FE99C09}" type="datetimeFigureOut">
              <a:rPr lang="ru-RU" smtClean="0"/>
              <a:t>15.11.2024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1916815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Date Placeholder 4"/>
          <p:cNvSpPr>
            <a:spLocks noGrp="1"/>
          </p:cNvSpPr>
          <p:nvPr>
            <p:ph type="dt" sz="half" idx="10"/>
          </p:nvPr>
        </p:nvSpPr>
        <p:spPr/>
        <p:txBody>
          <a:bodyPr/>
          <a:lstStyle/>
          <a:p>
            <a:fld id="{34CD65E0-97F0-4ABB-BAD5-B3301FE99C09}" type="datetimeFigureOut">
              <a:rPr lang="ru-RU" smtClean="0"/>
              <a:t>15.11.2024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920132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ru-R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7" name="Date Placeholder 6"/>
          <p:cNvSpPr>
            <a:spLocks noGrp="1"/>
          </p:cNvSpPr>
          <p:nvPr>
            <p:ph type="dt" sz="half" idx="10"/>
          </p:nvPr>
        </p:nvSpPr>
        <p:spPr/>
        <p:txBody>
          <a:bodyPr/>
          <a:lstStyle/>
          <a:p>
            <a:fld id="{34CD65E0-97F0-4ABB-BAD5-B3301FE99C09}" type="datetimeFigureOut">
              <a:rPr lang="ru-RU" smtClean="0"/>
              <a:t>15.11.2024</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834637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Date Placeholder 2"/>
          <p:cNvSpPr>
            <a:spLocks noGrp="1"/>
          </p:cNvSpPr>
          <p:nvPr>
            <p:ph type="dt" sz="half" idx="10"/>
          </p:nvPr>
        </p:nvSpPr>
        <p:spPr/>
        <p:txBody>
          <a:bodyPr/>
          <a:lstStyle/>
          <a:p>
            <a:fld id="{34CD65E0-97F0-4ABB-BAD5-B3301FE99C09}" type="datetimeFigureOut">
              <a:rPr lang="ru-RU" smtClean="0"/>
              <a:t>15.11.2024</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439149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CD65E0-97F0-4ABB-BAD5-B3301FE99C09}" type="datetimeFigureOut">
              <a:rPr lang="ru-RU" smtClean="0"/>
              <a:t>15.11.2024</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1164056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CD65E0-97F0-4ABB-BAD5-B3301FE99C09}" type="datetimeFigureOut">
              <a:rPr lang="ru-RU" smtClean="0"/>
              <a:t>15.11.2024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1917144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ru-R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CD65E0-97F0-4ABB-BAD5-B3301FE99C09}" type="datetimeFigureOut">
              <a:rPr lang="ru-RU" smtClean="0"/>
              <a:t>15.11.2024</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351840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ru-R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34CD65E0-97F0-4ABB-BAD5-B3301FE99C09}" type="datetimeFigureOut">
              <a:rPr lang="ru-RU" smtClean="0"/>
              <a:t>15.11.2024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1839945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ru-R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10"/>
          </p:nvPr>
        </p:nvSpPr>
        <p:spPr/>
        <p:txBody>
          <a:bodyPr/>
          <a:lstStyle/>
          <a:p>
            <a:fld id="{34CD65E0-97F0-4ABB-BAD5-B3301FE99C09}" type="datetimeFigureOut">
              <a:rPr lang="ru-RU" smtClean="0"/>
              <a:t>15.11.2024</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F1AC475-09FE-43F3-9326-4B349578179F}" type="slidenum">
              <a:rPr lang="ru-RU" smtClean="0"/>
              <a:t>‹#›</a:t>
            </a:fld>
            <a:endParaRPr lang="ru-RU"/>
          </a:p>
        </p:txBody>
      </p:sp>
    </p:spTree>
    <p:extLst>
      <p:ext uri="{BB962C8B-B14F-4D97-AF65-F5344CB8AC3E}">
        <p14:creationId xmlns:p14="http://schemas.microsoft.com/office/powerpoint/2010/main" val="2357340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ru-R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ru-R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CD65E0-97F0-4ABB-BAD5-B3301FE99C09}" type="datetimeFigureOut">
              <a:rPr lang="ru-RU" smtClean="0"/>
              <a:t>15.11.2024</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1AC475-09FE-43F3-9326-4B349578179F}" type="slidenum">
              <a:rPr lang="ru-RU" smtClean="0"/>
              <a:t>‹#›</a:t>
            </a:fld>
            <a:endParaRPr lang="ru-RU"/>
          </a:p>
        </p:txBody>
      </p:sp>
    </p:spTree>
    <p:extLst>
      <p:ext uri="{BB962C8B-B14F-4D97-AF65-F5344CB8AC3E}">
        <p14:creationId xmlns:p14="http://schemas.microsoft.com/office/powerpoint/2010/main" val="1493748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z.wikipedia.org/wiki/S%C9%99n%C9%99d" TargetMode="External"/><Relationship Id="rId2" Type="http://schemas.openxmlformats.org/officeDocument/2006/relationships/image" Target="../media/image10.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hyperlink" Target="https://az.wikipedia.org/wiki/%C6%8Fmr"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68372" y="-77335"/>
            <a:ext cx="7623628" cy="1325563"/>
          </a:xfrm>
        </p:spPr>
        <p:txBody>
          <a:bodyPr/>
          <a:lstStyle/>
          <a:p>
            <a:r>
              <a:rPr lang="az-Latn-AZ" b="1" dirty="0" smtClean="0">
                <a:latin typeface="Algerian" panose="04020705040A02060702" pitchFamily="82" charset="0"/>
              </a:rPr>
              <a:t>CƏFƏROVA NAZLI(6224A1)</a:t>
            </a:r>
            <a:endParaRPr lang="ru-RU" b="1" dirty="0"/>
          </a:p>
        </p:txBody>
      </p:sp>
      <p:sp>
        <p:nvSpPr>
          <p:cNvPr id="4" name="Snip Single Corner Rectangle 3"/>
          <p:cNvSpPr/>
          <p:nvPr/>
        </p:nvSpPr>
        <p:spPr>
          <a:xfrm>
            <a:off x="464457" y="1553029"/>
            <a:ext cx="11161486" cy="4223658"/>
          </a:xfrm>
          <a:prstGeom prst="snip1Rect">
            <a:avLst/>
          </a:prstGeom>
          <a:solidFill>
            <a:schemeClr val="accent5">
              <a:lumMod val="60000"/>
              <a:lumOff val="40000"/>
            </a:schemeClr>
          </a:solidFill>
          <a:ln w="57150">
            <a:solidFill>
              <a:schemeClr val="tx1"/>
            </a:solidFill>
          </a:ln>
        </p:spPr>
        <p:style>
          <a:lnRef idx="1">
            <a:schemeClr val="dk1"/>
          </a:lnRef>
          <a:fillRef idx="2">
            <a:schemeClr val="dk1"/>
          </a:fillRef>
          <a:effectRef idx="1">
            <a:schemeClr val="dk1"/>
          </a:effectRef>
          <a:fontRef idx="minor">
            <a:schemeClr val="dk1"/>
          </a:fontRef>
        </p:style>
        <p:txBody>
          <a:bodyPr rtlCol="0" anchor="ctr"/>
          <a:lstStyle/>
          <a:p>
            <a:pPr algn="ctr"/>
            <a:r>
              <a:rPr lang="az-Latn-AZ" sz="2800" b="1" dirty="0">
                <a:latin typeface="Arial" panose="020B0604020202020204" pitchFamily="34" charset="0"/>
                <a:cs typeface="Arial" panose="020B0604020202020204" pitchFamily="34" charset="0"/>
              </a:rPr>
              <a:t>Azərbaycan dilində işgüzar üslubun mahiyyəti və xüsusiyyətləri. </a:t>
            </a:r>
            <a:br>
              <a:rPr lang="az-Latn-AZ" sz="2800" b="1" dirty="0">
                <a:latin typeface="Arial" panose="020B0604020202020204" pitchFamily="34" charset="0"/>
                <a:cs typeface="Arial" panose="020B0604020202020204" pitchFamily="34" charset="0"/>
              </a:rPr>
            </a:br>
            <a:endParaRPr lang="ru-RU" sz="2800"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0" y="-1"/>
            <a:ext cx="1903706" cy="943429"/>
          </a:xfrm>
          <a:prstGeom prst="rect">
            <a:avLst/>
          </a:prstGeom>
        </p:spPr>
      </p:pic>
    </p:spTree>
    <p:extLst>
      <p:ext uri="{BB962C8B-B14F-4D97-AF65-F5344CB8AC3E}">
        <p14:creationId xmlns:p14="http://schemas.microsoft.com/office/powerpoint/2010/main" val="2788992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926771" y="217875"/>
            <a:ext cx="10515600" cy="1325563"/>
          </a:xfrm>
        </p:spPr>
        <p:txBody>
          <a:bodyPr>
            <a:normAutofit fontScale="90000"/>
          </a:bodyPr>
          <a:lstStyle/>
          <a:p>
            <a:r>
              <a:rPr lang="az-Latn-AZ" b="1" dirty="0" smtClean="0">
                <a:latin typeface="Algerian" panose="04020705040A02060702" pitchFamily="82" charset="0"/>
              </a:rPr>
              <a:t>Azərbaycan dilində işgüzar üslubun mahiyyəti və xüsusiyyətləri. </a:t>
            </a:r>
            <a:br>
              <a:rPr lang="az-Latn-AZ" b="1" dirty="0" smtClean="0">
                <a:latin typeface="Algerian" panose="04020705040A02060702" pitchFamily="82" charset="0"/>
              </a:rPr>
            </a:br>
            <a:endParaRPr lang="ru-RU" b="1" dirty="0"/>
          </a:p>
        </p:txBody>
      </p:sp>
      <p:sp>
        <p:nvSpPr>
          <p:cNvPr id="3" name="Round Diagonal Corner Rectangle 2"/>
          <p:cNvSpPr/>
          <p:nvPr/>
        </p:nvSpPr>
        <p:spPr>
          <a:xfrm>
            <a:off x="304799" y="1451428"/>
            <a:ext cx="10189029" cy="5196114"/>
          </a:xfrm>
          <a:prstGeom prst="round2DiagRect">
            <a:avLst/>
          </a:prstGeom>
          <a:solidFill>
            <a:schemeClr val="tx2">
              <a:lumMod val="40000"/>
              <a:lumOff val="60000"/>
            </a:schemeClr>
          </a:solidFill>
          <a:ln w="57150">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az-Latn-AZ" sz="2000" b="1" dirty="0" smtClean="0"/>
              <a:t>İşgüzar üslub, kommunikasiya və yazılı ifadə üsulu olaraq, iş və biznes mühiti üçün xüsusi olaraq inkişaf etmiş bir üslubdur. Bu üslub, məqsədinə uyğun olaraq, effektiv və aydın əlaqə qurmağa, qarşı tərəfi düzgün məlumatlandırmağa və peşəkar münasibətlər qurmağa xidmət edir. Bu üslub qanuna, sənədləşmə işlərinə (o cümlədən işgüzar yazışmalara), hüquq münasibətləri sahəsinə xidmət edir. Obyektivliyə, ümumiləşdirməyə, təqdimatın məntiqi təşkilinə, semantik aydınlığa, birmənalılığa və əminliyə meyl göstərir. Rəsmi işgüzar üslub dövlətlə dövlət arasında, dövlətlə vətəndaşlar, vətəndaşlarla vətəndaş arasında rəsmi sənədli əlaqə vasitəsidir. Bu üslubun hər bir mətni bir sənəd xarakterinə malikdir. Buna görə rəsmi işgüzar üslub ciddi ifadə standartlarından istifadə edir. Bu üslubun bütün mətnləri resept xarakterlidir və bütün üslublardan ən mühafizəkarıdır. </a:t>
            </a:r>
            <a:endParaRPr lang="ru-RU" sz="2000" b="1" dirty="0"/>
          </a:p>
        </p:txBody>
      </p:sp>
      <p:pic>
        <p:nvPicPr>
          <p:cNvPr id="4" name="Picture 3"/>
          <p:cNvPicPr>
            <a:picLocks noChangeAspect="1"/>
          </p:cNvPicPr>
          <p:nvPr/>
        </p:nvPicPr>
        <p:blipFill>
          <a:blip r:embed="rId2"/>
          <a:stretch>
            <a:fillRect/>
          </a:stretch>
        </p:blipFill>
        <p:spPr>
          <a:xfrm>
            <a:off x="0" y="0"/>
            <a:ext cx="1577663" cy="899886"/>
          </a:xfrm>
          <a:prstGeom prst="rect">
            <a:avLst/>
          </a:prstGeom>
        </p:spPr>
      </p:pic>
    </p:spTree>
    <p:extLst>
      <p:ext uri="{BB962C8B-B14F-4D97-AF65-F5344CB8AC3E}">
        <p14:creationId xmlns:p14="http://schemas.microsoft.com/office/powerpoint/2010/main" val="12945261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Rectangle 4"/>
          <p:cNvSpPr/>
          <p:nvPr/>
        </p:nvSpPr>
        <p:spPr>
          <a:xfrm>
            <a:off x="2627086" y="290286"/>
            <a:ext cx="6560458" cy="1175657"/>
          </a:xfrm>
          <a:prstGeom prst="rect">
            <a:avLst/>
          </a:prstGeom>
          <a:solidFill>
            <a:schemeClr val="accent5">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az-Latn-AZ" sz="2400" b="1" dirty="0" smtClean="0"/>
              <a:t>RƏSMİ-İŞGÜZAR ÜSLUBUN FORMALARI</a:t>
            </a:r>
            <a:endParaRPr lang="ru-RU" sz="2400" b="1" dirty="0"/>
          </a:p>
        </p:txBody>
      </p:sp>
      <p:cxnSp>
        <p:nvCxnSpPr>
          <p:cNvPr id="7" name="Straight Arrow Connector 6"/>
          <p:cNvCxnSpPr/>
          <p:nvPr/>
        </p:nvCxnSpPr>
        <p:spPr>
          <a:xfrm flipH="1">
            <a:off x="4630057" y="1465943"/>
            <a:ext cx="979716" cy="957943"/>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p:cNvCxnSpPr/>
          <p:nvPr/>
        </p:nvCxnSpPr>
        <p:spPr>
          <a:xfrm>
            <a:off x="5609772" y="1465943"/>
            <a:ext cx="1139371" cy="957943"/>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13" name="Rectangle 12"/>
          <p:cNvSpPr/>
          <p:nvPr/>
        </p:nvSpPr>
        <p:spPr>
          <a:xfrm>
            <a:off x="2177143" y="2423886"/>
            <a:ext cx="3091543" cy="885371"/>
          </a:xfrm>
          <a:prstGeom prst="rect">
            <a:avLst/>
          </a:prstGeom>
          <a:solidFill>
            <a:schemeClr val="accent5">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az-Latn-AZ" sz="2000" b="1" dirty="0" smtClean="0"/>
              <a:t>RƏSMİ SƏNƏDLƏR</a:t>
            </a:r>
            <a:endParaRPr lang="ru-RU" sz="2000" b="1" dirty="0"/>
          </a:p>
        </p:txBody>
      </p:sp>
      <p:sp>
        <p:nvSpPr>
          <p:cNvPr id="14" name="Rectangle 13"/>
          <p:cNvSpPr/>
          <p:nvPr/>
        </p:nvSpPr>
        <p:spPr>
          <a:xfrm>
            <a:off x="6589487" y="2452914"/>
            <a:ext cx="3004456" cy="899886"/>
          </a:xfrm>
          <a:prstGeom prst="rect">
            <a:avLst/>
          </a:prstGeom>
          <a:solidFill>
            <a:schemeClr val="accent5">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az-Latn-AZ" sz="2000" b="1" dirty="0" smtClean="0"/>
              <a:t>İŞGÜZAR SƏNƏDLƏR</a:t>
            </a:r>
            <a:endParaRPr lang="ru-RU" sz="2000" b="1" dirty="0"/>
          </a:p>
        </p:txBody>
      </p:sp>
      <p:cxnSp>
        <p:nvCxnSpPr>
          <p:cNvPr id="16" name="Straight Arrow Connector 15"/>
          <p:cNvCxnSpPr>
            <a:stCxn id="13" idx="2"/>
          </p:cNvCxnSpPr>
          <p:nvPr/>
        </p:nvCxnSpPr>
        <p:spPr>
          <a:xfrm>
            <a:off x="3722915" y="3309257"/>
            <a:ext cx="7256" cy="81280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p:cNvCxnSpPr>
            <a:stCxn id="14" idx="2"/>
          </p:cNvCxnSpPr>
          <p:nvPr/>
        </p:nvCxnSpPr>
        <p:spPr>
          <a:xfrm>
            <a:off x="8091715" y="3352800"/>
            <a:ext cx="21771" cy="81280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1676399" y="4107542"/>
            <a:ext cx="3788229" cy="1016000"/>
          </a:xfrm>
          <a:prstGeom prst="rect">
            <a:avLst/>
          </a:prstGeom>
          <a:solidFill>
            <a:schemeClr val="accent5">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az-Latn-AZ" sz="2000" b="1" dirty="0" smtClean="0"/>
              <a:t>KONSTİTUSİYA</a:t>
            </a:r>
            <a:r>
              <a:rPr lang="en-US" sz="2000" b="1" dirty="0" smtClean="0"/>
              <a:t>,</a:t>
            </a:r>
            <a:r>
              <a:rPr lang="az-Latn-AZ" sz="2000" b="1" dirty="0" smtClean="0"/>
              <a:t>QANUN</a:t>
            </a:r>
            <a:r>
              <a:rPr lang="en-US" sz="2000" b="1" dirty="0" smtClean="0"/>
              <a:t>,</a:t>
            </a:r>
            <a:r>
              <a:rPr lang="az-Latn-AZ" sz="2000" b="1" dirty="0" smtClean="0"/>
              <a:t>FƏRMAN</a:t>
            </a:r>
            <a:r>
              <a:rPr lang="en-US" sz="2000" b="1" dirty="0" smtClean="0"/>
              <a:t>,</a:t>
            </a:r>
            <a:r>
              <a:rPr lang="az-Latn-AZ" sz="2000" b="1" dirty="0" smtClean="0"/>
              <a:t> SƏRƏNCAM VƏ</a:t>
            </a:r>
            <a:r>
              <a:rPr lang="en-US" sz="2000" b="1" dirty="0" smtClean="0"/>
              <a:t>.S</a:t>
            </a:r>
            <a:endParaRPr lang="ru-RU" sz="2000" b="1" dirty="0"/>
          </a:p>
        </p:txBody>
      </p:sp>
      <p:sp>
        <p:nvSpPr>
          <p:cNvPr id="24" name="Rectangle 23"/>
          <p:cNvSpPr/>
          <p:nvPr/>
        </p:nvSpPr>
        <p:spPr>
          <a:xfrm>
            <a:off x="6749143" y="4165600"/>
            <a:ext cx="3526971" cy="1045029"/>
          </a:xfrm>
          <a:prstGeom prst="rect">
            <a:avLst/>
          </a:prstGeom>
          <a:solidFill>
            <a:schemeClr val="accent5">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az-Latn-AZ" sz="2000" b="1" dirty="0" smtClean="0"/>
              <a:t>ƏRİZƏ</a:t>
            </a:r>
            <a:r>
              <a:rPr lang="en-US" sz="2000" b="1" dirty="0" smtClean="0"/>
              <a:t>,</a:t>
            </a:r>
            <a:r>
              <a:rPr lang="az-Latn-AZ" sz="2000" b="1" dirty="0" smtClean="0"/>
              <a:t>TƏRCÜMEYİ-HAL</a:t>
            </a:r>
            <a:r>
              <a:rPr lang="en-US" sz="2000" b="1" dirty="0" smtClean="0"/>
              <a:t>,</a:t>
            </a:r>
            <a:r>
              <a:rPr lang="az-Latn-AZ" sz="2000" b="1" dirty="0" smtClean="0"/>
              <a:t> AKT</a:t>
            </a:r>
            <a:r>
              <a:rPr lang="en-US" sz="2000" b="1" dirty="0" smtClean="0"/>
              <a:t>,</a:t>
            </a:r>
            <a:r>
              <a:rPr lang="az-Latn-AZ" sz="2000" b="1" dirty="0" smtClean="0"/>
              <a:t>XASİYƏTNAMƏ VƏ</a:t>
            </a:r>
            <a:r>
              <a:rPr lang="en-US" sz="2000" b="1" dirty="0" smtClean="0"/>
              <a:t>.S</a:t>
            </a:r>
            <a:endParaRPr lang="ru-RU" sz="2000" b="1" dirty="0"/>
          </a:p>
        </p:txBody>
      </p:sp>
      <p:cxnSp>
        <p:nvCxnSpPr>
          <p:cNvPr id="26" name="Straight Arrow Connector 25"/>
          <p:cNvCxnSpPr/>
          <p:nvPr/>
        </p:nvCxnSpPr>
        <p:spPr>
          <a:xfrm>
            <a:off x="3490685" y="5152571"/>
            <a:ext cx="2416629" cy="74022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p:cNvCxnSpPr/>
          <p:nvPr/>
        </p:nvCxnSpPr>
        <p:spPr>
          <a:xfrm flipH="1">
            <a:off x="5907314" y="5210629"/>
            <a:ext cx="1912258" cy="68217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1" name="Rectangle 30"/>
          <p:cNvSpPr/>
          <p:nvPr/>
        </p:nvSpPr>
        <p:spPr>
          <a:xfrm>
            <a:off x="2953658" y="5994400"/>
            <a:ext cx="5907313" cy="638629"/>
          </a:xfrm>
          <a:prstGeom prst="rect">
            <a:avLst/>
          </a:prstGeom>
          <a:solidFill>
            <a:schemeClr val="accent5">
              <a:lumMod val="60000"/>
              <a:lumOff val="40000"/>
            </a:schemeClr>
          </a:solidFill>
        </p:spPr>
        <p:style>
          <a:lnRef idx="1">
            <a:schemeClr val="dk1"/>
          </a:lnRef>
          <a:fillRef idx="2">
            <a:schemeClr val="dk1"/>
          </a:fillRef>
          <a:effectRef idx="1">
            <a:schemeClr val="dk1"/>
          </a:effectRef>
          <a:fontRef idx="minor">
            <a:schemeClr val="dk1"/>
          </a:fontRef>
        </p:style>
        <p:txBody>
          <a:bodyPr rtlCol="0" anchor="ctr"/>
          <a:lstStyle/>
          <a:p>
            <a:pPr algn="ctr"/>
            <a:r>
              <a:rPr lang="az-Latn-AZ" sz="2000" b="1" dirty="0" smtClean="0"/>
              <a:t>HƏR İKİSİDƏ DİLİN MAKSİMUM MÜKƏMMƏLLİYİ ƏSASDIR</a:t>
            </a:r>
            <a:endParaRPr lang="ru-RU" sz="2000" b="1" dirty="0"/>
          </a:p>
        </p:txBody>
      </p:sp>
      <p:pic>
        <p:nvPicPr>
          <p:cNvPr id="2" name="Picture 1"/>
          <p:cNvPicPr>
            <a:picLocks noChangeAspect="1"/>
          </p:cNvPicPr>
          <p:nvPr/>
        </p:nvPicPr>
        <p:blipFill>
          <a:blip r:embed="rId2"/>
          <a:stretch>
            <a:fillRect/>
          </a:stretch>
        </p:blipFill>
        <p:spPr>
          <a:xfrm>
            <a:off x="0" y="0"/>
            <a:ext cx="1713063" cy="1030514"/>
          </a:xfrm>
          <a:prstGeom prst="rect">
            <a:avLst/>
          </a:prstGeom>
        </p:spPr>
      </p:pic>
    </p:spTree>
    <p:extLst>
      <p:ext uri="{BB962C8B-B14F-4D97-AF65-F5344CB8AC3E}">
        <p14:creationId xmlns:p14="http://schemas.microsoft.com/office/powerpoint/2010/main" val="41792602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271486" y="24517"/>
            <a:ext cx="7453085" cy="1325563"/>
          </a:xfrm>
        </p:spPr>
        <p:txBody>
          <a:bodyPr>
            <a:normAutofit/>
          </a:bodyPr>
          <a:lstStyle/>
          <a:p>
            <a:r>
              <a:rPr lang="az-Latn-AZ" sz="4000" b="1" dirty="0" smtClean="0">
                <a:latin typeface="Algerian" panose="04020705040A02060702" pitchFamily="82" charset="0"/>
              </a:rPr>
              <a:t>Rəsmi işgüzar üslubun əsas xüsusiyyətləri</a:t>
            </a:r>
            <a:endParaRPr lang="ru-RU" sz="4000" b="1" dirty="0"/>
          </a:p>
        </p:txBody>
      </p:sp>
      <p:sp>
        <p:nvSpPr>
          <p:cNvPr id="4" name="Rectangle 3"/>
          <p:cNvSpPr/>
          <p:nvPr/>
        </p:nvSpPr>
        <p:spPr>
          <a:xfrm>
            <a:off x="174171" y="1325563"/>
            <a:ext cx="11350172" cy="5355312"/>
          </a:xfrm>
          <a:prstGeom prst="rect">
            <a:avLst/>
          </a:prstGeom>
        </p:spPr>
        <p:txBody>
          <a:bodyPr wrap="square">
            <a:spAutoFit/>
          </a:bodyPr>
          <a:lstStyle/>
          <a:p>
            <a:pPr lvl="0" eaLnBrk="0" fontAlgn="base" hangingPunct="0">
              <a:spcBef>
                <a:spcPct val="0"/>
              </a:spcBef>
              <a:spcAft>
                <a:spcPct val="0"/>
              </a:spcAft>
              <a:buFontTx/>
              <a:buChar char="•"/>
            </a:pPr>
            <a:r>
              <a:rPr lang="az-Latn-AZ" altLang="ru-RU" b="1" dirty="0" smtClean="0">
                <a:solidFill>
                  <a:srgbClr val="C00000"/>
                </a:solidFill>
                <a:latin typeface="Arial" panose="020B0604020202020204" pitchFamily="34" charset="0"/>
              </a:rPr>
              <a:t>Sade və aydın dil</a:t>
            </a:r>
            <a:r>
              <a:rPr lang="az-Latn-AZ" altLang="ru-RU" b="1" dirty="0" smtClean="0">
                <a:latin typeface="Arial" panose="020B0604020202020204" pitchFamily="34" charset="0"/>
              </a:rPr>
              <a:t>: Rəsmi işgüzar üslubda dilin sadə və anlaşılır olması önəmlidir. Çox mürəkkəb ifadələrdən və qarışıq cümlələrdən qaçınılır. Məqsəd məlumatın düzgün və dəqiq şəkildə çatdırılmasıdır.</a:t>
            </a:r>
          </a:p>
          <a:p>
            <a:pPr lvl="0" eaLnBrk="0" fontAlgn="base" hangingPunct="0">
              <a:spcBef>
                <a:spcPct val="0"/>
              </a:spcBef>
              <a:spcAft>
                <a:spcPct val="0"/>
              </a:spcAft>
              <a:buFontTx/>
              <a:buChar char="•"/>
            </a:pPr>
            <a:r>
              <a:rPr lang="az-Latn-AZ" altLang="ru-RU" b="1" dirty="0" smtClean="0">
                <a:solidFill>
                  <a:srgbClr val="C00000"/>
                </a:solidFill>
                <a:latin typeface="Arial" panose="020B0604020202020204" pitchFamily="34" charset="0"/>
              </a:rPr>
              <a:t>Obyektivlik</a:t>
            </a:r>
            <a:r>
              <a:rPr lang="az-Latn-AZ" altLang="ru-RU" b="1" dirty="0" smtClean="0">
                <a:latin typeface="Arial" panose="020B0604020202020204" pitchFamily="34" charset="0"/>
              </a:rPr>
              <a:t>: Bu üslubda subyektiv fikirlər və şəxsi rəylərdən qaçınılır. Hər zaman faktlara əsaslanan və obyektiv yanaşmalar istifadə olunur.</a:t>
            </a:r>
          </a:p>
          <a:p>
            <a:pPr lvl="0" eaLnBrk="0" fontAlgn="base" hangingPunct="0">
              <a:spcBef>
                <a:spcPct val="0"/>
              </a:spcBef>
              <a:spcAft>
                <a:spcPct val="0"/>
              </a:spcAft>
              <a:buFontTx/>
              <a:buChar char="•"/>
            </a:pPr>
            <a:r>
              <a:rPr lang="az-Latn-AZ" altLang="ru-RU" b="1" dirty="0" smtClean="0">
                <a:solidFill>
                  <a:srgbClr val="C00000"/>
                </a:solidFill>
                <a:latin typeface="Arial" panose="020B0604020202020204" pitchFamily="34" charset="0"/>
              </a:rPr>
              <a:t>Qısa və konkretlik</a:t>
            </a:r>
            <a:r>
              <a:rPr lang="az-Latn-AZ" altLang="ru-RU" b="1" dirty="0" smtClean="0">
                <a:latin typeface="Arial" panose="020B0604020202020204" pitchFamily="34" charset="0"/>
              </a:rPr>
              <a:t>: Üslubda həddindən artıq uzun və mürəkkəb cümlələrdən istifadə edilməməlidir. Əsas fikir açıq və konkret şəkildə ifadə edilir.</a:t>
            </a:r>
          </a:p>
          <a:p>
            <a:pPr lvl="0" eaLnBrk="0" fontAlgn="base" hangingPunct="0">
              <a:spcBef>
                <a:spcPct val="0"/>
              </a:spcBef>
              <a:spcAft>
                <a:spcPct val="0"/>
              </a:spcAft>
              <a:buFontTx/>
              <a:buChar char="•"/>
            </a:pPr>
            <a:r>
              <a:rPr lang="az-Latn-AZ" altLang="ru-RU" b="1" dirty="0" smtClean="0">
                <a:solidFill>
                  <a:srgbClr val="C00000"/>
                </a:solidFill>
                <a:latin typeface="Arial" panose="020B0604020202020204" pitchFamily="34" charset="0"/>
              </a:rPr>
              <a:t>Nüfuzlu və ciddiyyətli ton</a:t>
            </a:r>
            <a:r>
              <a:rPr lang="az-Latn-AZ" altLang="ru-RU" b="1" dirty="0" smtClean="0">
                <a:latin typeface="Arial" panose="020B0604020202020204" pitchFamily="34" charset="0"/>
              </a:rPr>
              <a:t>: Rəsmi işgüzar üslubda söhbət apararkən ciddiyyət və etibar yaradacaq bir ton istifadə olunur. Bu, həm yazılı, həm də şifahi ünsiyyətdə özünü göstərir.</a:t>
            </a:r>
          </a:p>
          <a:p>
            <a:pPr lvl="0" eaLnBrk="0" fontAlgn="base" hangingPunct="0">
              <a:spcBef>
                <a:spcPct val="0"/>
              </a:spcBef>
              <a:spcAft>
                <a:spcPct val="0"/>
              </a:spcAft>
              <a:buFontTx/>
              <a:buChar char="•"/>
            </a:pPr>
            <a:r>
              <a:rPr lang="az-Latn-AZ" altLang="ru-RU" b="1" dirty="0" smtClean="0">
                <a:solidFill>
                  <a:srgbClr val="C00000"/>
                </a:solidFill>
                <a:latin typeface="Arial" panose="020B0604020202020204" pitchFamily="34" charset="0"/>
              </a:rPr>
              <a:t>Qrammatik və stilistik düzgünlük</a:t>
            </a:r>
            <a:r>
              <a:rPr lang="az-Latn-AZ" altLang="ru-RU" b="1" dirty="0" smtClean="0">
                <a:latin typeface="Arial" panose="020B0604020202020204" pitchFamily="34" charset="0"/>
              </a:rPr>
              <a:t>: Dilin qrammatik qaydalarına uyğunluq, düzgün işlənmiş cümlələr və uyğun söz seçimi əsasdır. Bu, həmçinin üslubun peşəkarlığını təmin edir.</a:t>
            </a:r>
          </a:p>
          <a:p>
            <a:pPr lvl="0" eaLnBrk="0" fontAlgn="base" hangingPunct="0">
              <a:spcBef>
                <a:spcPct val="0"/>
              </a:spcBef>
              <a:spcAft>
                <a:spcPct val="0"/>
              </a:spcAft>
              <a:buFontTx/>
              <a:buChar char="•"/>
            </a:pPr>
            <a:r>
              <a:rPr lang="az-Latn-AZ" altLang="ru-RU" b="1" dirty="0" smtClean="0">
                <a:solidFill>
                  <a:srgbClr val="C00000"/>
                </a:solidFill>
                <a:latin typeface="Arial" panose="020B0604020202020204" pitchFamily="34" charset="0"/>
              </a:rPr>
              <a:t>Hörmət və nəzakət</a:t>
            </a:r>
            <a:r>
              <a:rPr lang="az-Latn-AZ" altLang="ru-RU" b="1" dirty="0" smtClean="0">
                <a:latin typeface="Arial" panose="020B0604020202020204" pitchFamily="34" charset="0"/>
              </a:rPr>
              <a:t>: Rəsmi yazışmalarda və danışıqda qarşı tərəfə hörmət göstərilməsi vacibdir. "Xahiş edirəm", "zəhmət olmasa", "hörmətlə" kimi ifadələr geniş istifadə olunur.</a:t>
            </a:r>
          </a:p>
          <a:p>
            <a:pPr lvl="0" eaLnBrk="0" fontAlgn="base" hangingPunct="0">
              <a:spcBef>
                <a:spcPct val="0"/>
              </a:spcBef>
              <a:spcAft>
                <a:spcPct val="0"/>
              </a:spcAft>
              <a:buFontTx/>
              <a:buChar char="•"/>
            </a:pPr>
            <a:r>
              <a:rPr lang="az-Latn-AZ" altLang="ru-RU" b="1" dirty="0" smtClean="0">
                <a:solidFill>
                  <a:srgbClr val="C00000"/>
                </a:solidFill>
                <a:latin typeface="Arial" panose="020B0604020202020204" pitchFamily="34" charset="0"/>
              </a:rPr>
              <a:t>Standart ifadələr</a:t>
            </a:r>
            <a:r>
              <a:rPr lang="az-Latn-AZ" altLang="ru-RU" b="1" dirty="0" smtClean="0">
                <a:latin typeface="Arial" panose="020B0604020202020204" pitchFamily="34" charset="0"/>
              </a:rPr>
              <a:t>: Rəsmi işgüzar üslubda müəyyən standart və protokol ifadələrindən istifadə edilir. Məsələn, "Hörmətli cənab", "Əlavə məlumat üçün əlaqə saxlamağınız xahiş olunur" və s.</a:t>
            </a:r>
          </a:p>
          <a:p>
            <a:pPr lvl="0" eaLnBrk="0" fontAlgn="base" hangingPunct="0">
              <a:spcBef>
                <a:spcPct val="0"/>
              </a:spcBef>
              <a:spcAft>
                <a:spcPct val="0"/>
              </a:spcAft>
              <a:buFontTx/>
              <a:buChar char="•"/>
            </a:pPr>
            <a:r>
              <a:rPr lang="az-Latn-AZ" altLang="ru-RU" b="1" dirty="0" smtClean="0">
                <a:solidFill>
                  <a:srgbClr val="C00000"/>
                </a:solidFill>
                <a:latin typeface="Arial" panose="020B0604020202020204" pitchFamily="34" charset="0"/>
              </a:rPr>
              <a:t>Formal quruluş</a:t>
            </a:r>
            <a:r>
              <a:rPr lang="az-Latn-AZ" altLang="ru-RU" b="1" dirty="0" smtClean="0">
                <a:latin typeface="Arial" panose="020B0604020202020204" pitchFamily="34" charset="0"/>
              </a:rPr>
              <a:t>: Rəsmi yazışmalarda və sənədlərdə müəyyən formal quruluşlar mövcuddur. Məsələn, məktub yazıldıqda başlıq, tarix, salamlaşma, əsas mətn, yekun ifadə və imza hissələri.</a:t>
            </a:r>
          </a:p>
          <a:p>
            <a:pPr lvl="0" eaLnBrk="0" fontAlgn="base" hangingPunct="0">
              <a:spcBef>
                <a:spcPct val="0"/>
              </a:spcBef>
              <a:spcAft>
                <a:spcPct val="0"/>
              </a:spcAft>
              <a:buFontTx/>
              <a:buChar char="•"/>
            </a:pPr>
            <a:r>
              <a:rPr lang="az-Latn-AZ" altLang="ru-RU" b="1" dirty="0" smtClean="0">
                <a:solidFill>
                  <a:srgbClr val="C00000"/>
                </a:solidFill>
                <a:latin typeface="Arial" panose="020B0604020202020204" pitchFamily="34" charset="0"/>
              </a:rPr>
              <a:t>Rəsmi ifadələr və terminologiya</a:t>
            </a:r>
            <a:r>
              <a:rPr lang="az-Latn-AZ" altLang="ru-RU" b="1" dirty="0" smtClean="0">
                <a:latin typeface="Arial" panose="020B0604020202020204" pitchFamily="34" charset="0"/>
              </a:rPr>
              <a:t>: Rəsmi işgüzar üslubda çox vaxt spesifik terminlər və sahə ilə bağlı rəsmi ifadələrdən istifadə olunur.</a:t>
            </a:r>
            <a:endParaRPr lang="az-Latn-AZ" altLang="ru-RU" b="1" dirty="0">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0" y="24517"/>
            <a:ext cx="1680702" cy="962453"/>
          </a:xfrm>
          <a:prstGeom prst="rect">
            <a:avLst/>
          </a:prstGeom>
        </p:spPr>
      </p:pic>
    </p:spTree>
    <p:extLst>
      <p:ext uri="{BB962C8B-B14F-4D97-AF65-F5344CB8AC3E}">
        <p14:creationId xmlns:p14="http://schemas.microsoft.com/office/powerpoint/2010/main" val="360605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val 4"/>
          <p:cNvSpPr/>
          <p:nvPr/>
        </p:nvSpPr>
        <p:spPr>
          <a:xfrm>
            <a:off x="6676571" y="145143"/>
            <a:ext cx="4601029" cy="2017485"/>
          </a:xfrm>
          <a:prstGeom prst="ellipse">
            <a:avLst/>
          </a:prstGeom>
          <a:ln w="57150">
            <a:solidFill>
              <a:schemeClr val="tx1"/>
            </a:solidFill>
          </a:ln>
        </p:spPr>
        <p:style>
          <a:lnRef idx="1">
            <a:schemeClr val="accent1"/>
          </a:lnRef>
          <a:fillRef idx="1003">
            <a:schemeClr val="dk2"/>
          </a:fillRef>
          <a:effectRef idx="1">
            <a:schemeClr val="accent1"/>
          </a:effectRef>
          <a:fontRef idx="minor">
            <a:schemeClr val="dk1"/>
          </a:fontRef>
        </p:style>
        <p:txBody>
          <a:bodyPr rtlCol="0" anchor="ctr"/>
          <a:lstStyle/>
          <a:p>
            <a:pPr algn="ctr"/>
            <a:r>
              <a:rPr lang="az-Latn-AZ" b="1" dirty="0" smtClean="0">
                <a:solidFill>
                  <a:schemeClr val="bg1"/>
                </a:solidFill>
                <a:latin typeface="Arial Black" panose="020B0A04020102020204" pitchFamily="34" charset="0"/>
              </a:rPr>
              <a:t>DİPLOMATİK İŞGÜZAR ÜSLUB</a:t>
            </a:r>
            <a:endParaRPr lang="ru-RU" b="1" dirty="0">
              <a:solidFill>
                <a:schemeClr val="bg1"/>
              </a:solidFill>
              <a:latin typeface="Arial Black" panose="020B0A04020102020204" pitchFamily="34" charset="0"/>
            </a:endParaRPr>
          </a:p>
        </p:txBody>
      </p:sp>
      <p:sp>
        <p:nvSpPr>
          <p:cNvPr id="4" name="Notched Right Arrow 3"/>
          <p:cNvSpPr/>
          <p:nvPr/>
        </p:nvSpPr>
        <p:spPr>
          <a:xfrm>
            <a:off x="217714" y="1393371"/>
            <a:ext cx="5892800" cy="3381829"/>
          </a:xfrm>
          <a:prstGeom prst="notchedRightArrow">
            <a:avLst/>
          </a:prstGeom>
          <a:ln/>
        </p:spPr>
        <p:style>
          <a:lnRef idx="1">
            <a:schemeClr val="accent5"/>
          </a:lnRef>
          <a:fillRef idx="1003">
            <a:schemeClr val="dk2"/>
          </a:fillRef>
          <a:effectRef idx="1">
            <a:schemeClr val="accent5"/>
          </a:effectRef>
          <a:fontRef idx="minor">
            <a:schemeClr val="dk1"/>
          </a:fontRef>
        </p:style>
        <p:txBody>
          <a:bodyPr rtlCol="0" anchor="ctr"/>
          <a:lstStyle/>
          <a:p>
            <a:pPr algn="ctr"/>
            <a:r>
              <a:rPr lang="az-Latn-AZ" sz="2400" b="1" dirty="0" smtClean="0">
                <a:solidFill>
                  <a:schemeClr val="bg1"/>
                </a:solidFill>
                <a:latin typeface="Arial Black" panose="020B0A04020102020204" pitchFamily="34" charset="0"/>
              </a:rPr>
              <a:t>RƏSMİ-İŞGÜZAR ÜSLUBUN ALT ÜSLUBLARI</a:t>
            </a:r>
            <a:endParaRPr lang="ru-RU" sz="2400" b="1" dirty="0">
              <a:solidFill>
                <a:schemeClr val="bg1"/>
              </a:solidFill>
              <a:latin typeface="Arial Black" panose="020B0A04020102020204" pitchFamily="34" charset="0"/>
            </a:endParaRPr>
          </a:p>
        </p:txBody>
      </p:sp>
      <p:sp>
        <p:nvSpPr>
          <p:cNvPr id="6" name="Oval 5"/>
          <p:cNvSpPr/>
          <p:nvPr/>
        </p:nvSpPr>
        <p:spPr>
          <a:xfrm>
            <a:off x="6705599" y="2307772"/>
            <a:ext cx="4601029" cy="2191658"/>
          </a:xfrm>
          <a:prstGeom prst="ellipse">
            <a:avLst/>
          </a:prstGeom>
          <a:ln w="57150">
            <a:solidFill>
              <a:schemeClr val="tx1"/>
            </a:solidFill>
          </a:ln>
        </p:spPr>
        <p:style>
          <a:lnRef idx="3">
            <a:schemeClr val="lt1"/>
          </a:lnRef>
          <a:fillRef idx="1003">
            <a:schemeClr val="dk2"/>
          </a:fillRef>
          <a:effectRef idx="1">
            <a:schemeClr val="accent1"/>
          </a:effectRef>
          <a:fontRef idx="minor">
            <a:schemeClr val="lt1"/>
          </a:fontRef>
        </p:style>
        <p:txBody>
          <a:bodyPr rtlCol="0" anchor="ctr"/>
          <a:lstStyle/>
          <a:p>
            <a:pPr algn="ctr"/>
            <a:r>
              <a:rPr lang="az-Latn-AZ" b="1" dirty="0" smtClean="0">
                <a:latin typeface="Arial Black" panose="020B0A04020102020204" pitchFamily="34" charset="0"/>
              </a:rPr>
              <a:t>SƏNƏDLİ İŞGÜZAR ÜSLUB</a:t>
            </a:r>
            <a:endParaRPr lang="ru-RU" b="1" dirty="0">
              <a:latin typeface="Arial Black" panose="020B0A04020102020204" pitchFamily="34" charset="0"/>
            </a:endParaRPr>
          </a:p>
        </p:txBody>
      </p:sp>
      <p:sp>
        <p:nvSpPr>
          <p:cNvPr id="7" name="Oval 6"/>
          <p:cNvSpPr/>
          <p:nvPr/>
        </p:nvSpPr>
        <p:spPr>
          <a:xfrm>
            <a:off x="6705599" y="4644574"/>
            <a:ext cx="4630057" cy="1923141"/>
          </a:xfrm>
          <a:prstGeom prst="ellipse">
            <a:avLst/>
          </a:prstGeom>
          <a:ln w="57150">
            <a:solidFill>
              <a:schemeClr val="tx1"/>
            </a:solidFill>
          </a:ln>
        </p:spPr>
        <p:style>
          <a:lnRef idx="2">
            <a:schemeClr val="accent4">
              <a:shade val="50000"/>
            </a:schemeClr>
          </a:lnRef>
          <a:fillRef idx="1003">
            <a:schemeClr val="dk2"/>
          </a:fillRef>
          <a:effectRef idx="0">
            <a:schemeClr val="accent4"/>
          </a:effectRef>
          <a:fontRef idx="minor">
            <a:schemeClr val="lt1"/>
          </a:fontRef>
        </p:style>
        <p:txBody>
          <a:bodyPr rtlCol="0" anchor="ctr"/>
          <a:lstStyle/>
          <a:p>
            <a:pPr algn="ctr"/>
            <a:r>
              <a:rPr lang="az-Latn-AZ" b="1" dirty="0" smtClean="0">
                <a:latin typeface="Arial Black" panose="020B0A04020102020204" pitchFamily="34" charset="0"/>
              </a:rPr>
              <a:t>GÜNDƏLİK İŞGÜZAR ÜSLUB</a:t>
            </a:r>
            <a:endParaRPr lang="ru-RU" b="1" dirty="0">
              <a:latin typeface="Arial Black" panose="020B0A04020102020204" pitchFamily="34" charset="0"/>
            </a:endParaRPr>
          </a:p>
        </p:txBody>
      </p:sp>
      <p:pic>
        <p:nvPicPr>
          <p:cNvPr id="2" name="Picture 1"/>
          <p:cNvPicPr>
            <a:picLocks noChangeAspect="1"/>
          </p:cNvPicPr>
          <p:nvPr/>
        </p:nvPicPr>
        <p:blipFill>
          <a:blip r:embed="rId2"/>
          <a:stretch>
            <a:fillRect/>
          </a:stretch>
        </p:blipFill>
        <p:spPr>
          <a:xfrm>
            <a:off x="0" y="0"/>
            <a:ext cx="1443837" cy="885371"/>
          </a:xfrm>
          <a:prstGeom prst="rect">
            <a:avLst/>
          </a:prstGeom>
        </p:spPr>
      </p:pic>
    </p:spTree>
    <p:extLst>
      <p:ext uri="{BB962C8B-B14F-4D97-AF65-F5344CB8AC3E}">
        <p14:creationId xmlns:p14="http://schemas.microsoft.com/office/powerpoint/2010/main" val="40856524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8" name="Picture 4" descr="Bədən Dili &gt; Ünsiyyətdə Bədən Dili - Cazibə Qüvvəs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433" y="2180319"/>
            <a:ext cx="5171168" cy="394470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168570" y="2180319"/>
            <a:ext cx="6197600" cy="3139321"/>
          </a:xfrm>
          <a:prstGeom prst="rect">
            <a:avLst/>
          </a:prstGeom>
        </p:spPr>
        <p:txBody>
          <a:bodyPr wrap="square">
            <a:spAutoFit/>
          </a:bodyPr>
          <a:lstStyle/>
          <a:p>
            <a:r>
              <a:rPr lang="az-Latn-AZ" b="1" dirty="0" smtClean="0">
                <a:latin typeface="Georgia" panose="02040502050405020303" pitchFamily="18" charset="0"/>
              </a:rPr>
              <a:t>Diplomatik işgüzar üslub xüsusi bir üslubdur ki, həm rəsmi, həm də qeyri-rəsmi münasibətlərdə istifadə olunur və əsasən dövlətlərarası və beynəlxalq əlaqələrdə tətbiq edilir. Bu üslubun məqsədi qarşılıqlı anlaşmanı təmin etmək, təmkinli və səmimi münasibətlər qurmaq, eyni zamanda işgüzar və diplomatik etikaya riayət etməkdir. Diplomatik işgüzar üslub həm yazılı, həm də şifahi ünsiyyətdə istifadə oluna bilər və digər işgüzar üslublardan fərqli olaraq daha çox siyasi və beynəlxalq mühitdə tətbiq edilir.</a:t>
            </a:r>
            <a:endParaRPr lang="ru-RU" b="1" dirty="0">
              <a:latin typeface="Georgia" panose="02040502050405020303" pitchFamily="18" charset="0"/>
            </a:endParaRPr>
          </a:p>
        </p:txBody>
      </p:sp>
      <p:sp>
        <p:nvSpPr>
          <p:cNvPr id="3" name="Rectangle 2"/>
          <p:cNvSpPr/>
          <p:nvPr/>
        </p:nvSpPr>
        <p:spPr>
          <a:xfrm>
            <a:off x="1763484" y="16868"/>
            <a:ext cx="8810171" cy="1204685"/>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z-Latn-AZ" sz="4000" b="1" dirty="0" smtClean="0">
                <a:solidFill>
                  <a:schemeClr val="tx1"/>
                </a:solidFill>
                <a:latin typeface="Algerian" panose="04020705040A02060702" pitchFamily="82" charset="0"/>
              </a:rPr>
              <a:t>DİPLOMATİK İŞGÜZAR ÜSLUB</a:t>
            </a:r>
            <a:endParaRPr lang="ru-RU" sz="4000" b="1" dirty="0">
              <a:solidFill>
                <a:schemeClr val="tx1"/>
              </a:solidFill>
            </a:endParaRPr>
          </a:p>
        </p:txBody>
      </p:sp>
      <p:pic>
        <p:nvPicPr>
          <p:cNvPr id="4" name="Picture 3"/>
          <p:cNvPicPr>
            <a:picLocks noChangeAspect="1"/>
          </p:cNvPicPr>
          <p:nvPr/>
        </p:nvPicPr>
        <p:blipFill>
          <a:blip r:embed="rId3"/>
          <a:stretch>
            <a:fillRect/>
          </a:stretch>
        </p:blipFill>
        <p:spPr>
          <a:xfrm>
            <a:off x="13537" y="26478"/>
            <a:ext cx="1566344" cy="960493"/>
          </a:xfrm>
          <a:prstGeom prst="rect">
            <a:avLst/>
          </a:prstGeom>
        </p:spPr>
      </p:pic>
    </p:spTree>
    <p:extLst>
      <p:ext uri="{BB962C8B-B14F-4D97-AF65-F5344CB8AC3E}">
        <p14:creationId xmlns:p14="http://schemas.microsoft.com/office/powerpoint/2010/main" val="1857716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903685" y="0"/>
            <a:ext cx="7185297" cy="1325563"/>
          </a:xfrm>
        </p:spPr>
        <p:txBody>
          <a:bodyPr>
            <a:normAutofit/>
          </a:bodyPr>
          <a:lstStyle/>
          <a:p>
            <a:r>
              <a:rPr lang="az-Latn-AZ" sz="3200" b="1" dirty="0" smtClean="0">
                <a:latin typeface="Algerian" panose="04020705040A02060702" pitchFamily="82" charset="0"/>
              </a:rPr>
              <a:t>DİPLOMATİK-İŞGÜZAR ÜSLUBUN ƏSAS XÜSUSİYYƏTLƏRİ</a:t>
            </a:r>
            <a:endParaRPr lang="ru-RU" sz="3200" b="1" dirty="0"/>
          </a:p>
        </p:txBody>
      </p:sp>
      <p:sp>
        <p:nvSpPr>
          <p:cNvPr id="4" name="Rectangle 2"/>
          <p:cNvSpPr>
            <a:spLocks noChangeArrowheads="1"/>
          </p:cNvSpPr>
          <p:nvPr/>
        </p:nvSpPr>
        <p:spPr bwMode="auto">
          <a:xfrm>
            <a:off x="431617" y="1087189"/>
            <a:ext cx="11279415"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rgbClr val="C00000"/>
                </a:solidFill>
                <a:effectLst/>
                <a:latin typeface="Arial" panose="020B0604020202020204" pitchFamily="34" charset="0"/>
              </a:rPr>
              <a:t>Nəzakət və hörmət</a:t>
            </a:r>
            <a:r>
              <a:rPr kumimoji="0" lang="az-Latn-AZ" altLang="ru-RU" b="1" i="0" u="none" strike="noStrike" cap="none" normalizeH="0" baseline="0" dirty="0" smtClean="0">
                <a:ln>
                  <a:noFill/>
                </a:ln>
                <a:solidFill>
                  <a:schemeClr val="tx1"/>
                </a:solidFill>
                <a:effectLst/>
                <a:latin typeface="Arial" panose="020B0604020202020204" pitchFamily="34" charset="0"/>
              </a:rPr>
              <a:t/>
            </a:r>
            <a:br>
              <a:rPr kumimoji="0" lang="az-Latn-AZ" altLang="ru-RU" b="1" i="0" u="none" strike="noStrike" cap="none" normalizeH="0" baseline="0" dirty="0" smtClean="0">
                <a:ln>
                  <a:noFill/>
                </a:ln>
                <a:solidFill>
                  <a:schemeClr val="tx1"/>
                </a:solidFill>
                <a:effectLst/>
                <a:latin typeface="Arial" panose="020B0604020202020204" pitchFamily="34" charset="0"/>
              </a:rPr>
            </a:br>
            <a:r>
              <a:rPr kumimoji="0" lang="az-Latn-AZ" altLang="ru-RU" b="1" i="0" u="none" strike="noStrike" cap="none" normalizeH="0" baseline="0" dirty="0" smtClean="0">
                <a:ln>
                  <a:noFill/>
                </a:ln>
                <a:solidFill>
                  <a:schemeClr val="tx1"/>
                </a:solidFill>
                <a:effectLst/>
                <a:latin typeface="Arial" panose="020B0604020202020204" pitchFamily="34" charset="0"/>
              </a:rPr>
              <a:t>Diplomatik üslubda istifadə olunan dil həmişə nəzakətli və hörmətlidir. İfadələr, xüsusən rəsmi yazışmalarda, formalaşdırılır. "Sizə bu məsələ ilə bağlı narahatlıq yaratdığım üçün üzr istəyirəm"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tx1"/>
                </a:solidFill>
                <a:effectLst/>
                <a:latin typeface="Arial" panose="020B0604020202020204" pitchFamily="34" charset="0"/>
              </a:rPr>
              <a:t>"Əgər qarşı tərəfdən əlavə təkliflər varsa, onları müzakirə etməyə hazıram."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rgbClr val="C00000"/>
                </a:solidFill>
                <a:effectLst/>
                <a:latin typeface="Arial" panose="020B0604020202020204" pitchFamily="34" charset="0"/>
              </a:rPr>
              <a:t>Mütəvazi və qeyri-dolaylı ifadələr</a:t>
            </a:r>
            <a:r>
              <a:rPr kumimoji="0" lang="az-Latn-AZ" altLang="ru-RU" b="1" i="0" u="none" strike="noStrike" cap="none" normalizeH="0" baseline="0" dirty="0" smtClean="0">
                <a:ln>
                  <a:noFill/>
                </a:ln>
                <a:solidFill>
                  <a:schemeClr val="tx1"/>
                </a:solidFill>
                <a:effectLst/>
                <a:latin typeface="Arial" panose="020B0604020202020204" pitchFamily="34" charset="0"/>
              </a:rPr>
              <a:t/>
            </a:r>
            <a:br>
              <a:rPr kumimoji="0" lang="az-Latn-AZ" altLang="ru-RU" b="1" i="0" u="none" strike="noStrike" cap="none" normalizeH="0" baseline="0" dirty="0" smtClean="0">
                <a:ln>
                  <a:noFill/>
                </a:ln>
                <a:solidFill>
                  <a:schemeClr val="tx1"/>
                </a:solidFill>
                <a:effectLst/>
                <a:latin typeface="Arial" panose="020B0604020202020204" pitchFamily="34" charset="0"/>
              </a:rPr>
            </a:br>
            <a:r>
              <a:rPr kumimoji="0" lang="az-Latn-AZ" altLang="ru-RU" b="1" i="0" u="none" strike="noStrike" cap="none" normalizeH="0" baseline="0" dirty="0" smtClean="0">
                <a:ln>
                  <a:noFill/>
                </a:ln>
                <a:solidFill>
                  <a:schemeClr val="tx1"/>
                </a:solidFill>
                <a:effectLst/>
                <a:latin typeface="Arial" panose="020B0604020202020204" pitchFamily="34" charset="0"/>
              </a:rPr>
              <a:t>Diplomatik üslubda birbaşa və sərt ifadələrdən qaçılır. Bunun əvəzinə, mülayim və qeyri-dolayı ifadələrdən istifadə olunur ki, bu da müzakirə edilən məsələnin həlli üçün daha səmimi və qəbul edilən bir mühit yaradır.</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b="1" i="0" u="none" strike="noStrike" cap="none" normalizeH="0" baseline="0" dirty="0" smtClean="0">
                <a:ln>
                  <a:noFill/>
                </a:ln>
                <a:solidFill>
                  <a:schemeClr val="tx1"/>
                </a:solidFill>
                <a:effectLst/>
                <a:latin typeface="Arial" panose="020B0604020202020204" pitchFamily="34" charset="0"/>
              </a:rPr>
              <a:t>Məsələn: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tx1"/>
                </a:solidFill>
                <a:effectLst/>
                <a:latin typeface="Arial" panose="020B0604020202020204" pitchFamily="34" charset="0"/>
              </a:rPr>
              <a:t>"Məncə, bu məsələyə daha ətraflı yanaşmaq faydalı olacaq."</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tx1"/>
                </a:solidFill>
                <a:effectLst/>
                <a:latin typeface="Arial" panose="020B0604020202020204" pitchFamily="34" charset="0"/>
              </a:rPr>
              <a:t>"Bu mövzu ilə bağlı daha geniş müzakirə etmək faydalı ola bilər."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rgbClr val="C00000"/>
                </a:solidFill>
                <a:effectLst/>
                <a:latin typeface="Arial" panose="020B0604020202020204" pitchFamily="34" charset="0"/>
              </a:rPr>
              <a:t>Səbr və anlayış</a:t>
            </a:r>
            <a:r>
              <a:rPr kumimoji="0" lang="az-Latn-AZ" altLang="ru-RU" b="1" i="0" u="none" strike="noStrike" cap="none" normalizeH="0" baseline="0" dirty="0" smtClean="0">
                <a:ln>
                  <a:noFill/>
                </a:ln>
                <a:solidFill>
                  <a:schemeClr val="tx1"/>
                </a:solidFill>
                <a:effectLst/>
                <a:latin typeface="Arial" panose="020B0604020202020204" pitchFamily="34" charset="0"/>
              </a:rPr>
              <a:t/>
            </a:r>
            <a:br>
              <a:rPr kumimoji="0" lang="az-Latn-AZ" altLang="ru-RU" b="1" i="0" u="none" strike="noStrike" cap="none" normalizeH="0" baseline="0" dirty="0" smtClean="0">
                <a:ln>
                  <a:noFill/>
                </a:ln>
                <a:solidFill>
                  <a:schemeClr val="tx1"/>
                </a:solidFill>
                <a:effectLst/>
                <a:latin typeface="Arial" panose="020B0604020202020204" pitchFamily="34" charset="0"/>
              </a:rPr>
            </a:br>
            <a:r>
              <a:rPr kumimoji="0" lang="az-Latn-AZ" altLang="ru-RU" b="1" i="0" u="none" strike="noStrike" cap="none" normalizeH="0" baseline="0" dirty="0" smtClean="0">
                <a:ln>
                  <a:noFill/>
                </a:ln>
                <a:solidFill>
                  <a:schemeClr val="tx1"/>
                </a:solidFill>
                <a:effectLst/>
                <a:latin typeface="Arial" panose="020B0604020202020204" pitchFamily="34" charset="0"/>
              </a:rPr>
              <a:t>Diplomatik yazışmalarda qarşı tərəfin mövqeyinə hörmətlə yanaşılır və səbr göstərilir. Bu üslub, məsələlərin və qarşıdurmaların zamanla və mərhələli şəkildə həll edilməsinə yönəlir, sürətli qərar verilməsi və ya zorla razılığa gəlməkdən qaçılır.</a:t>
            </a:r>
          </a:p>
          <a:p>
            <a:pPr marL="0" marR="0" lvl="0" indent="0" algn="l" defTabSz="914400" rtl="0" eaLnBrk="0" fontAlgn="base" latinLnBrk="0" hangingPunct="0">
              <a:lnSpc>
                <a:spcPct val="100000"/>
              </a:lnSpc>
              <a:spcBef>
                <a:spcPct val="0"/>
              </a:spcBef>
              <a:spcAft>
                <a:spcPct val="0"/>
              </a:spcAft>
              <a:buClrTx/>
              <a:buSzTx/>
              <a:buFontTx/>
              <a:buNone/>
              <a:tabLst/>
            </a:pPr>
            <a:r>
              <a:rPr kumimoji="0" lang="az-Latn-AZ" altLang="ru-RU" b="1" i="0" u="none" strike="noStrike" cap="none" normalizeH="0" baseline="0" dirty="0" smtClean="0">
                <a:ln>
                  <a:noFill/>
                </a:ln>
                <a:solidFill>
                  <a:schemeClr val="tx1"/>
                </a:solidFill>
                <a:effectLst/>
                <a:latin typeface="Arial" panose="020B0604020202020204" pitchFamily="34" charset="0"/>
              </a:rPr>
              <a:t>Məsələn: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tx1"/>
                </a:solidFill>
                <a:effectLst/>
                <a:latin typeface="Arial" panose="020B0604020202020204" pitchFamily="34" charset="0"/>
              </a:rPr>
              <a:t>"Bu məsələ ilə bağlı fikirlərinizin nə qədər dəyərli olduğunu başa düşürəm."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chemeClr val="tx1"/>
                </a:solidFill>
                <a:effectLst/>
                <a:latin typeface="Arial" panose="020B0604020202020204" pitchFamily="34" charset="0"/>
              </a:rPr>
              <a:t>"Bu təklifin sizin tərəfinizdən daha da qiymətləndirilməsini çox istərdik."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az-Latn-AZ" altLang="ru-RU" b="1" i="0" u="none" strike="noStrike" cap="none" normalizeH="0" baseline="0" dirty="0" smtClean="0">
                <a:ln>
                  <a:noFill/>
                </a:ln>
                <a:solidFill>
                  <a:srgbClr val="C00000"/>
                </a:solidFill>
                <a:effectLst/>
                <a:latin typeface="Arial" panose="020B0604020202020204" pitchFamily="34" charset="0"/>
              </a:rPr>
              <a:t>Neytral və balanslı dil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0" y="5464"/>
            <a:ext cx="2038032" cy="1081725"/>
          </a:xfrm>
          <a:prstGeom prst="rect">
            <a:avLst/>
          </a:prstGeom>
        </p:spPr>
      </p:pic>
    </p:spTree>
    <p:extLst>
      <p:ext uri="{BB962C8B-B14F-4D97-AF65-F5344CB8AC3E}">
        <p14:creationId xmlns:p14="http://schemas.microsoft.com/office/powerpoint/2010/main" val="2963174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3"/>
          <p:cNvSpPr/>
          <p:nvPr/>
        </p:nvSpPr>
        <p:spPr>
          <a:xfrm>
            <a:off x="2126343" y="-19370"/>
            <a:ext cx="9100457" cy="1335314"/>
          </a:xfrm>
          <a:prstGeom prst="rect">
            <a:avLst/>
          </a:prstGeom>
          <a:solidFill>
            <a:schemeClr val="accent6">
              <a:lumMod val="60000"/>
              <a:lumOff val="40000"/>
            </a:schemeClr>
          </a:solidFill>
        </p:spPr>
        <p:style>
          <a:lnRef idx="3">
            <a:schemeClr val="lt1"/>
          </a:lnRef>
          <a:fillRef idx="1">
            <a:schemeClr val="accent6"/>
          </a:fillRef>
          <a:effectRef idx="1">
            <a:schemeClr val="accent6"/>
          </a:effectRef>
          <a:fontRef idx="minor">
            <a:schemeClr val="lt1"/>
          </a:fontRef>
        </p:style>
        <p:txBody>
          <a:bodyPr rtlCol="0" anchor="ctr"/>
          <a:lstStyle/>
          <a:p>
            <a:pPr algn="ctr"/>
            <a:r>
              <a:rPr lang="az-Latn-AZ" sz="4000" b="1" dirty="0" smtClean="0">
                <a:solidFill>
                  <a:schemeClr val="tx1"/>
                </a:solidFill>
                <a:latin typeface="Algerian" panose="04020705040A02060702" pitchFamily="82" charset="0"/>
              </a:rPr>
              <a:t>SƏNƏDLİ-İŞGÜZAR ÜSLUB</a:t>
            </a:r>
            <a:endParaRPr lang="ru-RU" sz="4000" b="1" dirty="0">
              <a:solidFill>
                <a:schemeClr val="tx1"/>
              </a:solidFill>
            </a:endParaRPr>
          </a:p>
        </p:txBody>
      </p:sp>
      <p:pic>
        <p:nvPicPr>
          <p:cNvPr id="1026" name="Picture 2" descr="Rəsmi üsluba aid 10 test hazırlama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1118" y="1451429"/>
            <a:ext cx="4880882" cy="366463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80572" y="1529418"/>
            <a:ext cx="6096000" cy="2246769"/>
          </a:xfrm>
          <a:prstGeom prst="rect">
            <a:avLst/>
          </a:prstGeom>
        </p:spPr>
        <p:txBody>
          <a:bodyPr>
            <a:spAutoFit/>
          </a:bodyPr>
          <a:lstStyle/>
          <a:p>
            <a:r>
              <a:rPr lang="az-Latn-AZ" sz="2000" b="1" dirty="0"/>
              <a:t>Sənədli işgüzar üslub, iş və biznes sahəsində yazılmış yazıların, mətnlərin tərtibində istifadə edilən bir üslubdur. Bu üslub, aydınlıq, rəsmi və peşəkar ifadə tərzi ilə xarakterizə olunur. Sənədli üslubun əsas məqsədi qarşı tərəfə dəqiq və anlaşılır məlumat çatdırmaq, həmçinin hüquqi və təşkilati baxımdan düzgünlük və etibarlılığı təmin etməkdir.</a:t>
            </a:r>
            <a:endParaRPr lang="ru-RU" sz="2000" b="1" dirty="0"/>
          </a:p>
        </p:txBody>
      </p:sp>
      <p:sp>
        <p:nvSpPr>
          <p:cNvPr id="6" name="Rectangle 5"/>
          <p:cNvSpPr/>
          <p:nvPr/>
        </p:nvSpPr>
        <p:spPr>
          <a:xfrm>
            <a:off x="580572" y="3776187"/>
            <a:ext cx="6096000" cy="2215991"/>
          </a:xfrm>
          <a:prstGeom prst="rect">
            <a:avLst/>
          </a:prstGeom>
        </p:spPr>
        <p:txBody>
          <a:bodyPr>
            <a:spAutoFit/>
          </a:bodyPr>
          <a:lstStyle/>
          <a:p>
            <a:pPr algn="just">
              <a:lnSpc>
                <a:spcPct val="115000"/>
              </a:lnSpc>
              <a:spcAft>
                <a:spcPts val="0"/>
              </a:spcAft>
            </a:pPr>
            <a:r>
              <a:rPr lang="az-Latn-AZ" sz="2000" b="1" dirty="0">
                <a:latin typeface="Times New Roman" panose="02020603050405020304" pitchFamily="18" charset="0"/>
                <a:ea typeface="Times New Roman" panose="02020603050405020304" pitchFamily="18" charset="0"/>
              </a:rPr>
              <a:t>Sənədli işgüzar alt üslub (və ya "qanunlar dili"nin alt üslubu) qanunların, mülki aktların, fərmanların, məcəllələrin, konstitusiyaların dilidir. Bu alt üslub dövlət və ictimai təşkilatların və vətəndaşların vəzifəli şəxs olaraq (rəsmi sənədlərində) fəaliyyətində istifadə olunur.</a:t>
            </a:r>
            <a:r>
              <a:rPr lang="az-Latn-AZ" sz="2000" b="1" i="1" dirty="0">
                <a:latin typeface="Times New Roman" panose="02020603050405020304" pitchFamily="18" charset="0"/>
                <a:ea typeface="Times New Roman" panose="02020603050405020304" pitchFamily="18" charset="0"/>
              </a:rPr>
              <a:t> </a:t>
            </a:r>
            <a:endParaRPr lang="ru-RU" sz="2000" b="1" dirty="0">
              <a:effectLst/>
              <a:latin typeface="Times New Roman" panose="02020603050405020304" pitchFamily="18" charset="0"/>
              <a:ea typeface="Times New Roman" panose="02020603050405020304" pitchFamily="18" charset="0"/>
            </a:endParaRPr>
          </a:p>
        </p:txBody>
      </p:sp>
      <p:pic>
        <p:nvPicPr>
          <p:cNvPr id="7" name="Picture 6"/>
          <p:cNvPicPr>
            <a:picLocks noChangeAspect="1"/>
          </p:cNvPicPr>
          <p:nvPr/>
        </p:nvPicPr>
        <p:blipFill>
          <a:blip r:embed="rId3"/>
          <a:stretch>
            <a:fillRect/>
          </a:stretch>
        </p:blipFill>
        <p:spPr>
          <a:xfrm>
            <a:off x="-1" y="77375"/>
            <a:ext cx="2126343" cy="1141825"/>
          </a:xfrm>
          <a:prstGeom prst="rect">
            <a:avLst/>
          </a:prstGeom>
        </p:spPr>
      </p:pic>
    </p:spTree>
    <p:extLst>
      <p:ext uri="{BB962C8B-B14F-4D97-AF65-F5344CB8AC3E}">
        <p14:creationId xmlns:p14="http://schemas.microsoft.com/office/powerpoint/2010/main" val="2286299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252028" y="-120990"/>
            <a:ext cx="5809343" cy="1325563"/>
          </a:xfrm>
        </p:spPr>
        <p:txBody>
          <a:bodyPr>
            <a:normAutofit/>
          </a:bodyPr>
          <a:lstStyle/>
          <a:p>
            <a:r>
              <a:rPr lang="az-Latn-AZ" sz="2800" b="1" dirty="0" smtClean="0">
                <a:latin typeface="Algerian" panose="04020705040A02060702" pitchFamily="82" charset="0"/>
              </a:rPr>
              <a:t>SƏNƏDLİ-İŞGÜZAR ÜSLUBUN ƏSAS XÜSUSİYYƏTLƏRİ</a:t>
            </a:r>
            <a:endParaRPr lang="ru-RU" sz="2800" b="1" dirty="0"/>
          </a:p>
        </p:txBody>
      </p:sp>
      <p:sp>
        <p:nvSpPr>
          <p:cNvPr id="3" name="Rectangle 2"/>
          <p:cNvSpPr/>
          <p:nvPr/>
        </p:nvSpPr>
        <p:spPr>
          <a:xfrm>
            <a:off x="0" y="895010"/>
            <a:ext cx="12061371" cy="6463308"/>
          </a:xfrm>
          <a:prstGeom prst="rect">
            <a:avLst/>
          </a:prstGeom>
        </p:spPr>
        <p:txBody>
          <a:bodyPr wrap="square">
            <a:spAutoFit/>
          </a:bodyPr>
          <a:lstStyle/>
          <a:p>
            <a:pPr marL="285750" indent="-285750">
              <a:buFont typeface="Wingdings" panose="05000000000000000000" pitchFamily="2" charset="2"/>
              <a:buChar char="q"/>
            </a:pPr>
            <a:r>
              <a:rPr lang="az-Latn-AZ" b="1" dirty="0"/>
              <a:t>1. </a:t>
            </a:r>
            <a:r>
              <a:rPr lang="az-Latn-AZ" b="1" dirty="0">
                <a:solidFill>
                  <a:srgbClr val="C00000"/>
                </a:solidFill>
              </a:rPr>
              <a:t>Rəsmi və ciddi ton</a:t>
            </a:r>
          </a:p>
          <a:p>
            <a:pPr marL="285750" indent="-285750">
              <a:buFont typeface="Wingdings" panose="05000000000000000000" pitchFamily="2" charset="2"/>
              <a:buChar char="q"/>
            </a:pPr>
            <a:r>
              <a:rPr lang="az-Latn-AZ" b="1" dirty="0"/>
              <a:t>Sənədli işgüzar üslubda istifadə olunan dil rəsmi, ciddi və neytraldır. Təsadüfi ifadələr və emosional tonlardan qaçınmaq lazımdır.</a:t>
            </a:r>
          </a:p>
          <a:p>
            <a:pPr marL="285750" indent="-285750">
              <a:buFont typeface="Wingdings" panose="05000000000000000000" pitchFamily="2" charset="2"/>
              <a:buChar char="q"/>
            </a:pPr>
            <a:r>
              <a:rPr lang="az-Latn-AZ" b="1" dirty="0"/>
              <a:t>2. </a:t>
            </a:r>
            <a:r>
              <a:rPr lang="az-Latn-AZ" b="1" dirty="0">
                <a:solidFill>
                  <a:srgbClr val="C00000"/>
                </a:solidFill>
              </a:rPr>
              <a:t>Aydınlıq və dəqiqlik</a:t>
            </a:r>
          </a:p>
          <a:p>
            <a:pPr marL="285750" indent="-285750">
              <a:buFont typeface="Wingdings" panose="05000000000000000000" pitchFamily="2" charset="2"/>
              <a:buChar char="q"/>
            </a:pPr>
            <a:r>
              <a:rPr lang="az-Latn-AZ" b="1" dirty="0"/>
              <a:t>Yazıda qeyri-dəqiq və qarışıq ifadələrdən, çoxsaylı sinonimlərdən və anlamını itirə biləcək sözlərdən istifadə olunmamalıdır. Məqsəd məlumatı qısa və dəqiq şəkildə təqdim etməkdir.</a:t>
            </a:r>
          </a:p>
          <a:p>
            <a:pPr marL="285750" indent="-285750">
              <a:buFont typeface="Wingdings" panose="05000000000000000000" pitchFamily="2" charset="2"/>
              <a:buChar char="q"/>
            </a:pPr>
            <a:r>
              <a:rPr lang="az-Latn-AZ" b="1" dirty="0"/>
              <a:t>3. </a:t>
            </a:r>
            <a:r>
              <a:rPr lang="az-Latn-AZ" b="1" dirty="0">
                <a:solidFill>
                  <a:srgbClr val="C00000"/>
                </a:solidFill>
              </a:rPr>
              <a:t>Peşəkar dil</a:t>
            </a:r>
          </a:p>
          <a:p>
            <a:pPr marL="285750" indent="-285750">
              <a:buFont typeface="Wingdings" panose="05000000000000000000" pitchFamily="2" charset="2"/>
              <a:buChar char="q"/>
            </a:pPr>
            <a:r>
              <a:rPr lang="az-Latn-AZ" b="1" dirty="0"/>
              <a:t>Sənədli üslubda, həmçinin peşəkar dillə yazılır. Sənədin mövzusuna uyğun olaraq müəyyən terminlərdən istifadə edilir. Həmçinin, cümlələr, qaydalar və strukturlar rəsmi qaydalara uyğun olmalıdır.</a:t>
            </a:r>
          </a:p>
          <a:p>
            <a:pPr marL="285750" indent="-285750">
              <a:buFont typeface="Wingdings" panose="05000000000000000000" pitchFamily="2" charset="2"/>
              <a:buChar char="q"/>
            </a:pPr>
            <a:r>
              <a:rPr lang="az-Latn-AZ" b="1" dirty="0"/>
              <a:t>4. </a:t>
            </a:r>
            <a:r>
              <a:rPr lang="az-Latn-AZ" b="1" dirty="0">
                <a:solidFill>
                  <a:srgbClr val="C00000"/>
                </a:solidFill>
              </a:rPr>
              <a:t>Məqsəd yönümlülük</a:t>
            </a:r>
          </a:p>
          <a:p>
            <a:pPr marL="285750" indent="-285750">
              <a:buFont typeface="Wingdings" panose="05000000000000000000" pitchFamily="2" charset="2"/>
              <a:buChar char="q"/>
            </a:pPr>
            <a:r>
              <a:rPr lang="az-Latn-AZ" b="1" dirty="0"/>
              <a:t>Yazının məqsədi, istər məlumat vermək, istərsə də təklif və ya qərar qəbul etmək olsun, yazının əsas ideyasını oxucuya birbaşa və aydın şəkildə çatdırmaqdır.</a:t>
            </a:r>
          </a:p>
          <a:p>
            <a:pPr marL="285750" indent="-285750">
              <a:buFont typeface="Wingdings" panose="05000000000000000000" pitchFamily="2" charset="2"/>
              <a:buChar char="q"/>
            </a:pPr>
            <a:r>
              <a:rPr lang="az-Latn-AZ" b="1" dirty="0"/>
              <a:t>5. </a:t>
            </a:r>
            <a:r>
              <a:rPr lang="az-Latn-AZ" b="1" dirty="0">
                <a:solidFill>
                  <a:srgbClr val="C00000"/>
                </a:solidFill>
              </a:rPr>
              <a:t>Qaydalara uyğunluq</a:t>
            </a:r>
          </a:p>
          <a:p>
            <a:pPr marL="285750" indent="-285750">
              <a:buFont typeface="Wingdings" panose="05000000000000000000" pitchFamily="2" charset="2"/>
              <a:buChar char="q"/>
            </a:pPr>
            <a:r>
              <a:rPr lang="az-Latn-AZ" b="1" dirty="0"/>
              <a:t>Əgər sənəd hüquqi və ya rəsmi məqsədlər üçün hazırlanırsa, sənədin formatı, strukturu və məzmunu mövcud qaydalara və normalara uyğun olmalıdır. Bu, yazının etibarlılığını artırır.</a:t>
            </a:r>
          </a:p>
          <a:p>
            <a:pPr marL="285750" indent="-285750">
              <a:buFont typeface="Wingdings" panose="05000000000000000000" pitchFamily="2" charset="2"/>
              <a:buChar char="q"/>
            </a:pPr>
            <a:r>
              <a:rPr lang="az-Latn-AZ" b="1" dirty="0"/>
              <a:t>6. </a:t>
            </a:r>
            <a:r>
              <a:rPr lang="az-Latn-AZ" b="1" dirty="0">
                <a:solidFill>
                  <a:srgbClr val="C00000"/>
                </a:solidFill>
              </a:rPr>
              <a:t>Formal müraciət və üslub</a:t>
            </a:r>
          </a:p>
          <a:p>
            <a:pPr marL="285750" indent="-285750">
              <a:buFont typeface="Wingdings" panose="05000000000000000000" pitchFamily="2" charset="2"/>
              <a:buChar char="q"/>
            </a:pPr>
            <a:r>
              <a:rPr lang="az-Latn-AZ" b="1" dirty="0"/>
              <a:t>Sənədli üslubda insanlar arasında müraciətlər, adətən, rəsmi şəkildə edilir. Məsələn, "Hörmətli cənab/cənablar", "Əziz müştərimiz", "Dəyərli əməkdaşlar" kimi müraciətlər geniş istifadə olunur.</a:t>
            </a:r>
          </a:p>
          <a:p>
            <a:pPr marL="285750" indent="-285750">
              <a:buFont typeface="Wingdings" panose="05000000000000000000" pitchFamily="2" charset="2"/>
              <a:buChar char="q"/>
            </a:pPr>
            <a:r>
              <a:rPr lang="az-Latn-AZ" b="1" dirty="0"/>
              <a:t>7. </a:t>
            </a:r>
            <a:r>
              <a:rPr lang="az-Latn-AZ" b="1" dirty="0">
                <a:solidFill>
                  <a:srgbClr val="C00000"/>
                </a:solidFill>
              </a:rPr>
              <a:t>Strukturlaşdırma</a:t>
            </a:r>
          </a:p>
          <a:p>
            <a:pPr marL="285750" indent="-285750">
              <a:buFont typeface="Wingdings" panose="05000000000000000000" pitchFamily="2" charset="2"/>
              <a:buChar char="q"/>
            </a:pPr>
            <a:r>
              <a:rPr lang="az-Latn-AZ" b="1" dirty="0"/>
              <a:t>Sənədlər adətən başlıq, giriş, əsas mətn və nəticə və ya yekunlaşdırma bölmələrinə ayrılır. Həmçinin, sənəddə vacib məlumatlar bullet-punktlar, altbaşlıqlar və qrafiklər vasitəsilə təqdim oluna bilər.</a:t>
            </a:r>
          </a:p>
          <a:p>
            <a:endParaRPr lang="az-Latn-AZ" b="1" dirty="0"/>
          </a:p>
          <a:p>
            <a:endParaRPr lang="az-Latn-AZ" b="1" dirty="0"/>
          </a:p>
        </p:txBody>
      </p:sp>
      <p:pic>
        <p:nvPicPr>
          <p:cNvPr id="5" name="Picture 4"/>
          <p:cNvPicPr>
            <a:picLocks noChangeAspect="1"/>
          </p:cNvPicPr>
          <p:nvPr/>
        </p:nvPicPr>
        <p:blipFill>
          <a:blip r:embed="rId2"/>
          <a:stretch>
            <a:fillRect/>
          </a:stretch>
        </p:blipFill>
        <p:spPr>
          <a:xfrm>
            <a:off x="0" y="58352"/>
            <a:ext cx="1676400" cy="889782"/>
          </a:xfrm>
          <a:prstGeom prst="rect">
            <a:avLst/>
          </a:prstGeom>
        </p:spPr>
      </p:pic>
    </p:spTree>
    <p:extLst>
      <p:ext uri="{BB962C8B-B14F-4D97-AF65-F5344CB8AC3E}">
        <p14:creationId xmlns:p14="http://schemas.microsoft.com/office/powerpoint/2010/main" val="3930424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2"/>
          <p:cNvSpPr/>
          <p:nvPr/>
        </p:nvSpPr>
        <p:spPr>
          <a:xfrm>
            <a:off x="2504440" y="0"/>
            <a:ext cx="8447315" cy="143691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z-Latn-AZ" sz="3600" b="1" dirty="0" smtClean="0">
                <a:solidFill>
                  <a:schemeClr val="tx1"/>
                </a:solidFill>
                <a:latin typeface="Algerian" panose="04020705040A02060702" pitchFamily="82" charset="0"/>
              </a:rPr>
              <a:t>GÜNDƏLIK-İŞGÜZAR ÜSLUB</a:t>
            </a:r>
            <a:endParaRPr lang="ru-RU" sz="3600" b="1" dirty="0">
              <a:solidFill>
                <a:schemeClr val="tx1"/>
              </a:solidFill>
            </a:endParaRPr>
          </a:p>
        </p:txBody>
      </p:sp>
      <p:pic>
        <p:nvPicPr>
          <p:cNvPr id="2050" name="Picture 2" descr="Bədii dil qaydaları pozulanda... | Kaspi.a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32" y="1594076"/>
            <a:ext cx="5388882" cy="361655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646057" y="1716652"/>
            <a:ext cx="6096000" cy="2554545"/>
          </a:xfrm>
          <a:prstGeom prst="rect">
            <a:avLst/>
          </a:prstGeom>
        </p:spPr>
        <p:txBody>
          <a:bodyPr>
            <a:spAutoFit/>
          </a:bodyPr>
          <a:lstStyle/>
          <a:p>
            <a:r>
              <a:rPr lang="az-Latn-AZ" sz="2000" b="1" dirty="0"/>
              <a:t>Gündəlik işgüzar üslub, iş və biznes fəaliyyətində gündəlik yazışmalar, tapşırıqlar, qeydlər və məlumat mübadiləsi zamanı istifadə edilən üslubdur. Bu üslub daha az rəsmi və daha çox operativ, lakin hələ də peşəkar və səliqəlidir. Gündəlik işgüzar üslubda əsas məqsəd, işlə əlaqəli məsələləri dəqiq və effektiv şəkildə təqdim etmək, eyni zamanda vaxtın qənaət olunmasına çalışmaqdır.</a:t>
            </a:r>
            <a:endParaRPr lang="ru-RU" sz="2000" b="1" dirty="0"/>
          </a:p>
        </p:txBody>
      </p:sp>
      <p:sp>
        <p:nvSpPr>
          <p:cNvPr id="5" name="Rectangle 4"/>
          <p:cNvSpPr/>
          <p:nvPr/>
        </p:nvSpPr>
        <p:spPr>
          <a:xfrm>
            <a:off x="5646057" y="4271197"/>
            <a:ext cx="6096000" cy="2296654"/>
          </a:xfrm>
          <a:prstGeom prst="rect">
            <a:avLst/>
          </a:prstGeom>
        </p:spPr>
        <p:txBody>
          <a:bodyPr>
            <a:spAutoFit/>
          </a:bodyPr>
          <a:lstStyle/>
          <a:p>
            <a:pPr algn="just">
              <a:lnSpc>
                <a:spcPct val="115000"/>
              </a:lnSpc>
              <a:spcAft>
                <a:spcPts val="0"/>
              </a:spcAft>
            </a:pPr>
            <a:r>
              <a:rPr lang="az-Latn-AZ" b="1" dirty="0">
                <a:latin typeface="Times New Roman" panose="02020603050405020304" pitchFamily="18" charset="0"/>
                <a:ea typeface="Times New Roman" panose="02020603050405020304" pitchFamily="18" charset="0"/>
              </a:rPr>
              <a:t>Gündəlik işgüzar üslub (və ya inzibati-kargüzarlıq, eləcə də ofis əsaslı) inzibati aktlarda, göstərişlərdə, əmrlərdə, müqavilələrdə – həm əmək, həm də kollektivdə, kargüzarlıq sənədlərində, təşkilatlar arasındakı işgüzar yazışmalarda və şəxsi yazışmalarda istifadə olunur. Bu alt üslubda sənədin tərtibi üçün tələblərin ciddiliyi əvvəlki alt üslublara nisbətən bir qədər yumşaqdır.</a:t>
            </a:r>
            <a:endParaRPr lang="ru-RU" sz="1600" b="1" dirty="0">
              <a:effectLst/>
              <a:latin typeface="Times New Roman" panose="02020603050405020304" pitchFamily="18" charset="0"/>
              <a:ea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0" y="61140"/>
            <a:ext cx="1837295" cy="975180"/>
          </a:xfrm>
          <a:prstGeom prst="rect">
            <a:avLst/>
          </a:prstGeom>
        </p:spPr>
      </p:pic>
    </p:spTree>
    <p:extLst>
      <p:ext uri="{BB962C8B-B14F-4D97-AF65-F5344CB8AC3E}">
        <p14:creationId xmlns:p14="http://schemas.microsoft.com/office/powerpoint/2010/main" val="1997141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397172" y="0"/>
            <a:ext cx="5794828" cy="1124631"/>
          </a:xfrm>
        </p:spPr>
        <p:txBody>
          <a:bodyPr>
            <a:normAutofit/>
          </a:bodyPr>
          <a:lstStyle/>
          <a:p>
            <a:r>
              <a:rPr lang="az-Latn-AZ" sz="2800" b="1" dirty="0" smtClean="0">
                <a:latin typeface="Algerian" panose="04020705040A02060702" pitchFamily="82" charset="0"/>
              </a:rPr>
              <a:t>GÜNDƏLİK-İŞGÜZAR ÜSLUBUN ƏSAS XÜSUSİYYƏTLƏRİ</a:t>
            </a:r>
            <a:endParaRPr lang="ru-RU" sz="2800" b="1" dirty="0"/>
          </a:p>
        </p:txBody>
      </p:sp>
      <p:sp>
        <p:nvSpPr>
          <p:cNvPr id="3" name="Rectangle 2"/>
          <p:cNvSpPr/>
          <p:nvPr/>
        </p:nvSpPr>
        <p:spPr>
          <a:xfrm>
            <a:off x="130629" y="1124631"/>
            <a:ext cx="8940800" cy="1200329"/>
          </a:xfrm>
          <a:prstGeom prst="rect">
            <a:avLst/>
          </a:prstGeom>
        </p:spPr>
        <p:txBody>
          <a:bodyPr wrap="square">
            <a:spAutoFit/>
          </a:bodyPr>
          <a:lstStyle/>
          <a:p>
            <a:r>
              <a:rPr lang="az-Latn-AZ" b="1" dirty="0">
                <a:solidFill>
                  <a:srgbClr val="C00000"/>
                </a:solidFill>
              </a:rPr>
              <a:t>1.</a:t>
            </a:r>
            <a:r>
              <a:rPr lang="az-Latn-AZ" b="1" dirty="0"/>
              <a:t> </a:t>
            </a:r>
            <a:r>
              <a:rPr lang="az-Latn-AZ" b="1" dirty="0">
                <a:solidFill>
                  <a:srgbClr val="C00000"/>
                </a:solidFill>
              </a:rPr>
              <a:t>Sadə və aydın dil</a:t>
            </a:r>
          </a:p>
          <a:p>
            <a:r>
              <a:rPr lang="az-Latn-AZ" b="1" dirty="0"/>
              <a:t>Gündəlik işgüzar üslubun ən əsas xüsusiyyəti onun sadə və aydın olmasıdır. Qeyri-şəffaf, mürəkkəb cümlələrdən və terminlərdən qaçılır. Məqsəd, oxucunun və ya qarşı tərəfin yazılanı dərhal başa düşməsidir.</a:t>
            </a:r>
          </a:p>
        </p:txBody>
      </p:sp>
      <p:sp>
        <p:nvSpPr>
          <p:cNvPr id="4" name="Rectangle 3"/>
          <p:cNvSpPr/>
          <p:nvPr/>
        </p:nvSpPr>
        <p:spPr>
          <a:xfrm>
            <a:off x="94343" y="2324960"/>
            <a:ext cx="9013371" cy="1200329"/>
          </a:xfrm>
          <a:prstGeom prst="rect">
            <a:avLst/>
          </a:prstGeom>
        </p:spPr>
        <p:txBody>
          <a:bodyPr wrap="square">
            <a:spAutoFit/>
          </a:bodyPr>
          <a:lstStyle/>
          <a:p>
            <a:r>
              <a:rPr lang="az-Latn-AZ" b="1" dirty="0" smtClean="0">
                <a:solidFill>
                  <a:srgbClr val="C00000"/>
                </a:solidFill>
              </a:rPr>
              <a:t>2 </a:t>
            </a:r>
            <a:r>
              <a:rPr lang="az-Latn-AZ" b="1" dirty="0">
                <a:solidFill>
                  <a:srgbClr val="C00000"/>
                </a:solidFill>
              </a:rPr>
              <a:t>Qısa və məqsəd yönümlü</a:t>
            </a:r>
          </a:p>
          <a:p>
            <a:r>
              <a:rPr lang="az-Latn-AZ" b="1" dirty="0"/>
              <a:t>Gündəlik işgüzar üslubda yazılar ümumiyyətlə qısa, lakin konkret olur. Həddindən artıq uzun cümlələrdən və ya fikrin ətraflı açıqlanmasından qaçılır. Məqsəd, məsələnin əsas məqamlarını qısa şəkildə təqdim etməkdir.</a:t>
            </a:r>
          </a:p>
        </p:txBody>
      </p:sp>
      <p:sp>
        <p:nvSpPr>
          <p:cNvPr id="5" name="Rectangle 4"/>
          <p:cNvSpPr/>
          <p:nvPr/>
        </p:nvSpPr>
        <p:spPr>
          <a:xfrm>
            <a:off x="48986" y="3525289"/>
            <a:ext cx="9245600" cy="1200329"/>
          </a:xfrm>
          <a:prstGeom prst="rect">
            <a:avLst/>
          </a:prstGeom>
        </p:spPr>
        <p:txBody>
          <a:bodyPr wrap="square">
            <a:spAutoFit/>
          </a:bodyPr>
          <a:lstStyle/>
          <a:p>
            <a:r>
              <a:rPr lang="az-Latn-AZ" b="1" dirty="0">
                <a:solidFill>
                  <a:srgbClr val="C00000"/>
                </a:solidFill>
              </a:rPr>
              <a:t>3. Operativlik və vaxtın qənaət olunması</a:t>
            </a:r>
          </a:p>
          <a:p>
            <a:r>
              <a:rPr lang="az-Latn-AZ" b="1" dirty="0"/>
              <a:t>Gündəlik işgüzar üslub, işin sürətlə həll olunmasını nəzərdə tutur. Yazılar operativ olmalı, məsələnin və ya tapşırığın yerinə yetirilməsi üçün konkret adımlar göstərilməlidir. İcra prosesini sürətləndirmək məqsədilə vaxt və təxirə salmalardan qaçılır.</a:t>
            </a:r>
          </a:p>
        </p:txBody>
      </p:sp>
      <p:sp>
        <p:nvSpPr>
          <p:cNvPr id="6" name="Rectangle 5"/>
          <p:cNvSpPr/>
          <p:nvPr/>
        </p:nvSpPr>
        <p:spPr>
          <a:xfrm>
            <a:off x="94343" y="4725618"/>
            <a:ext cx="12366170" cy="923330"/>
          </a:xfrm>
          <a:prstGeom prst="rect">
            <a:avLst/>
          </a:prstGeom>
        </p:spPr>
        <p:txBody>
          <a:bodyPr wrap="square">
            <a:spAutoFit/>
          </a:bodyPr>
          <a:lstStyle/>
          <a:p>
            <a:r>
              <a:rPr lang="az-Latn-AZ" b="1" dirty="0" smtClean="0">
                <a:solidFill>
                  <a:srgbClr val="C00000"/>
                </a:solidFill>
              </a:rPr>
              <a:t>4. </a:t>
            </a:r>
            <a:r>
              <a:rPr lang="az-Latn-AZ" b="1" dirty="0">
                <a:solidFill>
                  <a:srgbClr val="C00000"/>
                </a:solidFill>
              </a:rPr>
              <a:t>Əsas mövzuya fokuslanma</a:t>
            </a:r>
          </a:p>
          <a:p>
            <a:r>
              <a:rPr lang="az-Latn-AZ" b="1" dirty="0"/>
              <a:t>Gündəlik yazışmaların məqsədi müəyyən bir tapşırıq və ya məsələ ilə əlaqədar məlumat vermək olduğundan, yazılar əsas mövzuya fokuslanmalı və mövzudan kənara çıxmamalıdır. Məsələ və ya tapşırıq nə qədər vacibdirsə, yazı o qədər </a:t>
            </a:r>
            <a:r>
              <a:rPr lang="az-Latn-AZ" b="1" dirty="0" smtClean="0"/>
              <a:t>qısa</a:t>
            </a:r>
            <a:endParaRPr lang="az-Latn-AZ" b="1" dirty="0"/>
          </a:p>
        </p:txBody>
      </p:sp>
      <p:sp>
        <p:nvSpPr>
          <p:cNvPr id="8" name="Rectangle 7"/>
          <p:cNvSpPr/>
          <p:nvPr/>
        </p:nvSpPr>
        <p:spPr>
          <a:xfrm>
            <a:off x="130629" y="5648948"/>
            <a:ext cx="12192000" cy="1200329"/>
          </a:xfrm>
          <a:prstGeom prst="rect">
            <a:avLst/>
          </a:prstGeom>
        </p:spPr>
        <p:txBody>
          <a:bodyPr wrap="square">
            <a:spAutoFit/>
          </a:bodyPr>
          <a:lstStyle/>
          <a:p>
            <a:r>
              <a:rPr lang="az-Latn-AZ" b="1" dirty="0" smtClean="0">
                <a:solidFill>
                  <a:srgbClr val="C00000"/>
                </a:solidFill>
              </a:rPr>
              <a:t>5 Təqvimə </a:t>
            </a:r>
            <a:r>
              <a:rPr lang="az-Latn-AZ" b="1" dirty="0">
                <a:solidFill>
                  <a:srgbClr val="C00000"/>
                </a:solidFill>
              </a:rPr>
              <a:t>uyğunluq və dəqiqlik</a:t>
            </a:r>
          </a:p>
          <a:p>
            <a:r>
              <a:rPr lang="az-Latn-AZ" b="1" dirty="0"/>
              <a:t>Gündəlik işgüzar yazışmalarda vaxt və tarixlərin dəqiq göstərilməsi çox vacibdir. Bu, yazışmaların operativ şəkildə həll edilməsini və təqvimin düzgün idarə edilməsini təmin edir. Vaxt, tarix və icra tarixləri əhəmiyyətlidir və hər zaman dəqiq şəkildə qeyd olunmalıdır.</a:t>
            </a:r>
          </a:p>
        </p:txBody>
      </p:sp>
      <p:pic>
        <p:nvPicPr>
          <p:cNvPr id="9" name="Picture 8"/>
          <p:cNvPicPr>
            <a:picLocks noChangeAspect="1"/>
          </p:cNvPicPr>
          <p:nvPr/>
        </p:nvPicPr>
        <p:blipFill>
          <a:blip r:embed="rId2"/>
          <a:stretch>
            <a:fillRect/>
          </a:stretch>
        </p:blipFill>
        <p:spPr>
          <a:xfrm>
            <a:off x="0" y="27346"/>
            <a:ext cx="1835336" cy="974140"/>
          </a:xfrm>
          <a:prstGeom prst="rect">
            <a:avLst/>
          </a:prstGeom>
        </p:spPr>
      </p:pic>
    </p:spTree>
    <p:extLst>
      <p:ext uri="{BB962C8B-B14F-4D97-AF65-F5344CB8AC3E}">
        <p14:creationId xmlns:p14="http://schemas.microsoft.com/office/powerpoint/2010/main" val="3379223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descr="Konstitusiya Günü (Azərbaycan) — Vikipediy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172" y="1169126"/>
            <a:ext cx="3643372" cy="298196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720115" y="240212"/>
            <a:ext cx="5167086" cy="928914"/>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z-Latn-AZ" sz="4000" b="1" dirty="0" smtClean="0">
                <a:solidFill>
                  <a:schemeClr val="tx1"/>
                </a:solidFill>
                <a:latin typeface="Algerian" panose="04020705040A02060702" pitchFamily="82" charset="0"/>
              </a:rPr>
              <a:t>KONSTUTİSİYA</a:t>
            </a:r>
            <a:endParaRPr lang="ru-RU" sz="4000" b="1" dirty="0">
              <a:solidFill>
                <a:schemeClr val="tx1"/>
              </a:solidFill>
            </a:endParaRPr>
          </a:p>
        </p:txBody>
      </p:sp>
      <p:sp>
        <p:nvSpPr>
          <p:cNvPr id="3" name="Rectangle 2"/>
          <p:cNvSpPr/>
          <p:nvPr/>
        </p:nvSpPr>
        <p:spPr>
          <a:xfrm>
            <a:off x="3962687" y="1575526"/>
            <a:ext cx="8461829" cy="4801314"/>
          </a:xfrm>
          <a:prstGeom prst="rect">
            <a:avLst/>
          </a:prstGeom>
        </p:spPr>
        <p:txBody>
          <a:bodyPr wrap="square">
            <a:spAutoFit/>
          </a:bodyPr>
          <a:lstStyle/>
          <a:p>
            <a:r>
              <a:rPr lang="az-Latn-AZ" b="1" dirty="0">
                <a:solidFill>
                  <a:srgbClr val="202122"/>
                </a:solidFill>
                <a:latin typeface="Arial" panose="020B0604020202020204" pitchFamily="34" charset="0"/>
              </a:rPr>
              <a:t>Konstitusiya xalq tərəfindən qəbul edilir. Azərbaycan Konstitusiyası referendum yolu ilə Azərbaycan xalqı tərəfindən qəbul olunmuşdur.</a:t>
            </a:r>
          </a:p>
          <a:p>
            <a:r>
              <a:rPr lang="az-Latn-AZ" b="1" dirty="0">
                <a:solidFill>
                  <a:srgbClr val="202122"/>
                </a:solidFill>
                <a:latin typeface="Arial" panose="020B0604020202020204" pitchFamily="34" charset="0"/>
              </a:rPr>
              <a:t>2) Konstitusiya təsisedici xarakterə malik olub konstitusion nizamasalma predmetinin hərtərəfliliyi ilə fərqlənir. O, şəxsiyyət, cəmiyyət və dövlət arasındakı əsas əlaqələrin özəyini təşkil edir. Konstitusiya çox geniş və mürəkkəb olan sosiassiyasi sistemin əsaslarını müəyyənləşdirir. Onun bir norması bəzən bir neçə sahə üçün çıxış nöqtəsi rolunu oynayır. Məsələn, mülkiyyət hüququ mülki hüquq sahəsinin, əmək hüququ əmək hüquq sahəsinin çıxış nöqtəsini təşkil edir.</a:t>
            </a:r>
          </a:p>
          <a:p>
            <a:r>
              <a:rPr lang="az-Latn-AZ" b="1" dirty="0">
                <a:solidFill>
                  <a:srgbClr val="202122"/>
                </a:solidFill>
                <a:latin typeface="Arial" panose="020B0604020202020204" pitchFamily="34" charset="0"/>
              </a:rPr>
              <a:t>3) Konstitusiya bütün hüquq sisteminin başlanğıcı kimi hüququn əsas mənbəyidir. Cari qanunvericilik Konstitusiyaya əsaslanır və cari qanunvericilikdə Konstitusiya müddəaları əsas götürülür.</a:t>
            </a:r>
          </a:p>
          <a:p>
            <a:r>
              <a:rPr lang="az-Latn-AZ" b="1" dirty="0">
                <a:solidFill>
                  <a:srgbClr val="202122"/>
                </a:solidFill>
                <a:latin typeface="Arial" panose="020B0604020202020204" pitchFamily="34" charset="0"/>
              </a:rPr>
              <a:t>4) Konstitusiya yüksək hüquqi qüvvəyə malik olan Əsas Qanundur. Konstitusiyanın aliliyi onda təzahür edir ki, bütün qanunlar və dövlət orqanlarının digər aktları onun əsasında və ona uyğun olaraq qəbul edilir. Konstitusiyanın müddəalarının pozulmazlığının təmin olunması üçün ciddi qaydaları özündə ehtiva edən xüsusi rejim </a:t>
            </a:r>
            <a:r>
              <a:rPr lang="az-Latn-AZ" b="1" dirty="0" smtClean="0">
                <a:solidFill>
                  <a:srgbClr val="202122"/>
                </a:solidFill>
                <a:latin typeface="Arial" panose="020B0604020202020204" pitchFamily="34" charset="0"/>
              </a:rPr>
              <a:t>vardır</a:t>
            </a:r>
            <a:endParaRPr lang="az-Latn-AZ" b="1" i="0" dirty="0">
              <a:solidFill>
                <a:srgbClr val="202122"/>
              </a:solidFill>
              <a:effectLst/>
              <a:latin typeface="Arial" panose="020B0604020202020204" pitchFamily="34" charset="0"/>
            </a:endParaRPr>
          </a:p>
        </p:txBody>
      </p:sp>
      <p:pic>
        <p:nvPicPr>
          <p:cNvPr id="4" name="Picture 3"/>
          <p:cNvPicPr>
            <a:picLocks noChangeAspect="1"/>
          </p:cNvPicPr>
          <p:nvPr/>
        </p:nvPicPr>
        <p:blipFill>
          <a:blip r:embed="rId3"/>
          <a:stretch>
            <a:fillRect/>
          </a:stretch>
        </p:blipFill>
        <p:spPr>
          <a:xfrm>
            <a:off x="0" y="47352"/>
            <a:ext cx="1715606" cy="910591"/>
          </a:xfrm>
          <a:prstGeom prst="rect">
            <a:avLst/>
          </a:prstGeom>
        </p:spPr>
      </p:pic>
    </p:spTree>
    <p:extLst>
      <p:ext uri="{BB962C8B-B14F-4D97-AF65-F5344CB8AC3E}">
        <p14:creationId xmlns:p14="http://schemas.microsoft.com/office/powerpoint/2010/main" val="2292411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821715" y="145143"/>
            <a:ext cx="5050971" cy="1248228"/>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z-Latn-AZ" sz="3600" b="1" dirty="0" smtClean="0">
                <a:solidFill>
                  <a:schemeClr val="tx1"/>
                </a:solidFill>
                <a:latin typeface="Algerian" panose="04020705040A02060702" pitchFamily="82" charset="0"/>
              </a:rPr>
              <a:t>QƏRAR VƏ QANUN</a:t>
            </a:r>
            <a:endParaRPr lang="ru-RU" sz="3600" b="1" dirty="0">
              <a:solidFill>
                <a:schemeClr val="tx1"/>
              </a:solidFill>
            </a:endParaRPr>
          </a:p>
        </p:txBody>
      </p:sp>
      <p:pic>
        <p:nvPicPr>
          <p:cNvPr id="5124" name="Picture 4" descr="Qanunlar: 20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513" y="1342821"/>
            <a:ext cx="4978400" cy="37338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33143" y="1732393"/>
            <a:ext cx="6096000" cy="1477328"/>
          </a:xfrm>
          <a:prstGeom prst="rect">
            <a:avLst/>
          </a:prstGeom>
        </p:spPr>
        <p:txBody>
          <a:bodyPr>
            <a:spAutoFit/>
          </a:bodyPr>
          <a:lstStyle/>
          <a:p>
            <a:r>
              <a:rPr lang="az-Latn-AZ" b="1" dirty="0">
                <a:solidFill>
                  <a:srgbClr val="202122"/>
                </a:solidFill>
                <a:latin typeface="Arial" panose="020B0604020202020204" pitchFamily="34" charset="0"/>
              </a:rPr>
              <a:t>Qanun — hüquq normalarının sistemli toplusu olub, cəmiyyətdə yaranan ictimai münasibətləri tənzimləyir və insanları hüquq pozuntusundan qoruyur həmçinin, qoyulan qadağalara əməl etməyən şəxslərin cəzalandırılmasını müəyyən edir.</a:t>
            </a:r>
            <a:endParaRPr lang="ru-RU" b="1" dirty="0"/>
          </a:p>
        </p:txBody>
      </p:sp>
      <p:sp>
        <p:nvSpPr>
          <p:cNvPr id="5" name="Rectangle 4"/>
          <p:cNvSpPr/>
          <p:nvPr/>
        </p:nvSpPr>
        <p:spPr>
          <a:xfrm>
            <a:off x="5733143" y="3338596"/>
            <a:ext cx="6139543" cy="2862322"/>
          </a:xfrm>
          <a:prstGeom prst="rect">
            <a:avLst/>
          </a:prstGeom>
        </p:spPr>
        <p:txBody>
          <a:bodyPr wrap="square">
            <a:spAutoFit/>
          </a:bodyPr>
          <a:lstStyle/>
          <a:p>
            <a:pPr>
              <a:buFont typeface="Arial" panose="020B0604020202020204" pitchFamily="34" charset="0"/>
              <a:buChar char="•"/>
            </a:pPr>
            <a:r>
              <a:rPr lang="az-Latn-AZ" b="1" dirty="0">
                <a:solidFill>
                  <a:srgbClr val="202122"/>
                </a:solidFill>
                <a:latin typeface="Arial" panose="020B0604020202020204" pitchFamily="34" charset="0"/>
              </a:rPr>
              <a:t>Konstitusiya qanunları ali hüquqi qüvvəyə malikdir. Onların içərisində ilk növbədə əsas insan və vətəndaş hüquq və azadlıqlarını təsbit edən, ictimai quruluşun əsaslarını, dövlətin formasını tənzimləyən, dövlət orqanlarının təşkili və fəaliyyətinin prinsiplərini müəyyən edən konstitusiya adlananları qeyd etmək lazımdır. Bəzən onu əsas qanun adlandırırlar.</a:t>
            </a:r>
          </a:p>
          <a:p>
            <a:r>
              <a:rPr lang="az-Latn-AZ" b="1" dirty="0">
                <a:solidFill>
                  <a:srgbClr val="202122"/>
                </a:solidFill>
                <a:latin typeface="Arial" panose="020B0604020202020204" pitchFamily="34" charset="0"/>
              </a:rPr>
              <a:t>Konstitusiya qanunları konstitusiyanın ayrılmaz tərkib hissəsi sayılır və hüquqi qüvvəsinə görə adi qanunlardan üstündür</a:t>
            </a:r>
            <a:r>
              <a:rPr lang="az-Latn-AZ" b="1" dirty="0" smtClean="0">
                <a:solidFill>
                  <a:srgbClr val="202122"/>
                </a:solidFill>
                <a:latin typeface="Arial" panose="020B0604020202020204" pitchFamily="34" charset="0"/>
              </a:rPr>
              <a:t>.</a:t>
            </a:r>
            <a:endParaRPr lang="az-Latn-AZ" b="1" dirty="0">
              <a:solidFill>
                <a:srgbClr val="202122"/>
              </a:solidFill>
              <a:latin typeface="Arial" panose="020B0604020202020204" pitchFamily="34" charset="0"/>
            </a:endParaRPr>
          </a:p>
        </p:txBody>
      </p:sp>
      <p:pic>
        <p:nvPicPr>
          <p:cNvPr id="6" name="Picture 5"/>
          <p:cNvPicPr>
            <a:picLocks noChangeAspect="1"/>
          </p:cNvPicPr>
          <p:nvPr/>
        </p:nvPicPr>
        <p:blipFill>
          <a:blip r:embed="rId3"/>
          <a:stretch>
            <a:fillRect/>
          </a:stretch>
        </p:blipFill>
        <p:spPr>
          <a:xfrm>
            <a:off x="0" y="-1"/>
            <a:ext cx="2023585" cy="1074057"/>
          </a:xfrm>
          <a:prstGeom prst="rect">
            <a:avLst/>
          </a:prstGeom>
        </p:spPr>
      </p:pic>
    </p:spTree>
    <p:extLst>
      <p:ext uri="{BB962C8B-B14F-4D97-AF65-F5344CB8AC3E}">
        <p14:creationId xmlns:p14="http://schemas.microsoft.com/office/powerpoint/2010/main" val="3252124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807200" y="101600"/>
            <a:ext cx="5283200" cy="1233714"/>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z-Latn-AZ" sz="4400" b="1" dirty="0" smtClean="0">
                <a:solidFill>
                  <a:schemeClr val="tx1"/>
                </a:solidFill>
                <a:latin typeface="Algerian" panose="04020705040A02060702" pitchFamily="82" charset="0"/>
              </a:rPr>
              <a:t>SƏRƏNCAM</a:t>
            </a:r>
            <a:endParaRPr lang="ru-RU" sz="4400" b="1" dirty="0">
              <a:solidFill>
                <a:schemeClr val="tx1"/>
              </a:solidFill>
            </a:endParaRPr>
          </a:p>
        </p:txBody>
      </p:sp>
      <p:pic>
        <p:nvPicPr>
          <p:cNvPr id="6146" name="Picture 2" descr="Sərəncam nədir ? - Vətən Naminə"/>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803" y="1464355"/>
            <a:ext cx="6042025" cy="365918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429828" y="1716653"/>
            <a:ext cx="5660572" cy="2308324"/>
          </a:xfrm>
          <a:prstGeom prst="rect">
            <a:avLst/>
          </a:prstGeom>
        </p:spPr>
        <p:txBody>
          <a:bodyPr wrap="square">
            <a:spAutoFit/>
          </a:bodyPr>
          <a:lstStyle/>
          <a:p>
            <a:r>
              <a:rPr lang="az-Latn-AZ" b="1" dirty="0" smtClean="0">
                <a:solidFill>
                  <a:srgbClr val="202122"/>
                </a:solidFill>
                <a:latin typeface="Arial" panose="020B0604020202020204" pitchFamily="34" charset="0"/>
              </a:rPr>
              <a:t>Sərəncam — hər hansı məsələləri həll etmək üçün, səlahiyyətli vəzifəli şəxs tərəfindən verilən göstərişləri özündə əks etdirən </a:t>
            </a:r>
            <a:r>
              <a:rPr lang="az-Latn-AZ" b="1" dirty="0" smtClean="0">
                <a:solidFill>
                  <a:srgbClr val="0645AD"/>
                </a:solidFill>
                <a:latin typeface="Arial" panose="020B0604020202020204" pitchFamily="34" charset="0"/>
                <a:hlinkClick r:id="rId3" tooltip="Sənəd"/>
              </a:rPr>
              <a:t>sənəd</a:t>
            </a:r>
            <a:r>
              <a:rPr lang="az-Latn-AZ" b="1" dirty="0" smtClean="0">
                <a:solidFill>
                  <a:srgbClr val="202122"/>
                </a:solidFill>
                <a:latin typeface="Arial" panose="020B0604020202020204" pitchFamily="34" charset="0"/>
              </a:rPr>
              <a:t> formasıdır. Bir qayda olaraq sərəncam hadisəyə əsaslanmaqla “buna uyğun olaraq, bununla əlaqədar” sözləri ilə davam etdirilir. Mətn isə </a:t>
            </a:r>
            <a:r>
              <a:rPr lang="az-Latn-AZ" b="1" dirty="0" smtClean="0">
                <a:solidFill>
                  <a:srgbClr val="0645AD"/>
                </a:solidFill>
                <a:latin typeface="Arial" panose="020B0604020202020204" pitchFamily="34" charset="0"/>
                <a:hlinkClick r:id="rId4" tooltip="Əmr"/>
              </a:rPr>
              <a:t>əmr</a:t>
            </a:r>
            <a:r>
              <a:rPr lang="az-Latn-AZ" b="1" dirty="0" smtClean="0">
                <a:solidFill>
                  <a:srgbClr val="202122"/>
                </a:solidFill>
                <a:latin typeface="Arial" panose="020B0604020202020204" pitchFamily="34" charset="0"/>
              </a:rPr>
              <a:t> formasında tapşırılsın, təklif olunsun, təsdiq olunsun və s. şəklində şərh edilir.</a:t>
            </a:r>
            <a:endParaRPr lang="az-Latn-AZ" b="1" dirty="0"/>
          </a:p>
        </p:txBody>
      </p:sp>
      <p:sp>
        <p:nvSpPr>
          <p:cNvPr id="4" name="Rectangle 3"/>
          <p:cNvSpPr/>
          <p:nvPr/>
        </p:nvSpPr>
        <p:spPr>
          <a:xfrm>
            <a:off x="6429828" y="4195498"/>
            <a:ext cx="5558972" cy="1754326"/>
          </a:xfrm>
          <a:prstGeom prst="rect">
            <a:avLst/>
          </a:prstGeom>
        </p:spPr>
        <p:txBody>
          <a:bodyPr wrap="square">
            <a:spAutoFit/>
          </a:bodyPr>
          <a:lstStyle/>
          <a:p>
            <a:r>
              <a:rPr lang="az-Latn-AZ" b="1" dirty="0">
                <a:solidFill>
                  <a:srgbClr val="19232D"/>
                </a:solidFill>
                <a:latin typeface="Arial" panose="020B0604020202020204" pitchFamily="34" charset="0"/>
              </a:rPr>
              <a:t>Sərəncamverici sənədlərə əsasən müəssisə rəhbərinin əmrlərini, sərəncamları, göstərişlərini və qərarları aid etmək olar. Müəssisə rəhbərinin əmrləri əsasən iki hissəyə bölmək olar: əsas fəaliyyət üzrə əmrlər və işçi heyyəti ilə bağlı əmrlər.</a:t>
            </a:r>
            <a:endParaRPr lang="ru-RU" b="1" dirty="0"/>
          </a:p>
        </p:txBody>
      </p:sp>
      <p:pic>
        <p:nvPicPr>
          <p:cNvPr id="5" name="Picture 4"/>
          <p:cNvPicPr>
            <a:picLocks noChangeAspect="1"/>
          </p:cNvPicPr>
          <p:nvPr/>
        </p:nvPicPr>
        <p:blipFill>
          <a:blip r:embed="rId5"/>
          <a:stretch>
            <a:fillRect/>
          </a:stretch>
        </p:blipFill>
        <p:spPr>
          <a:xfrm>
            <a:off x="0" y="61140"/>
            <a:ext cx="1853703" cy="983889"/>
          </a:xfrm>
          <a:prstGeom prst="rect">
            <a:avLst/>
          </a:prstGeom>
        </p:spPr>
      </p:pic>
    </p:spTree>
    <p:extLst>
      <p:ext uri="{BB962C8B-B14F-4D97-AF65-F5344CB8AC3E}">
        <p14:creationId xmlns:p14="http://schemas.microsoft.com/office/powerpoint/2010/main" val="3390951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364378" y="2368822"/>
            <a:ext cx="7465422" cy="1325563"/>
          </a:xfrm>
        </p:spPr>
        <p:txBody>
          <a:bodyPr>
            <a:noAutofit/>
          </a:bodyPr>
          <a:lstStyle/>
          <a:p>
            <a:r>
              <a:rPr lang="az-Latn-AZ" sz="6000" b="1" dirty="0" smtClean="0">
                <a:latin typeface="Algerian" panose="04020705040A02060702" pitchFamily="82" charset="0"/>
              </a:rPr>
              <a:t>DİQQƏTİNİZƏ GÖRƏ TƏŞƏKKÜRLƏR!</a:t>
            </a:r>
            <a:endParaRPr lang="ru-RU" sz="6000" b="1" dirty="0"/>
          </a:p>
        </p:txBody>
      </p:sp>
      <p:pic>
        <p:nvPicPr>
          <p:cNvPr id="3" name="Picture 2"/>
          <p:cNvPicPr>
            <a:picLocks noChangeAspect="1"/>
          </p:cNvPicPr>
          <p:nvPr/>
        </p:nvPicPr>
        <p:blipFill>
          <a:blip r:embed="rId2"/>
          <a:stretch>
            <a:fillRect/>
          </a:stretch>
        </p:blipFill>
        <p:spPr>
          <a:xfrm>
            <a:off x="1" y="0"/>
            <a:ext cx="2249714" cy="1194079"/>
          </a:xfrm>
          <a:prstGeom prst="rect">
            <a:avLst/>
          </a:prstGeom>
        </p:spPr>
      </p:pic>
    </p:spTree>
    <p:extLst>
      <p:ext uri="{BB962C8B-B14F-4D97-AF65-F5344CB8AC3E}">
        <p14:creationId xmlns:p14="http://schemas.microsoft.com/office/powerpoint/2010/main" val="3993757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462</TotalTime>
  <Words>1405</Words>
  <Application>Microsoft Office PowerPoint</Application>
  <PresentationFormat>Widescreen</PresentationFormat>
  <Paragraphs>83</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Algerian</vt:lpstr>
      <vt:lpstr>Arial</vt:lpstr>
      <vt:lpstr>Arial Black</vt:lpstr>
      <vt:lpstr>Calibri</vt:lpstr>
      <vt:lpstr>Calibri Light</vt:lpstr>
      <vt:lpstr>Georgia</vt:lpstr>
      <vt:lpstr>Times New Roman</vt:lpstr>
      <vt:lpstr>Wingdings</vt:lpstr>
      <vt:lpstr>Office Theme</vt:lpstr>
      <vt:lpstr>CƏFƏROVA NAZLI(6224A1)</vt:lpstr>
      <vt:lpstr>Azərbaycan dilində işgüzar üslubun mahiyyəti və xüsusiyyətləri.  </vt:lpstr>
      <vt:lpstr>PowerPoint Presentation</vt:lpstr>
      <vt:lpstr>Rəsmi işgüzar üslubun əsas xüsusiyyətləri</vt:lpstr>
      <vt:lpstr>PowerPoint Presentation</vt:lpstr>
      <vt:lpstr>PowerPoint Presentation</vt:lpstr>
      <vt:lpstr>DİPLOMATİK-İŞGÜZAR ÜSLUBUN ƏSAS XÜSUSİYYƏTLƏRİ</vt:lpstr>
      <vt:lpstr>PowerPoint Presentation</vt:lpstr>
      <vt:lpstr>SƏNƏDLİ-İŞGÜZAR ÜSLUBUN ƏSAS XÜSUSİYYƏTLƏRİ</vt:lpstr>
      <vt:lpstr>PowerPoint Presentation</vt:lpstr>
      <vt:lpstr>GÜNDƏLİK-İŞGÜZAR ÜSLUBUN ƏSAS XÜSUSİYYƏTLƏRİ</vt:lpstr>
      <vt:lpstr>PowerPoint Presentation</vt:lpstr>
      <vt:lpstr>PowerPoint Presentation</vt:lpstr>
      <vt:lpstr>PowerPoint Presentation</vt:lpstr>
      <vt:lpstr>DİQQƏTİNİZƏ GÖRƏ TƏŞƏKKÜRLƏR!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Aslan</dc:creator>
  <cp:lastModifiedBy>Aslan</cp:lastModifiedBy>
  <cp:revision>16</cp:revision>
  <dcterms:created xsi:type="dcterms:W3CDTF">2024-11-13T14:14:03Z</dcterms:created>
  <dcterms:modified xsi:type="dcterms:W3CDTF">2024-11-14T21:06:43Z</dcterms:modified>
</cp:coreProperties>
</file>