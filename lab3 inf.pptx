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12/15/2024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12/15/2024</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21472" cy="30870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892470" y="1698639"/>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pic>
        <p:nvPicPr>
          <p:cNvPr id="4" name="Picture 2" descr="Azərbaycan Respublikası Elm və Təhsil Nazirliy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074" y="49220"/>
            <a:ext cx="263652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106057" y="3246459"/>
            <a:ext cx="6096000" cy="3477875"/>
          </a:xfrm>
          <a:prstGeom prst="rect">
            <a:avLst/>
          </a:prstGeom>
        </p:spPr>
        <p:txBody>
          <a:bodyPr>
            <a:spAutoFit/>
          </a:bodyPr>
          <a:lstStyle/>
          <a:p>
            <a:pPr marL="285750" indent="-285750">
              <a:buFont typeface="Arial" panose="020B0604020202020204" pitchFamily="34" charset="0"/>
              <a:buChar char="•"/>
            </a:pPr>
            <a:r>
              <a:rPr lang="az-Latn-AZ" sz="2000" b="1" dirty="0"/>
              <a:t>Fakultə</a:t>
            </a:r>
            <a:r>
              <a:rPr lang="en-US" sz="2000" b="1" dirty="0"/>
              <a:t>: </a:t>
            </a:r>
            <a:r>
              <a:rPr lang="az-Latn-AZ" sz="2000" b="1" dirty="0"/>
              <a:t>İnformasiya və telekommunikasiya texnologiyaları</a:t>
            </a:r>
          </a:p>
          <a:p>
            <a:pPr marL="285750" indent="-285750">
              <a:buFont typeface="Arial" panose="020B0604020202020204" pitchFamily="34" charset="0"/>
              <a:buChar char="•"/>
            </a:pPr>
            <a:r>
              <a:rPr lang="az-Latn-AZ" sz="2000" b="1" dirty="0"/>
              <a:t>Kafedra</a:t>
            </a:r>
            <a:r>
              <a:rPr lang="en-US" sz="2000" b="1" dirty="0"/>
              <a:t>:</a:t>
            </a:r>
            <a:r>
              <a:rPr lang="az-Latn-AZ" sz="2000" b="1" dirty="0"/>
              <a:t>Mühəndis Riyaziyyatı və süni intellekt</a:t>
            </a:r>
          </a:p>
          <a:p>
            <a:pPr marL="285750" indent="-285750">
              <a:buFont typeface="Arial" panose="020B0604020202020204" pitchFamily="34" charset="0"/>
              <a:buChar char="•"/>
            </a:pPr>
            <a:r>
              <a:rPr lang="az-Latn-AZ" sz="2000" b="1" dirty="0"/>
              <a:t>Fənn adı</a:t>
            </a:r>
            <a:r>
              <a:rPr lang="en-US" sz="2000" b="1" dirty="0"/>
              <a:t>:</a:t>
            </a:r>
            <a:r>
              <a:rPr lang="az-Latn-AZ" sz="2000" b="1" dirty="0"/>
              <a:t> Proqramlaşdırmanın əsasları</a:t>
            </a:r>
          </a:p>
          <a:p>
            <a:pPr algn="ctr"/>
            <a:endParaRPr lang="az-Latn-AZ" sz="2000" b="1" dirty="0"/>
          </a:p>
          <a:p>
            <a:pPr algn="ctr"/>
            <a:r>
              <a:rPr lang="az-Latn-AZ" sz="2000" b="1" dirty="0"/>
              <a:t>LABORATORİYA İŞİ </a:t>
            </a:r>
            <a:r>
              <a:rPr lang="ru-RU" sz="2000" b="1" dirty="0"/>
              <a:t>№</a:t>
            </a:r>
            <a:r>
              <a:rPr lang="en-US" sz="2000" b="1" dirty="0"/>
              <a:t>3</a:t>
            </a:r>
            <a:endParaRPr lang="az-Latn-AZ" sz="2000" b="1" dirty="0"/>
          </a:p>
          <a:p>
            <a:pPr marL="285750" indent="-285750">
              <a:buFont typeface="Arial" panose="020B0604020202020204" pitchFamily="34" charset="0"/>
              <a:buChar char="•"/>
            </a:pPr>
            <a:r>
              <a:rPr lang="az-Latn-AZ" sz="2000" b="1" dirty="0"/>
              <a:t>Mövzu</a:t>
            </a:r>
            <a:r>
              <a:rPr lang="en-US" sz="2000" b="1" dirty="0" smtClean="0"/>
              <a:t>:</a:t>
            </a:r>
            <a:r>
              <a:rPr lang="az-Latn-AZ" sz="2000" b="1" dirty="0" smtClean="0"/>
              <a:t>Massiv(sorts,search</a:t>
            </a:r>
            <a:r>
              <a:rPr lang="en-US" sz="2000" b="1" dirty="0" smtClean="0"/>
              <a:t>)</a:t>
            </a:r>
            <a:endParaRPr lang="az-Latn-AZ" sz="2000" b="1" dirty="0"/>
          </a:p>
          <a:p>
            <a:pPr marL="285750" indent="-285750">
              <a:buFont typeface="Arial" panose="020B0604020202020204" pitchFamily="34" charset="0"/>
              <a:buChar char="•"/>
            </a:pPr>
            <a:r>
              <a:rPr lang="en-US" sz="2000" b="1" dirty="0"/>
              <a:t>Kurs:1</a:t>
            </a:r>
          </a:p>
          <a:p>
            <a:pPr marL="285750" indent="-285750">
              <a:buFont typeface="Arial" panose="020B0604020202020204" pitchFamily="34" charset="0"/>
              <a:buChar char="•"/>
            </a:pPr>
            <a:r>
              <a:rPr lang="en-US" sz="2000" b="1" dirty="0"/>
              <a:t>Qrup:6224a1</a:t>
            </a:r>
          </a:p>
          <a:p>
            <a:pPr marL="285750" indent="-285750">
              <a:buFont typeface="Arial" panose="020B0604020202020204" pitchFamily="34" charset="0"/>
              <a:buChar char="•"/>
            </a:pPr>
            <a:r>
              <a:rPr lang="en-US" sz="2000" b="1" dirty="0"/>
              <a:t>T</a:t>
            </a:r>
            <a:r>
              <a:rPr lang="az-Latn-AZ" sz="2000" b="1" dirty="0"/>
              <a:t>ələbə</a:t>
            </a:r>
            <a:r>
              <a:rPr lang="en-US" sz="2000" b="1" dirty="0"/>
              <a:t>:C</a:t>
            </a:r>
            <a:r>
              <a:rPr lang="az-Latn-AZ" sz="2000" b="1" dirty="0"/>
              <a:t>əfərova Nazlı</a:t>
            </a:r>
          </a:p>
          <a:p>
            <a:pPr marL="285750" indent="-285750">
              <a:buFont typeface="Arial" panose="020B0604020202020204" pitchFamily="34" charset="0"/>
              <a:buChar char="•"/>
            </a:pPr>
            <a:r>
              <a:rPr lang="az-Latn-AZ" sz="2000" b="1" dirty="0"/>
              <a:t>Müəllim</a:t>
            </a:r>
            <a:r>
              <a:rPr lang="en-US" sz="2000" b="1" dirty="0"/>
              <a:t>:H</a:t>
            </a:r>
            <a:r>
              <a:rPr lang="az-Latn-AZ" sz="2000" b="1" dirty="0"/>
              <a:t>üseynli Vüqar</a:t>
            </a:r>
          </a:p>
        </p:txBody>
      </p:sp>
    </p:spTree>
    <p:extLst>
      <p:ext uri="{BB962C8B-B14F-4D97-AF65-F5344CB8AC3E}">
        <p14:creationId xmlns:p14="http://schemas.microsoft.com/office/powerpoint/2010/main" val="1867361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7376" y="-121712"/>
            <a:ext cx="5632168" cy="1596177"/>
          </a:xfrm>
        </p:spPr>
        <p:txBody>
          <a:bodyPr/>
          <a:lstStyle/>
          <a:p>
            <a:pPr algn="l"/>
            <a:r>
              <a:rPr lang="en-US" b="1" dirty="0" smtClean="0">
                <a:latin typeface="+mn-lt"/>
              </a:rPr>
              <a:t>MASSIVD</a:t>
            </a:r>
            <a:r>
              <a:rPr lang="az-Latn-AZ" b="1" dirty="0" smtClean="0">
                <a:latin typeface="+mn-lt"/>
              </a:rPr>
              <a:t>Ə SORT ƏMRİ</a:t>
            </a:r>
            <a:endParaRPr lang="ru-RU" b="1" dirty="0">
              <a:latin typeface="+mn-lt"/>
            </a:endParaRPr>
          </a:p>
        </p:txBody>
      </p:sp>
      <p:sp>
        <p:nvSpPr>
          <p:cNvPr id="3" name="Rectangle 2"/>
          <p:cNvSpPr/>
          <p:nvPr/>
        </p:nvSpPr>
        <p:spPr>
          <a:xfrm>
            <a:off x="2249403" y="1474465"/>
            <a:ext cx="7852540" cy="4401205"/>
          </a:xfrm>
          <a:prstGeom prst="rect">
            <a:avLst/>
          </a:prstGeom>
        </p:spPr>
        <p:txBody>
          <a:bodyPr wrap="square">
            <a:spAutoFit/>
          </a:bodyPr>
          <a:lstStyle/>
          <a:p>
            <a:r>
              <a:rPr lang="az-Latn-AZ" sz="2800" b="1" dirty="0"/>
              <a:t>Massivdə sort (və ya sıralama) - verilənlər strukturlarında ardıcıl verilənləri müəyyən bir qaydada (artan və ya azalan) təşkil etməyə yarayan alqoritmlərdir. Bu alqoritmlər, məsələn, tam ədədləri, simvolları və ya digər verilənləri sətirli və ya sıralı şəkildə təşkil etməyə imkan verir. Massivlər və onların sort edilməsi informatikanın əsas məsələlərindən biridir və bir çox proqramlaşdırma sahəsində geniş istifadə olunur.</a:t>
            </a:r>
            <a:endParaRPr lang="ru-RU" sz="2800" b="1" dirty="0"/>
          </a:p>
        </p:txBody>
      </p:sp>
    </p:spTree>
    <p:extLst>
      <p:ext uri="{BB962C8B-B14F-4D97-AF65-F5344CB8AC3E}">
        <p14:creationId xmlns:p14="http://schemas.microsoft.com/office/powerpoint/2010/main" val="269980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46461" y="760758"/>
            <a:ext cx="6544625" cy="2344623"/>
          </a:xfrm>
          <a:prstGeom prst="rect">
            <a:avLst/>
          </a:prstGeom>
        </p:spPr>
      </p:pic>
      <p:pic>
        <p:nvPicPr>
          <p:cNvPr id="7" name="Picture 6"/>
          <p:cNvPicPr>
            <a:picLocks noChangeAspect="1"/>
          </p:cNvPicPr>
          <p:nvPr/>
        </p:nvPicPr>
        <p:blipFill>
          <a:blip r:embed="rId3"/>
          <a:stretch>
            <a:fillRect/>
          </a:stretch>
        </p:blipFill>
        <p:spPr>
          <a:xfrm>
            <a:off x="5164990" y="3752619"/>
            <a:ext cx="6587046" cy="2485678"/>
          </a:xfrm>
          <a:prstGeom prst="rect">
            <a:avLst/>
          </a:prstGeom>
        </p:spPr>
      </p:pic>
      <p:sp>
        <p:nvSpPr>
          <p:cNvPr id="8" name="Rectangle 7"/>
          <p:cNvSpPr/>
          <p:nvPr/>
        </p:nvSpPr>
        <p:spPr>
          <a:xfrm>
            <a:off x="7196382" y="1283946"/>
            <a:ext cx="4211846" cy="954107"/>
          </a:xfrm>
          <a:prstGeom prst="rect">
            <a:avLst/>
          </a:prstGeom>
        </p:spPr>
        <p:txBody>
          <a:bodyPr wrap="square">
            <a:spAutoFit/>
          </a:bodyPr>
          <a:lstStyle/>
          <a:p>
            <a:r>
              <a:rPr lang="az-Latn-AZ" sz="2800" b="1" dirty="0"/>
              <a:t>Ən sadə sıralama (artan qaydada)</a:t>
            </a:r>
            <a:endParaRPr lang="ru-RU" sz="2800" b="1" dirty="0"/>
          </a:p>
        </p:txBody>
      </p:sp>
      <p:sp>
        <p:nvSpPr>
          <p:cNvPr id="9" name="Rectangle 8"/>
          <p:cNvSpPr/>
          <p:nvPr/>
        </p:nvSpPr>
        <p:spPr>
          <a:xfrm>
            <a:off x="355169" y="4617380"/>
            <a:ext cx="4461478" cy="523220"/>
          </a:xfrm>
          <a:prstGeom prst="rect">
            <a:avLst/>
          </a:prstGeom>
        </p:spPr>
        <p:txBody>
          <a:bodyPr wrap="none">
            <a:spAutoFit/>
          </a:bodyPr>
          <a:lstStyle/>
          <a:p>
            <a:r>
              <a:rPr lang="az-Latn-AZ" sz="2800" b="1" dirty="0"/>
              <a:t>Azalan qaydada sıralama</a:t>
            </a:r>
            <a:endParaRPr lang="ru-RU" sz="2800" b="1" dirty="0"/>
          </a:p>
        </p:txBody>
      </p:sp>
    </p:spTree>
    <p:extLst>
      <p:ext uri="{BB962C8B-B14F-4D97-AF65-F5344CB8AC3E}">
        <p14:creationId xmlns:p14="http://schemas.microsoft.com/office/powerpoint/2010/main" val="171830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118" y="0"/>
            <a:ext cx="6822339" cy="1596177"/>
          </a:xfrm>
        </p:spPr>
        <p:txBody>
          <a:bodyPr/>
          <a:lstStyle/>
          <a:p>
            <a:r>
              <a:rPr lang="az-Latn-AZ" b="1" dirty="0" smtClean="0">
                <a:latin typeface="+mn-lt"/>
              </a:rPr>
              <a:t>ƏL İLƏ YAZILAN METODLAR</a:t>
            </a:r>
            <a:r>
              <a:rPr lang="en-US" b="1" dirty="0" smtClean="0">
                <a:latin typeface="+mn-lt"/>
              </a:rPr>
              <a:t>:</a:t>
            </a:r>
            <a:endParaRPr lang="ru-RU" b="1" dirty="0">
              <a:latin typeface="+mn-lt"/>
            </a:endParaRPr>
          </a:p>
        </p:txBody>
      </p:sp>
      <p:sp>
        <p:nvSpPr>
          <p:cNvPr id="3" name="Down Arrow 2"/>
          <p:cNvSpPr/>
          <p:nvPr/>
        </p:nvSpPr>
        <p:spPr>
          <a:xfrm>
            <a:off x="5428343" y="1103086"/>
            <a:ext cx="943429" cy="20755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Rectangle 3"/>
          <p:cNvSpPr/>
          <p:nvPr/>
        </p:nvSpPr>
        <p:spPr>
          <a:xfrm>
            <a:off x="3468913" y="3462048"/>
            <a:ext cx="6139543" cy="2554545"/>
          </a:xfrm>
          <a:prstGeom prst="rect">
            <a:avLst/>
          </a:prstGeom>
        </p:spPr>
        <p:txBody>
          <a:bodyPr wrap="square">
            <a:spAutoFit/>
          </a:bodyPr>
          <a:lstStyle/>
          <a:p>
            <a:pPr marL="514350" indent="-514350">
              <a:buFont typeface="+mj-lt"/>
              <a:buAutoNum type="arabicPeriod"/>
            </a:pPr>
            <a:r>
              <a:rPr lang="az-Latn-AZ" sz="4000" b="1" dirty="0" smtClean="0"/>
              <a:t>Bubble Sort</a:t>
            </a:r>
            <a:endParaRPr lang="en-US" sz="4000" b="1" dirty="0" smtClean="0"/>
          </a:p>
          <a:p>
            <a:pPr marL="514350" indent="-514350">
              <a:buFont typeface="+mj-lt"/>
              <a:buAutoNum type="arabicPeriod"/>
            </a:pPr>
            <a:r>
              <a:rPr lang="en-US" sz="4000" b="1" dirty="0" smtClean="0"/>
              <a:t>SELECTION SORT</a:t>
            </a:r>
          </a:p>
          <a:p>
            <a:pPr marL="514350" indent="-514350">
              <a:buFont typeface="+mj-lt"/>
              <a:buAutoNum type="arabicPeriod"/>
            </a:pPr>
            <a:r>
              <a:rPr lang="en-US" sz="4000" b="1" dirty="0" smtClean="0"/>
              <a:t>INSERTION SORT</a:t>
            </a:r>
          </a:p>
          <a:p>
            <a:pPr marL="514350" indent="-514350">
              <a:buFont typeface="+mj-lt"/>
              <a:buAutoNum type="arabicPeriod"/>
            </a:pPr>
            <a:r>
              <a:rPr lang="en-US" sz="4000" b="1" dirty="0" smtClean="0"/>
              <a:t>QUICK SORT</a:t>
            </a:r>
            <a:endParaRPr lang="ru-RU" sz="4000" b="1" dirty="0"/>
          </a:p>
        </p:txBody>
      </p:sp>
    </p:spTree>
    <p:extLst>
      <p:ext uri="{BB962C8B-B14F-4D97-AF65-F5344CB8AC3E}">
        <p14:creationId xmlns:p14="http://schemas.microsoft.com/office/powerpoint/2010/main" val="486209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1" y="112619"/>
            <a:ext cx="3788229" cy="1152226"/>
          </a:xfrm>
        </p:spPr>
        <p:txBody>
          <a:bodyPr>
            <a:normAutofit/>
          </a:bodyPr>
          <a:lstStyle/>
          <a:p>
            <a:r>
              <a:rPr lang="en-US" sz="3200" b="1" dirty="0" smtClean="0">
                <a:latin typeface="+mn-lt"/>
              </a:rPr>
              <a:t>BUBBLE SORT</a:t>
            </a:r>
            <a:endParaRPr lang="ru-RU" sz="3200" b="1" dirty="0">
              <a:latin typeface="+mn-lt"/>
            </a:endParaRPr>
          </a:p>
        </p:txBody>
      </p:sp>
      <p:sp>
        <p:nvSpPr>
          <p:cNvPr id="3" name="Rectangle 2"/>
          <p:cNvSpPr/>
          <p:nvPr/>
        </p:nvSpPr>
        <p:spPr>
          <a:xfrm>
            <a:off x="5747657" y="332379"/>
            <a:ext cx="6096000" cy="1077218"/>
          </a:xfrm>
          <a:prstGeom prst="rect">
            <a:avLst/>
          </a:prstGeom>
        </p:spPr>
        <p:txBody>
          <a:bodyPr>
            <a:spAutoFit/>
          </a:bodyPr>
          <a:lstStyle/>
          <a:p>
            <a:r>
              <a:rPr lang="az-Latn-AZ" sz="1600" b="1" dirty="0"/>
              <a:t>Bubble Sort alqoritması, verilən massivdəki hər iki qonşu elementi müqayisə edərək daha böyük olanını sağa keçirir. Bu proses hər keçiddə ən böyük elementi sona doğru "baloncuk" kimi keçirir.</a:t>
            </a:r>
            <a:endParaRPr lang="ru-RU" sz="1600" b="1" dirty="0"/>
          </a:p>
        </p:txBody>
      </p:sp>
      <p:sp>
        <p:nvSpPr>
          <p:cNvPr id="4" name="Right Arrow 3"/>
          <p:cNvSpPr/>
          <p:nvPr/>
        </p:nvSpPr>
        <p:spPr>
          <a:xfrm>
            <a:off x="3483428" y="347647"/>
            <a:ext cx="2264229" cy="6821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p:cNvSpPr txBox="1"/>
          <p:nvPr/>
        </p:nvSpPr>
        <p:spPr>
          <a:xfrm>
            <a:off x="0" y="1800822"/>
            <a:ext cx="3933372" cy="584775"/>
          </a:xfrm>
          <a:prstGeom prst="rect">
            <a:avLst/>
          </a:prstGeom>
          <a:noFill/>
        </p:spPr>
        <p:txBody>
          <a:bodyPr wrap="square" rtlCol="0">
            <a:spAutoFit/>
          </a:bodyPr>
          <a:lstStyle/>
          <a:p>
            <a:r>
              <a:rPr lang="en-US" sz="3200" b="1" dirty="0" smtClean="0"/>
              <a:t>SELECTION SORT</a:t>
            </a:r>
            <a:endParaRPr lang="ru-RU" sz="3200" b="1" dirty="0"/>
          </a:p>
        </p:txBody>
      </p:sp>
      <p:sp>
        <p:nvSpPr>
          <p:cNvPr id="7" name="Right Arrow 6"/>
          <p:cNvSpPr/>
          <p:nvPr/>
        </p:nvSpPr>
        <p:spPr>
          <a:xfrm>
            <a:off x="3918856" y="1761482"/>
            <a:ext cx="2104571" cy="7547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Rectangle 7"/>
          <p:cNvSpPr/>
          <p:nvPr/>
        </p:nvSpPr>
        <p:spPr>
          <a:xfrm>
            <a:off x="6096000" y="1503606"/>
            <a:ext cx="6096000" cy="1569660"/>
          </a:xfrm>
          <a:prstGeom prst="rect">
            <a:avLst/>
          </a:prstGeom>
        </p:spPr>
        <p:txBody>
          <a:bodyPr>
            <a:spAutoFit/>
          </a:bodyPr>
          <a:lstStyle/>
          <a:p>
            <a:r>
              <a:rPr lang="az-Latn-AZ" sz="1600" b="1" dirty="0"/>
              <a:t>Selection Sort alqoritması verilənlər massivini sıralamaq üçün sadə bir yanaşma təqdim edir. Bu alqoritmada, hər bir addımda ən kiçik (və ya ən böyük) elementi tapıb onu doğru yerə yerləşdiririk. Bu proses təkrarlanan dövr ilə həyata keçirilir və sıralanmış massiv böyüdükcə qalan hissənin sıralanması davam edir.</a:t>
            </a:r>
            <a:endParaRPr lang="ru-RU" sz="1600" b="1" dirty="0"/>
          </a:p>
        </p:txBody>
      </p:sp>
      <p:sp>
        <p:nvSpPr>
          <p:cNvPr id="10" name="TextBox 9"/>
          <p:cNvSpPr txBox="1"/>
          <p:nvPr/>
        </p:nvSpPr>
        <p:spPr>
          <a:xfrm>
            <a:off x="0" y="3643086"/>
            <a:ext cx="3904343" cy="584775"/>
          </a:xfrm>
          <a:prstGeom prst="rect">
            <a:avLst/>
          </a:prstGeom>
          <a:noFill/>
        </p:spPr>
        <p:txBody>
          <a:bodyPr wrap="square" rtlCol="0">
            <a:spAutoFit/>
          </a:bodyPr>
          <a:lstStyle/>
          <a:p>
            <a:r>
              <a:rPr lang="en-US" sz="3200" b="1" dirty="0" smtClean="0"/>
              <a:t>INSERTION SORT</a:t>
            </a:r>
            <a:endParaRPr lang="ru-RU" sz="3200" b="1" dirty="0"/>
          </a:p>
        </p:txBody>
      </p:sp>
      <p:sp>
        <p:nvSpPr>
          <p:cNvPr id="11" name="Right Arrow 10"/>
          <p:cNvSpPr/>
          <p:nvPr/>
        </p:nvSpPr>
        <p:spPr>
          <a:xfrm>
            <a:off x="3744685" y="3616856"/>
            <a:ext cx="2002972" cy="812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Rectangle 11"/>
          <p:cNvSpPr/>
          <p:nvPr/>
        </p:nvSpPr>
        <p:spPr>
          <a:xfrm>
            <a:off x="5950855" y="3348446"/>
            <a:ext cx="6096000" cy="1569660"/>
          </a:xfrm>
          <a:prstGeom prst="rect">
            <a:avLst/>
          </a:prstGeom>
        </p:spPr>
        <p:txBody>
          <a:bodyPr>
            <a:spAutoFit/>
          </a:bodyPr>
          <a:lstStyle/>
          <a:p>
            <a:r>
              <a:rPr lang="az-Latn-AZ" sz="1600" b="1" dirty="0"/>
              <a:t>Insertion Sort alqoritması, sıralama prosesi üçün sadə və effektiv bir yanaşmadır, xüsusilə kiçik verilənlər dəstləri üçün. Bu alqoritma sıralama prosesini bir elementin əlavə edilməsi kimi təsəvvür edir. Əgər verilənlər massivində yeni bir element əlavə etmək </a:t>
            </a:r>
            <a:r>
              <a:rPr lang="az-Latn-AZ" sz="1600" b="1" dirty="0" smtClean="0"/>
              <a:t>istəyiriksə, bu elementi doğru mövqeyə yerləşdiririk ki, massiv hər zaman sıralı qalsın.</a:t>
            </a:r>
            <a:endParaRPr lang="ru-RU" sz="1600" b="1" dirty="0"/>
          </a:p>
        </p:txBody>
      </p:sp>
      <p:sp>
        <p:nvSpPr>
          <p:cNvPr id="13" name="TextBox 12"/>
          <p:cNvSpPr txBox="1"/>
          <p:nvPr/>
        </p:nvSpPr>
        <p:spPr>
          <a:xfrm>
            <a:off x="0" y="5812042"/>
            <a:ext cx="3156855" cy="584775"/>
          </a:xfrm>
          <a:prstGeom prst="rect">
            <a:avLst/>
          </a:prstGeom>
          <a:noFill/>
        </p:spPr>
        <p:txBody>
          <a:bodyPr wrap="square" rtlCol="0">
            <a:spAutoFit/>
          </a:bodyPr>
          <a:lstStyle/>
          <a:p>
            <a:r>
              <a:rPr lang="en-US" sz="3200" b="1" dirty="0" smtClean="0"/>
              <a:t>QUICK SORT</a:t>
            </a:r>
            <a:endParaRPr lang="ru-RU" sz="3200" b="1" dirty="0"/>
          </a:p>
        </p:txBody>
      </p:sp>
      <p:sp>
        <p:nvSpPr>
          <p:cNvPr id="14" name="Right Arrow 13"/>
          <p:cNvSpPr/>
          <p:nvPr/>
        </p:nvSpPr>
        <p:spPr>
          <a:xfrm>
            <a:off x="3026227" y="5687145"/>
            <a:ext cx="2119086" cy="834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Rectangle 14"/>
          <p:cNvSpPr/>
          <p:nvPr/>
        </p:nvSpPr>
        <p:spPr>
          <a:xfrm>
            <a:off x="5246912" y="5233907"/>
            <a:ext cx="6865258" cy="1569660"/>
          </a:xfrm>
          <a:prstGeom prst="rect">
            <a:avLst/>
          </a:prstGeom>
        </p:spPr>
        <p:txBody>
          <a:bodyPr wrap="square">
            <a:spAutoFit/>
          </a:bodyPr>
          <a:lstStyle/>
          <a:p>
            <a:r>
              <a:rPr lang="az-Latn-AZ" sz="1600" b="1" dirty="0"/>
              <a:t>Quick Sort alqoritması, böl və fəth et (divide and conquer) yanaşması əsasında işləyir və çox sürətli sıralama alqoritmalarından biridir. Alqoritma verilən massivdən bir pivot elementi seçərək, bu elementdən kiçik olanları bir tərəfə, böyük olanları isə digər tərəfə yerləşdirir. Sonra hər bir tərəfi təkrarlayaraq sıralama prosesini davam etdirir</a:t>
            </a:r>
            <a:endParaRPr lang="ru-RU" sz="1600" b="1" dirty="0"/>
          </a:p>
        </p:txBody>
      </p:sp>
    </p:spTree>
    <p:extLst>
      <p:ext uri="{BB962C8B-B14F-4D97-AF65-F5344CB8AC3E}">
        <p14:creationId xmlns:p14="http://schemas.microsoft.com/office/powerpoint/2010/main" val="131177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6424781" cy="2464145"/>
          </a:xfrm>
          <a:prstGeom prst="rect">
            <a:avLst/>
          </a:prstGeom>
        </p:spPr>
      </p:pic>
      <p:pic>
        <p:nvPicPr>
          <p:cNvPr id="4" name="Picture 3"/>
          <p:cNvPicPr>
            <a:picLocks noChangeAspect="1"/>
          </p:cNvPicPr>
          <p:nvPr/>
        </p:nvPicPr>
        <p:blipFill>
          <a:blip r:embed="rId3"/>
          <a:stretch>
            <a:fillRect/>
          </a:stretch>
        </p:blipFill>
        <p:spPr>
          <a:xfrm>
            <a:off x="6622384" y="2113145"/>
            <a:ext cx="5569616" cy="1413826"/>
          </a:xfrm>
          <a:prstGeom prst="rect">
            <a:avLst/>
          </a:prstGeom>
        </p:spPr>
      </p:pic>
      <p:pic>
        <p:nvPicPr>
          <p:cNvPr id="5" name="Picture 4"/>
          <p:cNvPicPr>
            <a:picLocks noChangeAspect="1"/>
          </p:cNvPicPr>
          <p:nvPr/>
        </p:nvPicPr>
        <p:blipFill>
          <a:blip r:embed="rId4"/>
          <a:stretch>
            <a:fillRect/>
          </a:stretch>
        </p:blipFill>
        <p:spPr>
          <a:xfrm>
            <a:off x="0" y="3526971"/>
            <a:ext cx="6740716" cy="1447393"/>
          </a:xfrm>
          <a:prstGeom prst="rect">
            <a:avLst/>
          </a:prstGeom>
        </p:spPr>
      </p:pic>
      <p:pic>
        <p:nvPicPr>
          <p:cNvPr id="6" name="Picture 5"/>
          <p:cNvPicPr>
            <a:picLocks noChangeAspect="1"/>
          </p:cNvPicPr>
          <p:nvPr/>
        </p:nvPicPr>
        <p:blipFill>
          <a:blip r:embed="rId5"/>
          <a:stretch>
            <a:fillRect/>
          </a:stretch>
        </p:blipFill>
        <p:spPr>
          <a:xfrm>
            <a:off x="3368184" y="5461408"/>
            <a:ext cx="8508766" cy="1151563"/>
          </a:xfrm>
          <a:prstGeom prst="rect">
            <a:avLst/>
          </a:prstGeom>
        </p:spPr>
      </p:pic>
    </p:spTree>
    <p:extLst>
      <p:ext uri="{BB962C8B-B14F-4D97-AF65-F5344CB8AC3E}">
        <p14:creationId xmlns:p14="http://schemas.microsoft.com/office/powerpoint/2010/main" val="1908982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9375" y="0"/>
            <a:ext cx="7098111" cy="1515083"/>
          </a:xfrm>
        </p:spPr>
        <p:txBody>
          <a:bodyPr/>
          <a:lstStyle/>
          <a:p>
            <a:r>
              <a:rPr lang="az-Latn-AZ" b="1" dirty="0" smtClean="0">
                <a:latin typeface="+mn-lt"/>
              </a:rPr>
              <a:t>MASSİVDƏ </a:t>
            </a:r>
            <a:r>
              <a:rPr lang="en-US" b="1" dirty="0" smtClean="0">
                <a:latin typeface="+mn-lt"/>
              </a:rPr>
              <a:t>SEARCH </a:t>
            </a:r>
            <a:r>
              <a:rPr lang="az-Latn-AZ" b="1" dirty="0" smtClean="0">
                <a:latin typeface="+mn-lt"/>
              </a:rPr>
              <a:t>ƏMRİ</a:t>
            </a:r>
            <a:endParaRPr lang="ru-RU" b="1" dirty="0">
              <a:latin typeface="+mn-lt"/>
            </a:endParaRPr>
          </a:p>
        </p:txBody>
      </p:sp>
      <p:sp>
        <p:nvSpPr>
          <p:cNvPr id="3" name="Rectangle 2"/>
          <p:cNvSpPr/>
          <p:nvPr/>
        </p:nvSpPr>
        <p:spPr>
          <a:xfrm>
            <a:off x="2064188" y="1819479"/>
            <a:ext cx="8048484" cy="3539430"/>
          </a:xfrm>
          <a:prstGeom prst="rect">
            <a:avLst/>
          </a:prstGeom>
        </p:spPr>
        <p:txBody>
          <a:bodyPr wrap="square">
            <a:spAutoFit/>
          </a:bodyPr>
          <a:lstStyle/>
          <a:p>
            <a:r>
              <a:rPr lang="az-Latn-AZ" sz="3200" b="1" dirty="0"/>
              <a:t>Massivdə axtarış aparmaq üçün müxtəlif üsullar mövcuddur. Ən sadə üsul linear search (xətti axtarış) üsuludur, bu üsulda massivdəki hər bir elementi bir-bir yoxlayırıq. Əgər axtardığımız element tapılarsa, indeksini qaytarırıq, tapılmasa isə "tapılmadı" mesajı veririk.</a:t>
            </a:r>
            <a:endParaRPr lang="ru-RU" sz="3200" b="1" dirty="0"/>
          </a:p>
        </p:txBody>
      </p:sp>
    </p:spTree>
    <p:extLst>
      <p:ext uri="{BB962C8B-B14F-4D97-AF65-F5344CB8AC3E}">
        <p14:creationId xmlns:p14="http://schemas.microsoft.com/office/powerpoint/2010/main" val="3848694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089" y="0"/>
            <a:ext cx="5791825" cy="1340912"/>
          </a:xfrm>
        </p:spPr>
        <p:txBody>
          <a:bodyPr/>
          <a:lstStyle/>
          <a:p>
            <a:r>
              <a:rPr lang="az-Latn-AZ" b="1" dirty="0" smtClean="0">
                <a:latin typeface="+mn-lt"/>
              </a:rPr>
              <a:t>BİNARY SEARCH</a:t>
            </a:r>
            <a:endParaRPr lang="ru-RU" b="1" dirty="0">
              <a:latin typeface="+mn-lt"/>
            </a:endParaRPr>
          </a:p>
        </p:txBody>
      </p:sp>
      <p:sp>
        <p:nvSpPr>
          <p:cNvPr id="3" name="Rectangle 2"/>
          <p:cNvSpPr/>
          <p:nvPr/>
        </p:nvSpPr>
        <p:spPr>
          <a:xfrm>
            <a:off x="217089" y="1340912"/>
            <a:ext cx="4949997" cy="4154984"/>
          </a:xfrm>
          <a:prstGeom prst="rect">
            <a:avLst/>
          </a:prstGeom>
        </p:spPr>
        <p:txBody>
          <a:bodyPr wrap="square">
            <a:spAutoFit/>
          </a:bodyPr>
          <a:lstStyle/>
          <a:p>
            <a:r>
              <a:rPr lang="az-Latn-AZ" sz="2400" b="1" dirty="0"/>
              <a:t>Binary Search (ikili axtarış) sıralanmış massivlərdə daha sürətli axtarış aparmaq üçün istifadə olunan bir alqoritmadır. Bu alqoritma massivdəki elementləri təkrarlama əvəzinə, hər dəfə massivni yarıya bölərək axtarış aparır. Bu yanaşma O(log n) vaxt kompleksliyinə malikdir, yəni massiv böyüdükcə axtarışın sürəti çox yavaşca artır.</a:t>
            </a:r>
            <a:endParaRPr lang="ru-RU" sz="2400" b="1" dirty="0"/>
          </a:p>
        </p:txBody>
      </p:sp>
      <p:sp>
        <p:nvSpPr>
          <p:cNvPr id="4" name="AutoShape 2" descr="Binary Search in C - DataFlai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4" descr="Binary Search Algorithm - Iterative and Recursive Implementation -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32" name="Picture 8" descr="Binary Search and Its Powerful Applications | by Anshu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526" y="1587654"/>
            <a:ext cx="6342704" cy="3419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08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7947" y="0"/>
            <a:ext cx="5254796" cy="1602169"/>
          </a:xfrm>
        </p:spPr>
        <p:txBody>
          <a:bodyPr/>
          <a:lstStyle/>
          <a:p>
            <a:r>
              <a:rPr lang="az-Latn-AZ" b="1" dirty="0" smtClean="0">
                <a:latin typeface="+mn-lt"/>
              </a:rPr>
              <a:t>LİNEAR SEARCH</a:t>
            </a:r>
            <a:endParaRPr lang="ru-RU" b="1" dirty="0">
              <a:latin typeface="+mn-lt"/>
            </a:endParaRPr>
          </a:p>
        </p:txBody>
      </p:sp>
      <p:sp>
        <p:nvSpPr>
          <p:cNvPr id="3" name="Rectangle 2"/>
          <p:cNvSpPr/>
          <p:nvPr/>
        </p:nvSpPr>
        <p:spPr>
          <a:xfrm>
            <a:off x="0" y="1950107"/>
            <a:ext cx="6096000" cy="2677656"/>
          </a:xfrm>
          <a:prstGeom prst="rect">
            <a:avLst/>
          </a:prstGeom>
        </p:spPr>
        <p:txBody>
          <a:bodyPr>
            <a:spAutoFit/>
          </a:bodyPr>
          <a:lstStyle/>
          <a:p>
            <a:r>
              <a:rPr lang="az-Latn-AZ" sz="2400" b="1" dirty="0" smtClean="0"/>
              <a:t>Linear </a:t>
            </a:r>
            <a:r>
              <a:rPr lang="az-Latn-AZ" sz="2400" b="1" dirty="0"/>
              <a:t>Search alqoritması O(n) vaxt kompleksliyinə malikdir, yəni massivdəki hər bir elementi bir-bir yoxlamağa məcburuq. Bu, kiçik verilənlər dəstləri üçün əlverişlidir, amma böyük verilənlər üçün çox səmərəli deyil.</a:t>
            </a:r>
            <a:endParaRPr lang="ru-RU" sz="2400" b="1" dirty="0"/>
          </a:p>
        </p:txBody>
      </p:sp>
      <p:pic>
        <p:nvPicPr>
          <p:cNvPr id="2052" name="Picture 4" descr="Unveiling the Power of Linear Search: A Simple Yet Effective Algorithm for  Element Retrieval | by Rohan Patil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9959" y="1819884"/>
            <a:ext cx="6415039" cy="3608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50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9864" y="598179"/>
            <a:ext cx="4980494" cy="2217592"/>
          </a:xfrm>
          <a:prstGeom prst="rect">
            <a:avLst/>
          </a:prstGeom>
        </p:spPr>
      </p:pic>
      <p:pic>
        <p:nvPicPr>
          <p:cNvPr id="3" name="Picture 2"/>
          <p:cNvPicPr>
            <a:picLocks noChangeAspect="1"/>
          </p:cNvPicPr>
          <p:nvPr/>
        </p:nvPicPr>
        <p:blipFill>
          <a:blip r:embed="rId3"/>
          <a:stretch>
            <a:fillRect/>
          </a:stretch>
        </p:blipFill>
        <p:spPr>
          <a:xfrm>
            <a:off x="7268071" y="380465"/>
            <a:ext cx="4184296" cy="3058339"/>
          </a:xfrm>
          <a:prstGeom prst="rect">
            <a:avLst/>
          </a:prstGeom>
        </p:spPr>
      </p:pic>
      <p:pic>
        <p:nvPicPr>
          <p:cNvPr id="4" name="Picture 3"/>
          <p:cNvPicPr>
            <a:picLocks noChangeAspect="1"/>
          </p:cNvPicPr>
          <p:nvPr/>
        </p:nvPicPr>
        <p:blipFill>
          <a:blip r:embed="rId4"/>
          <a:stretch>
            <a:fillRect/>
          </a:stretch>
        </p:blipFill>
        <p:spPr>
          <a:xfrm>
            <a:off x="551182" y="3656518"/>
            <a:ext cx="6279661" cy="2671711"/>
          </a:xfrm>
          <a:prstGeom prst="rect">
            <a:avLst/>
          </a:prstGeom>
        </p:spPr>
      </p:pic>
    </p:spTree>
    <p:extLst>
      <p:ext uri="{BB962C8B-B14F-4D97-AF65-F5344CB8AC3E}">
        <p14:creationId xmlns:p14="http://schemas.microsoft.com/office/powerpoint/2010/main" val="368042860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Droplet</Template>
  <TotalTime>68</TotalTime>
  <Words>473</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Tw Cen MT</vt:lpstr>
      <vt:lpstr>Droplet</vt:lpstr>
      <vt:lpstr>PowerPoint Presentation</vt:lpstr>
      <vt:lpstr>MASSIVDƏ SORT ƏMRİ</vt:lpstr>
      <vt:lpstr>PowerPoint Presentation</vt:lpstr>
      <vt:lpstr>ƏL İLƏ YAZILAN METODLAR:</vt:lpstr>
      <vt:lpstr>BUBBLE SORT</vt:lpstr>
      <vt:lpstr>PowerPoint Presentation</vt:lpstr>
      <vt:lpstr>MASSİVDƏ SEARCH ƏMRİ</vt:lpstr>
      <vt:lpstr>BİNARY SEARCH</vt:lpstr>
      <vt:lpstr>LİNEAR SEARCH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7</cp:revision>
  <dcterms:created xsi:type="dcterms:W3CDTF">2024-12-15T18:43:33Z</dcterms:created>
  <dcterms:modified xsi:type="dcterms:W3CDTF">2024-12-15T19:52:05Z</dcterms:modified>
</cp:coreProperties>
</file>