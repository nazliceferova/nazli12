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27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5B3819-A27B-416B-A31D-1717541A6B9D}"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ACC2EC13-EE64-4F27-B445-9F4986EDBDCD}">
      <dgm:prSet phldrT="[Text]">
        <dgm:style>
          <a:lnRef idx="1">
            <a:schemeClr val="dk1"/>
          </a:lnRef>
          <a:fillRef idx="2">
            <a:schemeClr val="dk1"/>
          </a:fillRef>
          <a:effectRef idx="1">
            <a:schemeClr val="dk1"/>
          </a:effectRef>
          <a:fontRef idx="minor">
            <a:schemeClr val="dk1"/>
          </a:fontRef>
        </dgm:style>
      </dgm:prSet>
      <dgm:spPr/>
      <dgm:t>
        <a:bodyPr/>
        <a:lstStyle/>
        <a:p>
          <a:r>
            <a:rPr lang="az-Latn-AZ" b="1" dirty="0" smtClean="0">
              <a:solidFill>
                <a:schemeClr val="tx1"/>
              </a:solidFill>
            </a:rPr>
            <a:t>Fayl sistemini təşkil etmək</a:t>
          </a:r>
          <a:endParaRPr lang="en-US" b="1" dirty="0">
            <a:solidFill>
              <a:schemeClr val="tx1"/>
            </a:solidFill>
          </a:endParaRPr>
        </a:p>
      </dgm:t>
    </dgm:pt>
    <dgm:pt modelId="{56175D91-7A16-4A63-B6A6-06F26FD14D07}" type="parTrans" cxnId="{93067023-EC4E-4067-8ABE-243BEEE9B985}">
      <dgm:prSet/>
      <dgm:spPr/>
      <dgm:t>
        <a:bodyPr/>
        <a:lstStyle/>
        <a:p>
          <a:endParaRPr lang="en-US"/>
        </a:p>
      </dgm:t>
    </dgm:pt>
    <dgm:pt modelId="{B78641C8-0F13-43CD-A6F0-B2EA5EB60AC9}" type="sibTrans" cxnId="{93067023-EC4E-4067-8ABE-243BEEE9B985}">
      <dgm:prSet/>
      <dgm:spPr/>
      <dgm:t>
        <a:bodyPr/>
        <a:lstStyle/>
        <a:p>
          <a:endParaRPr lang="en-US"/>
        </a:p>
      </dgm:t>
    </dgm:pt>
    <dgm:pt modelId="{E9020BA0-C2E9-4BC0-A8E5-D3DD8718AEEE}">
      <dgm:prSet phldrT="[Text]">
        <dgm:style>
          <a:lnRef idx="1">
            <a:schemeClr val="dk1"/>
          </a:lnRef>
          <a:fillRef idx="2">
            <a:schemeClr val="dk1"/>
          </a:fillRef>
          <a:effectRef idx="1">
            <a:schemeClr val="dk1"/>
          </a:effectRef>
          <a:fontRef idx="minor">
            <a:schemeClr val="dk1"/>
          </a:fontRef>
        </dgm:style>
      </dgm:prSet>
      <dgm:spPr/>
      <dgm:t>
        <a:bodyPr/>
        <a:lstStyle/>
        <a:p>
          <a:r>
            <a:rPr lang="az-Latn-AZ" b="1" dirty="0" smtClean="0">
              <a:solidFill>
                <a:schemeClr val="tx1"/>
              </a:solidFill>
            </a:rPr>
            <a:t>Digər proqramların işə salınmasını təmin etmək</a:t>
          </a:r>
          <a:endParaRPr lang="en-US" b="1" dirty="0">
            <a:solidFill>
              <a:schemeClr val="tx1"/>
            </a:solidFill>
          </a:endParaRPr>
        </a:p>
      </dgm:t>
    </dgm:pt>
    <dgm:pt modelId="{B2512637-BD50-4BED-A29C-FA42FF792F62}" type="parTrans" cxnId="{F8FC309C-9D8B-41E4-BB2F-7931B1CB1E45}">
      <dgm:prSet/>
      <dgm:spPr/>
      <dgm:t>
        <a:bodyPr/>
        <a:lstStyle/>
        <a:p>
          <a:endParaRPr lang="en-US"/>
        </a:p>
      </dgm:t>
    </dgm:pt>
    <dgm:pt modelId="{5DFDC6EC-74E4-4069-92C2-064C4E19E7BC}" type="sibTrans" cxnId="{F8FC309C-9D8B-41E4-BB2F-7931B1CB1E45}">
      <dgm:prSet/>
      <dgm:spPr/>
      <dgm:t>
        <a:bodyPr/>
        <a:lstStyle/>
        <a:p>
          <a:endParaRPr lang="en-US"/>
        </a:p>
      </dgm:t>
    </dgm:pt>
    <dgm:pt modelId="{075FB9BE-6081-4BF5-9A45-0E4D3AD94B3E}">
      <dgm:prSet phldrT="[Text]">
        <dgm:style>
          <a:lnRef idx="1">
            <a:schemeClr val="dk1"/>
          </a:lnRef>
          <a:fillRef idx="2">
            <a:schemeClr val="dk1"/>
          </a:fillRef>
          <a:effectRef idx="1">
            <a:schemeClr val="dk1"/>
          </a:effectRef>
          <a:fontRef idx="minor">
            <a:schemeClr val="dk1"/>
          </a:fontRef>
        </dgm:style>
      </dgm:prSet>
      <dgm:spPr/>
      <dgm:t>
        <a:bodyPr/>
        <a:lstStyle/>
        <a:p>
          <a:r>
            <a:rPr lang="az-Latn-AZ" b="1" dirty="0" smtClean="0">
              <a:solidFill>
                <a:schemeClr val="tx1"/>
              </a:solidFill>
            </a:rPr>
            <a:t>İstifadəçi ilə komputer arasında dialoqun təşkili</a:t>
          </a:r>
          <a:endParaRPr lang="en-US" b="1" dirty="0">
            <a:solidFill>
              <a:schemeClr val="tx1"/>
            </a:solidFill>
          </a:endParaRPr>
        </a:p>
      </dgm:t>
    </dgm:pt>
    <dgm:pt modelId="{604FF181-0640-48B3-B682-1A28534B33DB}" type="parTrans" cxnId="{621F5F07-594D-41A3-A038-075DA54B1100}">
      <dgm:prSet/>
      <dgm:spPr/>
      <dgm:t>
        <a:bodyPr/>
        <a:lstStyle/>
        <a:p>
          <a:endParaRPr lang="en-US"/>
        </a:p>
      </dgm:t>
    </dgm:pt>
    <dgm:pt modelId="{5759FB47-1F09-472F-A163-6D37ED6803D8}" type="sibTrans" cxnId="{621F5F07-594D-41A3-A038-075DA54B1100}">
      <dgm:prSet/>
      <dgm:spPr/>
      <dgm:t>
        <a:bodyPr/>
        <a:lstStyle/>
        <a:p>
          <a:endParaRPr lang="en-US"/>
        </a:p>
      </dgm:t>
    </dgm:pt>
    <dgm:pt modelId="{A366DC04-8E67-4D5A-957D-27A799A155EF}" type="pres">
      <dgm:prSet presAssocID="{C45B3819-A27B-416B-A31D-1717541A6B9D}" presName="Name0" presStyleCnt="0">
        <dgm:presLayoutVars>
          <dgm:dir/>
          <dgm:resizeHandles val="exact"/>
        </dgm:presLayoutVars>
      </dgm:prSet>
      <dgm:spPr/>
      <dgm:t>
        <a:bodyPr/>
        <a:lstStyle/>
        <a:p>
          <a:endParaRPr lang="en-US"/>
        </a:p>
      </dgm:t>
    </dgm:pt>
    <dgm:pt modelId="{0A9CA12E-0B4C-435C-AD0B-9AD9A3EE8504}" type="pres">
      <dgm:prSet presAssocID="{ACC2EC13-EE64-4F27-B445-9F4986EDBDCD}" presName="node" presStyleLbl="node1" presStyleIdx="0" presStyleCnt="3" custLinFactX="-8746" custLinFactNeighborX="-100000" custLinFactNeighborY="2542">
        <dgm:presLayoutVars>
          <dgm:bulletEnabled val="1"/>
        </dgm:presLayoutVars>
      </dgm:prSet>
      <dgm:spPr/>
      <dgm:t>
        <a:bodyPr/>
        <a:lstStyle/>
        <a:p>
          <a:endParaRPr lang="en-US"/>
        </a:p>
      </dgm:t>
    </dgm:pt>
    <dgm:pt modelId="{46E004C2-5434-4ABA-AC3B-E7F365040B9D}" type="pres">
      <dgm:prSet presAssocID="{B78641C8-0F13-43CD-A6F0-B2EA5EB60AC9}" presName="sibTrans" presStyleCnt="0"/>
      <dgm:spPr/>
    </dgm:pt>
    <dgm:pt modelId="{F2FEFB1F-F808-447D-9AA3-06D9192CFA83}" type="pres">
      <dgm:prSet presAssocID="{E9020BA0-C2E9-4BC0-A8E5-D3DD8718AEEE}" presName="node" presStyleLbl="node1" presStyleIdx="1" presStyleCnt="3">
        <dgm:presLayoutVars>
          <dgm:bulletEnabled val="1"/>
        </dgm:presLayoutVars>
      </dgm:prSet>
      <dgm:spPr/>
      <dgm:t>
        <a:bodyPr/>
        <a:lstStyle/>
        <a:p>
          <a:endParaRPr lang="en-US"/>
        </a:p>
      </dgm:t>
    </dgm:pt>
    <dgm:pt modelId="{DBCEFCBD-5F6E-446B-B139-79F82FB40B7D}" type="pres">
      <dgm:prSet presAssocID="{5DFDC6EC-74E4-4069-92C2-064C4E19E7BC}" presName="sibTrans" presStyleCnt="0"/>
      <dgm:spPr/>
    </dgm:pt>
    <dgm:pt modelId="{CF42FEE4-6C14-41CD-8676-87095B5977D8}" type="pres">
      <dgm:prSet presAssocID="{075FB9BE-6081-4BF5-9A45-0E4D3AD94B3E}" presName="node" presStyleLbl="node1" presStyleIdx="2" presStyleCnt="3">
        <dgm:presLayoutVars>
          <dgm:bulletEnabled val="1"/>
        </dgm:presLayoutVars>
      </dgm:prSet>
      <dgm:spPr/>
      <dgm:t>
        <a:bodyPr/>
        <a:lstStyle/>
        <a:p>
          <a:endParaRPr lang="en-US"/>
        </a:p>
      </dgm:t>
    </dgm:pt>
  </dgm:ptLst>
  <dgm:cxnLst>
    <dgm:cxn modelId="{90D56FEE-89C6-425D-AF73-3A4D97CF3A66}" type="presOf" srcId="{C45B3819-A27B-416B-A31D-1717541A6B9D}" destId="{A366DC04-8E67-4D5A-957D-27A799A155EF}" srcOrd="0" destOrd="0" presId="urn:microsoft.com/office/officeart/2005/8/layout/hList6"/>
    <dgm:cxn modelId="{AE29B1B5-2205-4FD3-88CE-37BCB9E2EC5A}" type="presOf" srcId="{ACC2EC13-EE64-4F27-B445-9F4986EDBDCD}" destId="{0A9CA12E-0B4C-435C-AD0B-9AD9A3EE8504}" srcOrd="0" destOrd="0" presId="urn:microsoft.com/office/officeart/2005/8/layout/hList6"/>
    <dgm:cxn modelId="{3ADFA62A-7E89-499F-A1AF-063920190CF9}" type="presOf" srcId="{E9020BA0-C2E9-4BC0-A8E5-D3DD8718AEEE}" destId="{F2FEFB1F-F808-447D-9AA3-06D9192CFA83}" srcOrd="0" destOrd="0" presId="urn:microsoft.com/office/officeart/2005/8/layout/hList6"/>
    <dgm:cxn modelId="{621F5F07-594D-41A3-A038-075DA54B1100}" srcId="{C45B3819-A27B-416B-A31D-1717541A6B9D}" destId="{075FB9BE-6081-4BF5-9A45-0E4D3AD94B3E}" srcOrd="2" destOrd="0" parTransId="{604FF181-0640-48B3-B682-1A28534B33DB}" sibTransId="{5759FB47-1F09-472F-A163-6D37ED6803D8}"/>
    <dgm:cxn modelId="{F8FC309C-9D8B-41E4-BB2F-7931B1CB1E45}" srcId="{C45B3819-A27B-416B-A31D-1717541A6B9D}" destId="{E9020BA0-C2E9-4BC0-A8E5-D3DD8718AEEE}" srcOrd="1" destOrd="0" parTransId="{B2512637-BD50-4BED-A29C-FA42FF792F62}" sibTransId="{5DFDC6EC-74E4-4069-92C2-064C4E19E7BC}"/>
    <dgm:cxn modelId="{93067023-EC4E-4067-8ABE-243BEEE9B985}" srcId="{C45B3819-A27B-416B-A31D-1717541A6B9D}" destId="{ACC2EC13-EE64-4F27-B445-9F4986EDBDCD}" srcOrd="0" destOrd="0" parTransId="{56175D91-7A16-4A63-B6A6-06F26FD14D07}" sibTransId="{B78641C8-0F13-43CD-A6F0-B2EA5EB60AC9}"/>
    <dgm:cxn modelId="{E3C3E543-4E4F-4C99-B974-1C8A11411754}" type="presOf" srcId="{075FB9BE-6081-4BF5-9A45-0E4D3AD94B3E}" destId="{CF42FEE4-6C14-41CD-8676-87095B5977D8}" srcOrd="0" destOrd="0" presId="urn:microsoft.com/office/officeart/2005/8/layout/hList6"/>
    <dgm:cxn modelId="{854A453D-622D-4CE1-8D5E-11238BF94512}" type="presParOf" srcId="{A366DC04-8E67-4D5A-957D-27A799A155EF}" destId="{0A9CA12E-0B4C-435C-AD0B-9AD9A3EE8504}" srcOrd="0" destOrd="0" presId="urn:microsoft.com/office/officeart/2005/8/layout/hList6"/>
    <dgm:cxn modelId="{26DAD4E6-4DFB-484B-A61E-F9438077B777}" type="presParOf" srcId="{A366DC04-8E67-4D5A-957D-27A799A155EF}" destId="{46E004C2-5434-4ABA-AC3B-E7F365040B9D}" srcOrd="1" destOrd="0" presId="urn:microsoft.com/office/officeart/2005/8/layout/hList6"/>
    <dgm:cxn modelId="{DDB80752-D1AB-486A-9F46-2798E1EE78A6}" type="presParOf" srcId="{A366DC04-8E67-4D5A-957D-27A799A155EF}" destId="{F2FEFB1F-F808-447D-9AA3-06D9192CFA83}" srcOrd="2" destOrd="0" presId="urn:microsoft.com/office/officeart/2005/8/layout/hList6"/>
    <dgm:cxn modelId="{728ACB06-C359-4EF9-8A4F-89743925C2D1}" type="presParOf" srcId="{A366DC04-8E67-4D5A-957D-27A799A155EF}" destId="{DBCEFCBD-5F6E-446B-B139-79F82FB40B7D}" srcOrd="3" destOrd="0" presId="urn:microsoft.com/office/officeart/2005/8/layout/hList6"/>
    <dgm:cxn modelId="{975D9D9C-16C4-460B-971F-5098734D4116}" type="presParOf" srcId="{A366DC04-8E67-4D5A-957D-27A799A155EF}" destId="{CF42FEE4-6C14-41CD-8676-87095B5977D8}"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CA12E-0B4C-435C-AD0B-9AD9A3EE8504}">
      <dsp:nvSpPr>
        <dsp:cNvPr id="0" name=""/>
        <dsp:cNvSpPr/>
      </dsp:nvSpPr>
      <dsp:spPr>
        <a:xfrm rot="16200000">
          <a:off x="-1380973" y="1380973"/>
          <a:ext cx="5710162" cy="2948214"/>
        </a:xfrm>
        <a:prstGeom prst="flowChartManualOperation">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222250" tIns="0" rIns="224110" bIns="0" numCol="1" spcCol="1270" anchor="ctr" anchorCtr="0">
          <a:noAutofit/>
        </a:bodyPr>
        <a:lstStyle/>
        <a:p>
          <a:pPr lvl="0" algn="ctr" defTabSz="1555750">
            <a:lnSpc>
              <a:spcPct val="90000"/>
            </a:lnSpc>
            <a:spcBef>
              <a:spcPct val="0"/>
            </a:spcBef>
            <a:spcAft>
              <a:spcPct val="35000"/>
            </a:spcAft>
          </a:pPr>
          <a:r>
            <a:rPr lang="az-Latn-AZ" sz="3500" b="1" kern="1200" dirty="0" smtClean="0">
              <a:solidFill>
                <a:schemeClr val="tx1"/>
              </a:solidFill>
            </a:rPr>
            <a:t>Fayl sistemini təşkil etmək</a:t>
          </a:r>
          <a:endParaRPr lang="en-US" sz="3500" b="1" kern="1200" dirty="0">
            <a:solidFill>
              <a:schemeClr val="tx1"/>
            </a:solidFill>
          </a:endParaRPr>
        </a:p>
      </dsp:txBody>
      <dsp:txXfrm rot="5400000">
        <a:off x="1" y="1142031"/>
        <a:ext cx="2948214" cy="3426098"/>
      </dsp:txXfrm>
    </dsp:sp>
    <dsp:sp modelId="{F2FEFB1F-F808-447D-9AA3-06D9192CFA83}">
      <dsp:nvSpPr>
        <dsp:cNvPr id="0" name=""/>
        <dsp:cNvSpPr/>
      </dsp:nvSpPr>
      <dsp:spPr>
        <a:xfrm rot="16200000">
          <a:off x="1789490" y="1380973"/>
          <a:ext cx="5710162" cy="2948214"/>
        </a:xfrm>
        <a:prstGeom prst="flowChartManualOperation">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222250" tIns="0" rIns="224110" bIns="0" numCol="1" spcCol="1270" anchor="ctr" anchorCtr="0">
          <a:noAutofit/>
        </a:bodyPr>
        <a:lstStyle/>
        <a:p>
          <a:pPr lvl="0" algn="ctr" defTabSz="1555750">
            <a:lnSpc>
              <a:spcPct val="90000"/>
            </a:lnSpc>
            <a:spcBef>
              <a:spcPct val="0"/>
            </a:spcBef>
            <a:spcAft>
              <a:spcPct val="35000"/>
            </a:spcAft>
          </a:pPr>
          <a:r>
            <a:rPr lang="az-Latn-AZ" sz="3500" b="1" kern="1200" dirty="0" smtClean="0">
              <a:solidFill>
                <a:schemeClr val="tx1"/>
              </a:solidFill>
            </a:rPr>
            <a:t>Digər proqramların işə salınmasını təmin etmək</a:t>
          </a:r>
          <a:endParaRPr lang="en-US" sz="3500" b="1" kern="1200" dirty="0">
            <a:solidFill>
              <a:schemeClr val="tx1"/>
            </a:solidFill>
          </a:endParaRPr>
        </a:p>
      </dsp:txBody>
      <dsp:txXfrm rot="5400000">
        <a:off x="3170464" y="1142031"/>
        <a:ext cx="2948214" cy="3426098"/>
      </dsp:txXfrm>
    </dsp:sp>
    <dsp:sp modelId="{CF42FEE4-6C14-41CD-8676-87095B5977D8}">
      <dsp:nvSpPr>
        <dsp:cNvPr id="0" name=""/>
        <dsp:cNvSpPr/>
      </dsp:nvSpPr>
      <dsp:spPr>
        <a:xfrm rot="16200000">
          <a:off x="4958820" y="1380973"/>
          <a:ext cx="5710162" cy="2948214"/>
        </a:xfrm>
        <a:prstGeom prst="flowChartManualOperation">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222250" tIns="0" rIns="224110" bIns="0" numCol="1" spcCol="1270" anchor="ctr" anchorCtr="0">
          <a:noAutofit/>
        </a:bodyPr>
        <a:lstStyle/>
        <a:p>
          <a:pPr lvl="0" algn="ctr" defTabSz="1555750">
            <a:lnSpc>
              <a:spcPct val="90000"/>
            </a:lnSpc>
            <a:spcBef>
              <a:spcPct val="0"/>
            </a:spcBef>
            <a:spcAft>
              <a:spcPct val="35000"/>
            </a:spcAft>
          </a:pPr>
          <a:r>
            <a:rPr lang="az-Latn-AZ" sz="3500" b="1" kern="1200" dirty="0" smtClean="0">
              <a:solidFill>
                <a:schemeClr val="tx1"/>
              </a:solidFill>
            </a:rPr>
            <a:t>İstifadəçi ilə komputer arasında dialoqun təşkili</a:t>
          </a:r>
          <a:endParaRPr lang="en-US" sz="3500" b="1" kern="1200" dirty="0">
            <a:solidFill>
              <a:schemeClr val="tx1"/>
            </a:solidFill>
          </a:endParaRPr>
        </a:p>
      </dsp:txBody>
      <dsp:txXfrm rot="5400000">
        <a:off x="6339794" y="1142031"/>
        <a:ext cx="2948214" cy="3426098"/>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C28A5B4A-7558-4E67-AC85-2AF415D1757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2676744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C28A5B4A-7558-4E67-AC85-2AF415D1757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3686371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8A5B4A-7558-4E67-AC85-2AF415D1757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35072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C28A5B4A-7558-4E67-AC85-2AF415D1757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3468039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C28A5B4A-7558-4E67-AC85-2AF415D17575}" type="datetimeFigureOut">
              <a:rPr lang="ru-RU" smtClean="0"/>
              <a:t>05.11.2024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3284939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C28A5B4A-7558-4E67-AC85-2AF415D17575}" type="datetimeFigureOut">
              <a:rPr lang="ru-RU" smtClean="0"/>
              <a:t>05.11.2024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1114550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8A5B4A-7558-4E67-AC85-2AF415D17575}" type="datetimeFigureOut">
              <a:rPr lang="ru-RU" smtClean="0"/>
              <a:t>05.11.2024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2472027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8A5B4A-7558-4E67-AC85-2AF415D1757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81417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28A5B4A-7558-4E67-AC85-2AF415D1757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2995052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C28A5B4A-7558-4E67-AC85-2AF415D1757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190535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C28A5B4A-7558-4E67-AC85-2AF415D1757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DC200C2-1578-456D-B31E-F2A455436A23}" type="slidenum">
              <a:rPr lang="ru-RU" smtClean="0"/>
              <a:t>‹#›</a:t>
            </a:fld>
            <a:endParaRPr lang="ru-RU"/>
          </a:p>
        </p:txBody>
      </p:sp>
    </p:spTree>
    <p:extLst>
      <p:ext uri="{BB962C8B-B14F-4D97-AF65-F5344CB8AC3E}">
        <p14:creationId xmlns:p14="http://schemas.microsoft.com/office/powerpoint/2010/main" val="346094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8A5B4A-7558-4E67-AC85-2AF415D17575}" type="datetimeFigureOut">
              <a:rPr lang="ru-RU" smtClean="0"/>
              <a:t>05.11.2024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C200C2-1578-456D-B31E-F2A455436A23}" type="slidenum">
              <a:rPr lang="ru-RU" smtClean="0"/>
              <a:t>‹#›</a:t>
            </a:fld>
            <a:endParaRPr lang="ru-RU"/>
          </a:p>
        </p:txBody>
      </p:sp>
    </p:spTree>
    <p:extLst>
      <p:ext uri="{BB962C8B-B14F-4D97-AF65-F5344CB8AC3E}">
        <p14:creationId xmlns:p14="http://schemas.microsoft.com/office/powerpoint/2010/main" val="3504297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6055" y="-96982"/>
            <a:ext cx="7998836" cy="48213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76055" y="242891"/>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sp>
        <p:nvSpPr>
          <p:cNvPr id="6" name="Rectangle 5"/>
          <p:cNvSpPr/>
          <p:nvPr/>
        </p:nvSpPr>
        <p:spPr>
          <a:xfrm>
            <a:off x="2057399" y="3374018"/>
            <a:ext cx="7869383" cy="34972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r>
              <a:rPr lang="az-Latn-AZ" sz="2000" dirty="0" smtClean="0"/>
              <a:t>Fakultə</a:t>
            </a:r>
            <a:r>
              <a:rPr lang="en-US" sz="2000" dirty="0" smtClean="0"/>
              <a:t>: </a:t>
            </a:r>
            <a:r>
              <a:rPr lang="az-Latn-AZ" sz="2000" dirty="0" smtClean="0"/>
              <a:t>İnformasiya və telekommunikasiya texnologiyaları</a:t>
            </a:r>
          </a:p>
          <a:p>
            <a:pPr marL="285750" indent="-285750">
              <a:buFont typeface="Arial" panose="020B0604020202020204" pitchFamily="34" charset="0"/>
              <a:buChar char="•"/>
            </a:pPr>
            <a:r>
              <a:rPr lang="az-Latn-AZ" sz="2000" dirty="0" smtClean="0"/>
              <a:t>Kafedra</a:t>
            </a:r>
            <a:r>
              <a:rPr lang="en-US" sz="2000" dirty="0" smtClean="0"/>
              <a:t>: </a:t>
            </a:r>
            <a:r>
              <a:rPr lang="az-Latn-AZ" sz="2000" dirty="0" smtClean="0"/>
              <a:t>Kompüter texnologiyaları</a:t>
            </a:r>
          </a:p>
          <a:p>
            <a:pPr marL="285750" indent="-285750">
              <a:buFont typeface="Arial" panose="020B0604020202020204" pitchFamily="34" charset="0"/>
              <a:buChar char="•"/>
            </a:pPr>
            <a:r>
              <a:rPr lang="az-Latn-AZ" sz="2000" dirty="0" smtClean="0"/>
              <a:t>Fənn adı</a:t>
            </a:r>
            <a:r>
              <a:rPr lang="en-US" sz="2000" dirty="0" smtClean="0"/>
              <a:t>:</a:t>
            </a:r>
            <a:r>
              <a:rPr lang="az-Latn-AZ" sz="2000" dirty="0" smtClean="0"/>
              <a:t> İnformasiya texnologiyalarının əsasları</a:t>
            </a:r>
          </a:p>
          <a:p>
            <a:pPr algn="ctr"/>
            <a:endParaRPr lang="az-Latn-AZ" dirty="0" smtClean="0"/>
          </a:p>
          <a:p>
            <a:pPr algn="ctr"/>
            <a:r>
              <a:rPr lang="az-Latn-AZ" dirty="0" smtClean="0"/>
              <a:t>LABORATORİYA İŞİ </a:t>
            </a:r>
            <a:r>
              <a:rPr lang="ru-RU" dirty="0" smtClean="0"/>
              <a:t>№</a:t>
            </a:r>
            <a:r>
              <a:rPr lang="en-US" dirty="0"/>
              <a:t>2</a:t>
            </a:r>
            <a:endParaRPr lang="az-Latn-AZ" dirty="0" smtClean="0"/>
          </a:p>
          <a:p>
            <a:pPr marL="285750" indent="-285750">
              <a:buFont typeface="Arial" panose="020B0604020202020204" pitchFamily="34" charset="0"/>
              <a:buChar char="•"/>
            </a:pPr>
            <a:r>
              <a:rPr lang="az-Latn-AZ" sz="2000" dirty="0" smtClean="0"/>
              <a:t>Mövzu</a:t>
            </a:r>
            <a:r>
              <a:rPr lang="en-US" sz="2000" dirty="0" smtClean="0"/>
              <a:t>:</a:t>
            </a:r>
            <a:r>
              <a:rPr lang="az-Latn-AZ" sz="2000" dirty="0" smtClean="0"/>
              <a:t> </a:t>
            </a:r>
            <a:r>
              <a:rPr lang="en-US" sz="2000" dirty="0" smtClean="0"/>
              <a:t>MS DOS</a:t>
            </a:r>
            <a:r>
              <a:rPr lang="az-Latn-AZ" sz="2000" dirty="0" smtClean="0"/>
              <a:t> əməliyyat sistemində işin əsasları</a:t>
            </a:r>
            <a:endParaRPr lang="en-US" sz="2000" dirty="0" smtClean="0"/>
          </a:p>
          <a:p>
            <a:pPr marL="285750" indent="-285750">
              <a:buFont typeface="Arial" panose="020B0604020202020204" pitchFamily="34" charset="0"/>
              <a:buChar char="•"/>
            </a:pPr>
            <a:r>
              <a:rPr lang="az-Latn-AZ" sz="2000" dirty="0" smtClean="0"/>
              <a:t>Kurs</a:t>
            </a:r>
            <a:r>
              <a:rPr lang="en-US" sz="2000" dirty="0" smtClean="0"/>
              <a:t>: </a:t>
            </a:r>
            <a:r>
              <a:rPr lang="az-Latn-AZ" sz="2000" dirty="0" smtClean="0"/>
              <a:t>1</a:t>
            </a:r>
            <a:r>
              <a:rPr lang="en-US" sz="2000" dirty="0" smtClean="0"/>
              <a:t>-</a:t>
            </a:r>
            <a:r>
              <a:rPr lang="az-Latn-AZ" sz="2000" dirty="0" smtClean="0"/>
              <a:t>ci</a:t>
            </a:r>
          </a:p>
          <a:p>
            <a:pPr marL="285750" indent="-285750">
              <a:buFont typeface="Arial" panose="020B0604020202020204" pitchFamily="34" charset="0"/>
              <a:buChar char="•"/>
            </a:pPr>
            <a:r>
              <a:rPr lang="az-Latn-AZ" sz="2000" dirty="0" smtClean="0"/>
              <a:t>Qrup</a:t>
            </a:r>
            <a:r>
              <a:rPr lang="en-US" sz="2000" dirty="0" smtClean="0"/>
              <a:t>:6224a1</a:t>
            </a:r>
            <a:endParaRPr lang="az-Latn-AZ" sz="2000" dirty="0" smtClean="0"/>
          </a:p>
          <a:p>
            <a:pPr marL="285750" indent="-285750">
              <a:buFont typeface="Arial" panose="020B0604020202020204" pitchFamily="34" charset="0"/>
              <a:buChar char="•"/>
            </a:pPr>
            <a:r>
              <a:rPr lang="az-Latn-AZ" sz="2000" dirty="0" smtClean="0"/>
              <a:t>Tələbə</a:t>
            </a:r>
            <a:r>
              <a:rPr lang="en-US" sz="2000" dirty="0" smtClean="0"/>
              <a:t>: </a:t>
            </a:r>
            <a:r>
              <a:rPr lang="az-Latn-AZ" sz="2000" dirty="0" smtClean="0"/>
              <a:t>Cəfərova Nazlı</a:t>
            </a:r>
          </a:p>
          <a:p>
            <a:pPr marL="285750" indent="-285750">
              <a:buFont typeface="Arial" panose="020B0604020202020204" pitchFamily="34" charset="0"/>
              <a:buChar char="•"/>
            </a:pPr>
            <a:r>
              <a:rPr lang="az-Latn-AZ" sz="2000" dirty="0" smtClean="0"/>
              <a:t>Müəllim</a:t>
            </a:r>
            <a:r>
              <a:rPr lang="en-US" sz="2000" dirty="0" smtClean="0"/>
              <a:t>:</a:t>
            </a:r>
            <a:r>
              <a:rPr lang="az-Latn-AZ" sz="2000" dirty="0" smtClean="0"/>
              <a:t> Quliyeva Tükəzban</a:t>
            </a:r>
          </a:p>
          <a:p>
            <a:endParaRPr lang="az-Latn-AZ" dirty="0" smtClean="0"/>
          </a:p>
          <a:p>
            <a:endParaRPr lang="az-Latn-AZ" dirty="0" smtClean="0"/>
          </a:p>
          <a:p>
            <a:endParaRPr lang="az-Latn-AZ" dirty="0"/>
          </a:p>
          <a:p>
            <a:endParaRPr lang="az-Latn-AZ" dirty="0" smtClean="0"/>
          </a:p>
          <a:p>
            <a:endParaRPr lang="az-Latn-AZ" dirty="0"/>
          </a:p>
        </p:txBody>
      </p:sp>
    </p:spTree>
    <p:extLst>
      <p:ext uri="{BB962C8B-B14F-4D97-AF65-F5344CB8AC3E}">
        <p14:creationId xmlns:p14="http://schemas.microsoft.com/office/powerpoint/2010/main" val="1057784188"/>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692" y="152545"/>
            <a:ext cx="9144000" cy="1052801"/>
          </a:xfrm>
        </p:spPr>
        <p:txBody>
          <a:bodyPr>
            <a:normAutofit/>
          </a:bodyPr>
          <a:lstStyle/>
          <a:p>
            <a:r>
              <a:rPr lang="az-Latn-AZ" i="1" dirty="0" smtClean="0"/>
              <a:t>ƏMƏLİYYAT SİSTEMİ</a:t>
            </a:r>
            <a:endParaRPr lang="ru-RU" i="1" dirty="0"/>
          </a:p>
        </p:txBody>
      </p:sp>
      <p:sp>
        <p:nvSpPr>
          <p:cNvPr id="5" name="Rectangle 4"/>
          <p:cNvSpPr/>
          <p:nvPr/>
        </p:nvSpPr>
        <p:spPr>
          <a:xfrm>
            <a:off x="318656" y="1347136"/>
            <a:ext cx="4918364" cy="4801314"/>
          </a:xfrm>
          <a:prstGeom prst="rect">
            <a:avLst/>
          </a:prstGeom>
        </p:spPr>
        <p:txBody>
          <a:bodyPr wrap="square">
            <a:spAutoFit/>
          </a:bodyPr>
          <a:lstStyle/>
          <a:p>
            <a:r>
              <a:rPr lang="en-US" dirty="0" smtClean="0"/>
              <a:t>"</a:t>
            </a:r>
            <a:r>
              <a:rPr lang="az-Latn-AZ" sz="1600" dirty="0" smtClean="0"/>
              <a:t>Əməliyyat Sistemi" (və ya "Əməliyyat Sistemi" termini) çox güman ki, kompüter elmləri və ya mühəndislik sahəsində istifadə olunan "operating system" (ingilis dilində) ifadəsinə istinad edir. Bu, bir kompüterin hardware və software resurslarını idarə edən və istifadəçinin əmrlərini qəbul edən proqram təminatıdır. Əməliyyat sistemləri bir çox vacib funksiyaları yerinə yetirir, məsələn:</a:t>
            </a:r>
          </a:p>
          <a:p>
            <a:pPr>
              <a:buFont typeface="+mj-lt"/>
              <a:buAutoNum type="arabicPeriod"/>
            </a:pPr>
            <a:r>
              <a:rPr lang="az-Latn-AZ" sz="1600" b="1" dirty="0" smtClean="0"/>
              <a:t>Resursların İdarə Edilməsi</a:t>
            </a:r>
            <a:r>
              <a:rPr lang="az-Latn-AZ" sz="1600" dirty="0" smtClean="0"/>
              <a:t>: Əməliyyat sistemi, kompüterin yaddaşını, prosessorunu və digər resurslarını idarə edir. Bu, müxtəlif proqramların eyni vaxtda işləməsini təmin edərək, sistemin səmərəli fəaliyyətini təmin edir.</a:t>
            </a:r>
          </a:p>
          <a:p>
            <a:pPr>
              <a:buFont typeface="+mj-lt"/>
              <a:buAutoNum type="arabicPeriod"/>
            </a:pPr>
            <a:r>
              <a:rPr lang="az-Latn-AZ" sz="1600" b="1" dirty="0" smtClean="0"/>
              <a:t>İstifadəçi İnterfeysi</a:t>
            </a:r>
            <a:r>
              <a:rPr lang="az-Latn-AZ" sz="1600" dirty="0" smtClean="0"/>
              <a:t>: Əməliyyat sistemi istifadəçilərə, tətbiq proqramlarını idarə etmək üçün qrafik və ya komanda əsaslı interfeyslər təqdim edir.</a:t>
            </a:r>
          </a:p>
          <a:p>
            <a:pPr>
              <a:buFont typeface="+mj-lt"/>
              <a:buAutoNum type="arabicPeriod"/>
            </a:pPr>
            <a:r>
              <a:rPr lang="az-Latn-AZ" sz="1600" b="1" dirty="0" smtClean="0"/>
              <a:t>Fayl Sistemi İdarəetməsi</a:t>
            </a:r>
            <a:r>
              <a:rPr lang="az-Latn-AZ" sz="1600" dirty="0" smtClean="0"/>
              <a:t>: Əməliyyat sistemi faylların təşkilini və saxlanmasını təmin edir, həmçinin fayl oxuma, yazma, silmə kimi əməliyyatları idarə edir.</a:t>
            </a:r>
          </a:p>
        </p:txBody>
      </p:sp>
      <p:pic>
        <p:nvPicPr>
          <p:cNvPr id="1026" name="Picture 2" descr="Əməliyyat sistemləri və onların növləri — videodə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8692" y="1347135"/>
            <a:ext cx="6286500" cy="375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374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4510" y="0"/>
            <a:ext cx="9144000" cy="1731673"/>
          </a:xfrm>
        </p:spPr>
        <p:txBody>
          <a:bodyPr>
            <a:normAutofit/>
          </a:bodyPr>
          <a:lstStyle/>
          <a:p>
            <a:r>
              <a:rPr lang="az-Latn-AZ" sz="4800" b="1" dirty="0" smtClean="0"/>
              <a:t>ƏMƏLİYYAT SİSTEMİNİN ƏSAS FUNKSİYALARI</a:t>
            </a:r>
            <a:endParaRPr lang="ru-RU" sz="4800" b="1" dirty="0"/>
          </a:p>
        </p:txBody>
      </p:sp>
      <p:sp>
        <p:nvSpPr>
          <p:cNvPr id="4" name="Rectangle 3"/>
          <p:cNvSpPr/>
          <p:nvPr/>
        </p:nvSpPr>
        <p:spPr>
          <a:xfrm>
            <a:off x="304800" y="1859156"/>
            <a:ext cx="6096000" cy="2031325"/>
          </a:xfrm>
          <a:prstGeom prst="rect">
            <a:avLst/>
          </a:prstGeom>
        </p:spPr>
        <p:txBody>
          <a:bodyPr>
            <a:spAutoFit/>
          </a:bodyPr>
          <a:lstStyle/>
          <a:p>
            <a:r>
              <a:rPr lang="en-US" b="1" dirty="0" smtClean="0"/>
              <a:t>1</a:t>
            </a:r>
            <a:r>
              <a:rPr lang="az-Latn-AZ" b="1" dirty="0" smtClean="0"/>
              <a:t>. Əməliyyat Sistemi İnterfeysləri (GUI - Qrafik İstifadəçi İnterfeysi):</a:t>
            </a:r>
          </a:p>
          <a:p>
            <a:r>
              <a:rPr lang="az-Latn-AZ" dirty="0" smtClean="0"/>
              <a:t>Bu, əməliyyat sistemlərinin istifadəçi ilə əlaqə qurmaq üçün təqdim etdiyi vizual interfeysləri göstərir. Məsələn:</a:t>
            </a:r>
          </a:p>
          <a:p>
            <a:pPr>
              <a:buFont typeface="Arial" panose="020B0604020202020204" pitchFamily="34" charset="0"/>
              <a:buChar char="•"/>
            </a:pPr>
            <a:r>
              <a:rPr lang="az-Latn-AZ" b="1" dirty="0" smtClean="0"/>
              <a:t>Windows</a:t>
            </a:r>
            <a:r>
              <a:rPr lang="az-Latn-AZ" dirty="0" smtClean="0"/>
              <a:t>: Windows əməliyyat sisteminin masaüstü görüntüsü.</a:t>
            </a:r>
          </a:p>
          <a:p>
            <a:pPr>
              <a:buFont typeface="Arial" panose="020B0604020202020204" pitchFamily="34" charset="0"/>
              <a:buChar char="•"/>
            </a:pPr>
            <a:r>
              <a:rPr lang="az-Latn-AZ" b="1" dirty="0" smtClean="0"/>
              <a:t>macOS</a:t>
            </a:r>
            <a:r>
              <a:rPr lang="az-Latn-AZ" dirty="0" smtClean="0"/>
              <a:t>: Apple-ın macOS əməliyyat sisteminin ekran görüntüsü.</a:t>
            </a:r>
            <a:endParaRPr lang="az-Latn-AZ" dirty="0"/>
          </a:p>
        </p:txBody>
      </p:sp>
      <p:sp>
        <p:nvSpPr>
          <p:cNvPr id="5" name="Rectangle 4"/>
          <p:cNvSpPr/>
          <p:nvPr/>
        </p:nvSpPr>
        <p:spPr>
          <a:xfrm>
            <a:off x="304800" y="3890481"/>
            <a:ext cx="6096000" cy="1477328"/>
          </a:xfrm>
          <a:prstGeom prst="rect">
            <a:avLst/>
          </a:prstGeom>
        </p:spPr>
        <p:txBody>
          <a:bodyPr>
            <a:spAutoFit/>
          </a:bodyPr>
          <a:lstStyle/>
          <a:p>
            <a:r>
              <a:rPr lang="en-US" b="1" dirty="0" smtClean="0"/>
              <a:t>2</a:t>
            </a:r>
            <a:r>
              <a:rPr lang="az-Latn-AZ" b="1" dirty="0" smtClean="0"/>
              <a:t>. Əməliyyat Sistemi Arxitekturası:</a:t>
            </a:r>
          </a:p>
          <a:p>
            <a:r>
              <a:rPr lang="az-Latn-AZ" dirty="0" smtClean="0"/>
              <a:t>Bəzi şəkillər əməliyyat sistemlərinin arxitekturasını göstərir. Burada əməliyyat sisteminin iç strukturunu, nüvəsini (kernel), istifadəçi proqramlarını və sistem xidmətlərini görmək mümkündür.</a:t>
            </a:r>
            <a:endParaRPr lang="az-Latn-AZ" dirty="0"/>
          </a:p>
        </p:txBody>
      </p:sp>
      <p:sp>
        <p:nvSpPr>
          <p:cNvPr id="6" name="Rectangle 5"/>
          <p:cNvSpPr/>
          <p:nvPr/>
        </p:nvSpPr>
        <p:spPr>
          <a:xfrm>
            <a:off x="304800" y="5460141"/>
            <a:ext cx="6096000" cy="923330"/>
          </a:xfrm>
          <a:prstGeom prst="rect">
            <a:avLst/>
          </a:prstGeom>
        </p:spPr>
        <p:txBody>
          <a:bodyPr>
            <a:spAutoFit/>
          </a:bodyPr>
          <a:lstStyle/>
          <a:p>
            <a:r>
              <a:rPr lang="en-US" b="1" dirty="0" smtClean="0"/>
              <a:t>3</a:t>
            </a:r>
            <a:r>
              <a:rPr lang="az-Latn-AZ" b="1" dirty="0" smtClean="0"/>
              <a:t>. Əməliyyat Sistemlərinin Versiyaları və Yeniləmələri:</a:t>
            </a:r>
          </a:p>
          <a:p>
            <a:r>
              <a:rPr lang="az-Latn-AZ" dirty="0" smtClean="0"/>
              <a:t>Əməliyyat sisteminin yeni versiyaları, yeniləmələri və ya fərqli dil versiyalarının şəkilləri.</a:t>
            </a:r>
            <a:endParaRPr lang="az-Latn-AZ" dirty="0"/>
          </a:p>
        </p:txBody>
      </p:sp>
      <p:pic>
        <p:nvPicPr>
          <p:cNvPr id="2050" name="Picture 2" descr="Əməliyyat sistemləri və onların növləri — videodərs"/>
          <p:cNvPicPr>
            <a:picLocks noChangeAspect="1" noChangeArrowheads="1"/>
          </p:cNvPicPr>
          <p:nvPr/>
        </p:nvPicPr>
        <p:blipFill rotWithShape="1">
          <a:blip r:embed="rId2">
            <a:extLst>
              <a:ext uri="{28A0092B-C50C-407E-A947-70E740481C1C}">
                <a14:useLocalDpi xmlns:a14="http://schemas.microsoft.com/office/drawing/2010/main" val="0"/>
              </a:ext>
            </a:extLst>
          </a:blip>
          <a:srcRect b="7976"/>
          <a:stretch/>
        </p:blipFill>
        <p:spPr bwMode="auto">
          <a:xfrm>
            <a:off x="6071466" y="2237172"/>
            <a:ext cx="5905994" cy="2717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603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243348"/>
          </a:xfrm>
        </p:spPr>
        <p:txBody>
          <a:bodyPr>
            <a:normAutofit fontScale="90000"/>
            <a:scene3d>
              <a:camera prst="orthographicFront"/>
              <a:lightRig rig="threePt" dir="t"/>
            </a:scene3d>
            <a:sp3d extrusionH="57150">
              <a:bevelT w="31750" h="12700" prst="angle"/>
              <a:bevelB w="38100" h="38100" prst="relaxedInset"/>
              <a:extrusionClr>
                <a:schemeClr val="tx1"/>
              </a:extrusionClr>
            </a:sp3d>
          </a:bodyPr>
          <a:lstStyle/>
          <a:p>
            <a:r>
              <a:rPr lang="az-Latn-AZ" sz="4800" b="1" dirty="0" smtClean="0">
                <a:effectLst>
                  <a:reflection stA="0" dist="50800" dir="5400000" sy="-100000" algn="bl" rotWithShape="0"/>
                </a:effectLst>
              </a:rPr>
              <a:t>ƏSAS</a:t>
            </a:r>
            <a:r>
              <a:rPr lang="az-Latn-AZ" sz="4800" b="1" dirty="0" smtClean="0"/>
              <a:t> ƏMƏLİYYAT SİSTEMİNİ</a:t>
            </a:r>
            <a:r>
              <a:rPr lang="en-US" sz="4800" b="1" dirty="0" smtClean="0"/>
              <a:t>N T</a:t>
            </a:r>
            <a:r>
              <a:rPr lang="az-Latn-AZ" sz="4800" b="1" dirty="0" smtClean="0"/>
              <a:t>ƏSNİFATI</a:t>
            </a:r>
            <a:endParaRPr lang="ru-RU" sz="4800" b="1" dirty="0"/>
          </a:p>
        </p:txBody>
      </p:sp>
      <p:sp>
        <p:nvSpPr>
          <p:cNvPr id="4" name="Rectangle 3"/>
          <p:cNvSpPr/>
          <p:nvPr/>
        </p:nvSpPr>
        <p:spPr>
          <a:xfrm>
            <a:off x="3055308" y="1386190"/>
            <a:ext cx="5031121" cy="830997"/>
          </a:xfrm>
          <a:prstGeom prst="rect">
            <a:avLst/>
          </a:prstGeom>
        </p:spPr>
        <p:txBody>
          <a:bodyPr wrap="square">
            <a:spAutoFit/>
          </a:bodyPr>
          <a:lstStyle/>
          <a:p>
            <a:r>
              <a:rPr lang="en-US" b="1" dirty="0" smtClean="0"/>
              <a:t>1. </a:t>
            </a:r>
            <a:r>
              <a:rPr lang="az-Latn-AZ" sz="2400" b="1" dirty="0" smtClean="0"/>
              <a:t>Single-tasking (Bir tapşırıq) Əməliyyat Sistemləri</a:t>
            </a:r>
            <a:endParaRPr lang="az-Latn-AZ" sz="2400" b="1" dirty="0"/>
          </a:p>
        </p:txBody>
      </p:sp>
      <p:sp>
        <p:nvSpPr>
          <p:cNvPr id="5" name="Rectangle 4"/>
          <p:cNvSpPr/>
          <p:nvPr/>
        </p:nvSpPr>
        <p:spPr>
          <a:xfrm>
            <a:off x="2885245" y="2335674"/>
            <a:ext cx="6728380" cy="461665"/>
          </a:xfrm>
          <a:prstGeom prst="rect">
            <a:avLst/>
          </a:prstGeom>
        </p:spPr>
        <p:txBody>
          <a:bodyPr wrap="none">
            <a:spAutoFit/>
          </a:bodyPr>
          <a:lstStyle/>
          <a:p>
            <a:r>
              <a:rPr lang="en-US" dirty="0" smtClean="0"/>
              <a:t>2. </a:t>
            </a:r>
            <a:r>
              <a:rPr lang="az-Latn-AZ" sz="2400" b="1" dirty="0" smtClean="0"/>
              <a:t>Multitasking (Çoxlu tapşırıq) Əməliyyat Sistemləri</a:t>
            </a:r>
            <a:endParaRPr lang="az-Latn-AZ" sz="2400" dirty="0"/>
          </a:p>
        </p:txBody>
      </p:sp>
      <p:sp>
        <p:nvSpPr>
          <p:cNvPr id="6" name="Rectangle 5"/>
          <p:cNvSpPr/>
          <p:nvPr/>
        </p:nvSpPr>
        <p:spPr>
          <a:xfrm>
            <a:off x="2885245" y="2804820"/>
            <a:ext cx="6332887" cy="461665"/>
          </a:xfrm>
          <a:prstGeom prst="rect">
            <a:avLst/>
          </a:prstGeom>
        </p:spPr>
        <p:txBody>
          <a:bodyPr wrap="none">
            <a:spAutoFit/>
          </a:bodyPr>
          <a:lstStyle/>
          <a:p>
            <a:r>
              <a:rPr lang="en-US" sz="2400" dirty="0" smtClean="0"/>
              <a:t>3. </a:t>
            </a:r>
            <a:r>
              <a:rPr lang="az-Latn-AZ" sz="2400" b="1" dirty="0" smtClean="0"/>
              <a:t>Real-time (Vaxtlı) Əməliyyat Sistemləri (RTOS)</a:t>
            </a:r>
            <a:endParaRPr lang="az-Latn-AZ" sz="2400" dirty="0"/>
          </a:p>
        </p:txBody>
      </p:sp>
      <p:sp>
        <p:nvSpPr>
          <p:cNvPr id="7" name="Rectangle 6"/>
          <p:cNvSpPr/>
          <p:nvPr/>
        </p:nvSpPr>
        <p:spPr>
          <a:xfrm>
            <a:off x="2885245" y="3306759"/>
            <a:ext cx="6181372" cy="461665"/>
          </a:xfrm>
          <a:prstGeom prst="rect">
            <a:avLst/>
          </a:prstGeom>
        </p:spPr>
        <p:txBody>
          <a:bodyPr wrap="none">
            <a:spAutoFit/>
          </a:bodyPr>
          <a:lstStyle/>
          <a:p>
            <a:r>
              <a:rPr lang="en-US" sz="2400" dirty="0" smtClean="0"/>
              <a:t>4. </a:t>
            </a:r>
            <a:r>
              <a:rPr lang="en-US" sz="2400" b="1" dirty="0" smtClean="0"/>
              <a:t>Distributed (</a:t>
            </a:r>
            <a:r>
              <a:rPr lang="az-Latn-AZ" sz="2400" b="1" dirty="0" smtClean="0"/>
              <a:t>Paylanmış) Əməliyyat Sistemləri</a:t>
            </a:r>
            <a:endParaRPr lang="az-Latn-AZ" sz="2400" dirty="0"/>
          </a:p>
        </p:txBody>
      </p:sp>
      <p:sp>
        <p:nvSpPr>
          <p:cNvPr id="8" name="Rectangle 7"/>
          <p:cNvSpPr/>
          <p:nvPr/>
        </p:nvSpPr>
        <p:spPr>
          <a:xfrm>
            <a:off x="2885245" y="3771237"/>
            <a:ext cx="5490221" cy="461665"/>
          </a:xfrm>
          <a:prstGeom prst="rect">
            <a:avLst/>
          </a:prstGeom>
        </p:spPr>
        <p:txBody>
          <a:bodyPr wrap="none">
            <a:spAutoFit/>
          </a:bodyPr>
          <a:lstStyle/>
          <a:p>
            <a:r>
              <a:rPr lang="en-US" sz="2400" dirty="0" smtClean="0"/>
              <a:t>5. </a:t>
            </a:r>
            <a:r>
              <a:rPr lang="en-US" sz="2400" b="1" dirty="0" smtClean="0"/>
              <a:t>Network </a:t>
            </a:r>
            <a:r>
              <a:rPr lang="az-Latn-AZ" sz="2400" b="1" dirty="0" smtClean="0"/>
              <a:t>(Şəbəkə) Əməliyyat Sistemləri</a:t>
            </a:r>
            <a:endParaRPr lang="az-Latn-AZ" sz="2400" dirty="0"/>
          </a:p>
        </p:txBody>
      </p:sp>
      <p:sp>
        <p:nvSpPr>
          <p:cNvPr id="9" name="Rectangle 8"/>
          <p:cNvSpPr/>
          <p:nvPr/>
        </p:nvSpPr>
        <p:spPr>
          <a:xfrm>
            <a:off x="2942004" y="4312723"/>
            <a:ext cx="5110181" cy="461665"/>
          </a:xfrm>
          <a:prstGeom prst="rect">
            <a:avLst/>
          </a:prstGeom>
        </p:spPr>
        <p:txBody>
          <a:bodyPr wrap="none">
            <a:spAutoFit/>
          </a:bodyPr>
          <a:lstStyle/>
          <a:p>
            <a:r>
              <a:rPr lang="en-US" sz="2400" dirty="0" smtClean="0"/>
              <a:t>6. </a:t>
            </a:r>
            <a:r>
              <a:rPr lang="en-US" sz="2400" b="1" dirty="0" smtClean="0"/>
              <a:t>Mobile (Mobil</a:t>
            </a:r>
            <a:r>
              <a:rPr lang="az-Latn-AZ" sz="2400" b="1" dirty="0" smtClean="0"/>
              <a:t>) Əməliyyat Sistemləri</a:t>
            </a:r>
            <a:endParaRPr lang="az-Latn-AZ" sz="2400" dirty="0"/>
          </a:p>
        </p:txBody>
      </p:sp>
      <p:sp>
        <p:nvSpPr>
          <p:cNvPr id="10" name="Rectangle 9"/>
          <p:cNvSpPr/>
          <p:nvPr/>
        </p:nvSpPr>
        <p:spPr>
          <a:xfrm>
            <a:off x="2942004" y="4854209"/>
            <a:ext cx="7345922" cy="461665"/>
          </a:xfrm>
          <a:prstGeom prst="rect">
            <a:avLst/>
          </a:prstGeom>
        </p:spPr>
        <p:txBody>
          <a:bodyPr wrap="none">
            <a:spAutoFit/>
          </a:bodyPr>
          <a:lstStyle/>
          <a:p>
            <a:r>
              <a:rPr lang="en-US" dirty="0" smtClean="0"/>
              <a:t>7. </a:t>
            </a:r>
            <a:r>
              <a:rPr lang="en-US" sz="2400" b="1" dirty="0" smtClean="0"/>
              <a:t>Embedded </a:t>
            </a:r>
            <a:r>
              <a:rPr lang="az-Latn-AZ" sz="2400" b="1" dirty="0" smtClean="0"/>
              <a:t>(İnteqrasiya olunmuş) Əməliyyat Sistemləri</a:t>
            </a:r>
            <a:endParaRPr lang="az-Latn-AZ" sz="2400" dirty="0"/>
          </a:p>
        </p:txBody>
      </p:sp>
      <p:sp>
        <p:nvSpPr>
          <p:cNvPr id="11" name="Rectangle 10"/>
          <p:cNvSpPr/>
          <p:nvPr/>
        </p:nvSpPr>
        <p:spPr>
          <a:xfrm>
            <a:off x="3055308" y="5356148"/>
            <a:ext cx="5546387" cy="830997"/>
          </a:xfrm>
          <a:prstGeom prst="rect">
            <a:avLst/>
          </a:prstGeom>
        </p:spPr>
        <p:txBody>
          <a:bodyPr wrap="square">
            <a:spAutoFit/>
          </a:bodyPr>
          <a:lstStyle/>
          <a:p>
            <a:r>
              <a:rPr lang="en-US" dirty="0" smtClean="0"/>
              <a:t>8</a:t>
            </a:r>
            <a:r>
              <a:rPr lang="en-US" sz="2400" dirty="0" smtClean="0"/>
              <a:t>. </a:t>
            </a:r>
            <a:r>
              <a:rPr lang="en-US" sz="2400" b="1" dirty="0" smtClean="0"/>
              <a:t>Multiprocessing (</a:t>
            </a:r>
            <a:r>
              <a:rPr lang="az-Latn-AZ" sz="2400" b="1" dirty="0" smtClean="0"/>
              <a:t>Çox prosessorlu) Əməliyyat Sistemləri</a:t>
            </a:r>
            <a:endParaRPr lang="az-Latn-AZ" sz="2400" dirty="0"/>
          </a:p>
        </p:txBody>
      </p:sp>
      <p:sp>
        <p:nvSpPr>
          <p:cNvPr id="12" name="Rectangle 11"/>
          <p:cNvSpPr/>
          <p:nvPr/>
        </p:nvSpPr>
        <p:spPr>
          <a:xfrm>
            <a:off x="3092621" y="6249393"/>
            <a:ext cx="4808945" cy="461665"/>
          </a:xfrm>
          <a:prstGeom prst="rect">
            <a:avLst/>
          </a:prstGeom>
        </p:spPr>
        <p:txBody>
          <a:bodyPr wrap="none">
            <a:spAutoFit/>
          </a:bodyPr>
          <a:lstStyle/>
          <a:p>
            <a:r>
              <a:rPr lang="en-US" dirty="0" smtClean="0"/>
              <a:t>9</a:t>
            </a:r>
            <a:r>
              <a:rPr lang="en-US" sz="2400" dirty="0" smtClean="0"/>
              <a:t>. </a:t>
            </a:r>
            <a:r>
              <a:rPr lang="en-US" sz="2400" b="1" dirty="0" smtClean="0"/>
              <a:t>Client-Server </a:t>
            </a:r>
            <a:r>
              <a:rPr lang="az-Latn-AZ" sz="2400" b="1" dirty="0" smtClean="0"/>
              <a:t>Əməliyyat Sistemləri</a:t>
            </a:r>
            <a:endParaRPr lang="az-Latn-AZ" sz="2400" dirty="0"/>
          </a:p>
        </p:txBody>
      </p:sp>
    </p:spTree>
    <p:extLst>
      <p:ext uri="{BB962C8B-B14F-4D97-AF65-F5344CB8AC3E}">
        <p14:creationId xmlns:p14="http://schemas.microsoft.com/office/powerpoint/2010/main" val="2948750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9018" y="55853"/>
            <a:ext cx="6248400" cy="1325563"/>
          </a:xfrm>
          <a:ln/>
        </p:spPr>
        <p:style>
          <a:lnRef idx="2">
            <a:schemeClr val="dk1"/>
          </a:lnRef>
          <a:fillRef idx="1">
            <a:schemeClr val="lt1"/>
          </a:fillRef>
          <a:effectRef idx="0">
            <a:schemeClr val="dk1"/>
          </a:effectRef>
          <a:fontRef idx="minor">
            <a:schemeClr val="dk1"/>
          </a:fontRef>
        </p:style>
        <p:txBody>
          <a:bodyPr>
            <a:normAutofit fontScale="90000"/>
          </a:bodyPr>
          <a:lstStyle/>
          <a:p>
            <a:r>
              <a:rPr lang="az-Latn-AZ" sz="4800" b="1" dirty="0" smtClean="0"/>
              <a:t>ƏMƏLİYYAT SİSTEMLƏRİ</a:t>
            </a:r>
            <a:endParaRPr lang="ru-RU" sz="4800" b="1" dirty="0"/>
          </a:p>
        </p:txBody>
      </p:sp>
      <p:cxnSp>
        <p:nvCxnSpPr>
          <p:cNvPr id="5" name="Straight Arrow Connector 4"/>
          <p:cNvCxnSpPr/>
          <p:nvPr/>
        </p:nvCxnSpPr>
        <p:spPr>
          <a:xfrm rot="120000" flipH="1">
            <a:off x="1454937" y="1381420"/>
            <a:ext cx="1097280" cy="12681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Oval 5"/>
          <p:cNvSpPr/>
          <p:nvPr/>
        </p:nvSpPr>
        <p:spPr>
          <a:xfrm>
            <a:off x="207818" y="2668320"/>
            <a:ext cx="2770909" cy="1612735"/>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az-Latn-AZ" b="1" dirty="0" smtClean="0">
                <a:solidFill>
                  <a:schemeClr val="tx1"/>
                </a:solidFill>
              </a:rPr>
              <a:t>MİCROSOFT </a:t>
            </a:r>
            <a:r>
              <a:rPr lang="en-US" b="1" dirty="0" smtClean="0">
                <a:solidFill>
                  <a:schemeClr val="tx1"/>
                </a:solidFill>
              </a:rPr>
              <a:t>WINDOWS</a:t>
            </a:r>
            <a:endParaRPr lang="ru-RU" b="1" dirty="0">
              <a:solidFill>
                <a:schemeClr val="tx1"/>
              </a:solidFill>
            </a:endParaRPr>
          </a:p>
        </p:txBody>
      </p:sp>
      <p:cxnSp>
        <p:nvCxnSpPr>
          <p:cNvPr id="8" name="Straight Arrow Connector 7"/>
          <p:cNvCxnSpPr/>
          <p:nvPr/>
        </p:nvCxnSpPr>
        <p:spPr>
          <a:xfrm flipH="1">
            <a:off x="3380509" y="1381416"/>
            <a:ext cx="401782" cy="28033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2262128" y="4184784"/>
            <a:ext cx="2236763" cy="1383175"/>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az-Latn-AZ" b="1" dirty="0" smtClean="0">
                <a:solidFill>
                  <a:schemeClr val="tx1"/>
                </a:solidFill>
              </a:rPr>
              <a:t>İOS</a:t>
            </a:r>
            <a:endParaRPr lang="ru-RU" b="1" dirty="0">
              <a:solidFill>
                <a:schemeClr val="tx1"/>
              </a:solidFill>
            </a:endParaRPr>
          </a:p>
        </p:txBody>
      </p:sp>
      <p:cxnSp>
        <p:nvCxnSpPr>
          <p:cNvPr id="13" name="Straight Arrow Connector 12"/>
          <p:cNvCxnSpPr/>
          <p:nvPr/>
        </p:nvCxnSpPr>
        <p:spPr>
          <a:xfrm>
            <a:off x="4641323" y="1381416"/>
            <a:ext cx="460986" cy="16572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372709" y="3141572"/>
            <a:ext cx="2180492" cy="1139483"/>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az-Latn-AZ" b="1" dirty="0" smtClean="0">
                <a:solidFill>
                  <a:schemeClr val="tx1"/>
                </a:solidFill>
              </a:rPr>
              <a:t>LİNUX</a:t>
            </a:r>
            <a:endParaRPr lang="ru-RU" b="1" dirty="0">
              <a:solidFill>
                <a:schemeClr val="tx1"/>
              </a:solidFill>
            </a:endParaRPr>
          </a:p>
        </p:txBody>
      </p:sp>
      <p:cxnSp>
        <p:nvCxnSpPr>
          <p:cNvPr id="18" name="Straight Arrow Connector 17"/>
          <p:cNvCxnSpPr/>
          <p:nvPr/>
        </p:nvCxnSpPr>
        <p:spPr>
          <a:xfrm>
            <a:off x="5936566" y="1381416"/>
            <a:ext cx="1083212" cy="34949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739619" y="4979321"/>
            <a:ext cx="2982350" cy="1759104"/>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b="1" dirty="0" smtClean="0">
                <a:solidFill>
                  <a:schemeClr val="tx1"/>
                </a:solidFill>
              </a:rPr>
              <a:t>ANDROID</a:t>
            </a:r>
            <a:endParaRPr lang="ru-RU" b="1" dirty="0">
              <a:solidFill>
                <a:schemeClr val="tx1"/>
              </a:solidFill>
            </a:endParaRPr>
          </a:p>
        </p:txBody>
      </p:sp>
      <p:cxnSp>
        <p:nvCxnSpPr>
          <p:cNvPr id="21" name="Straight Arrow Connector 20"/>
          <p:cNvCxnSpPr/>
          <p:nvPr/>
        </p:nvCxnSpPr>
        <p:spPr>
          <a:xfrm>
            <a:off x="7596554" y="1381416"/>
            <a:ext cx="661181" cy="20088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7596554" y="3408535"/>
            <a:ext cx="2743200" cy="15193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UNIX</a:t>
            </a:r>
            <a:endParaRPr lang="ru-RU" b="1" dirty="0">
              <a:solidFill>
                <a:schemeClr val="tx1"/>
              </a:solidFill>
            </a:endParaRPr>
          </a:p>
        </p:txBody>
      </p:sp>
      <p:cxnSp>
        <p:nvCxnSpPr>
          <p:cNvPr id="24" name="Straight Arrow Connector 23"/>
          <p:cNvCxnSpPr/>
          <p:nvPr/>
        </p:nvCxnSpPr>
        <p:spPr>
          <a:xfrm>
            <a:off x="8145194" y="1381416"/>
            <a:ext cx="1589649" cy="10044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9523827" y="2152357"/>
            <a:ext cx="2457157" cy="155895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solidFill>
                  <a:schemeClr val="tx1"/>
                </a:solidFill>
              </a:rPr>
              <a:t>MS DOS</a:t>
            </a:r>
            <a:endParaRPr lang="ru-RU" b="1" dirty="0">
              <a:solidFill>
                <a:schemeClr val="tx1"/>
              </a:solidFill>
            </a:endParaRPr>
          </a:p>
        </p:txBody>
      </p:sp>
    </p:spTree>
    <p:extLst>
      <p:ext uri="{BB962C8B-B14F-4D97-AF65-F5344CB8AC3E}">
        <p14:creationId xmlns:p14="http://schemas.microsoft.com/office/powerpoint/2010/main" val="267094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1582" y="101889"/>
            <a:ext cx="5631873" cy="1325563"/>
          </a:xfrm>
        </p:spPr>
        <p:txBody>
          <a:bodyPr>
            <a:normAutofit/>
          </a:bodyPr>
          <a:lstStyle/>
          <a:p>
            <a:r>
              <a:rPr lang="en-US" b="1" dirty="0" smtClean="0"/>
              <a:t>M</a:t>
            </a:r>
            <a:r>
              <a:rPr lang="az-Latn-AZ" b="1" dirty="0" smtClean="0"/>
              <a:t>İCROSOFT </a:t>
            </a:r>
            <a:r>
              <a:rPr lang="en-US" b="1" dirty="0" smtClean="0"/>
              <a:t>W</a:t>
            </a:r>
            <a:r>
              <a:rPr lang="az-Latn-AZ" b="1" dirty="0" smtClean="0"/>
              <a:t>İ</a:t>
            </a:r>
            <a:r>
              <a:rPr lang="en-US" b="1" dirty="0" smtClean="0"/>
              <a:t>NDOWS</a:t>
            </a:r>
            <a:endParaRPr lang="ru-RU" b="1" dirty="0"/>
          </a:p>
        </p:txBody>
      </p:sp>
      <p:pic>
        <p:nvPicPr>
          <p:cNvPr id="4100" name="Picture 4" descr="Windows” əməliyyat sistemini yenilənməy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27" y="1427452"/>
            <a:ext cx="6067425" cy="4225203"/>
          </a:xfrm>
          <a:prstGeom prst="rect">
            <a:avLst/>
          </a:prstGeom>
          <a:noFill/>
          <a:scene3d>
            <a:camera prst="orthographicFront"/>
            <a:lightRig rig="threePt" dir="t"/>
          </a:scene3d>
          <a:sp3d>
            <a:bevelT prst="angle"/>
          </a:sp3d>
          <a:extLst>
            <a:ext uri="{909E8E84-426E-40DD-AFC4-6F175D3DCCD1}">
              <a14:hiddenFill xmlns:a14="http://schemas.microsoft.com/office/drawing/2010/main">
                <a:solidFill>
                  <a:srgbClr val="FFFFFF"/>
                </a:solidFill>
              </a14:hiddenFill>
            </a:ext>
          </a:extLst>
        </p:spPr>
      </p:pic>
      <p:sp>
        <p:nvSpPr>
          <p:cNvPr id="4" name="Rectangle 3"/>
          <p:cNvSpPr/>
          <p:nvPr/>
        </p:nvSpPr>
        <p:spPr>
          <a:xfrm>
            <a:off x="6226752" y="1427452"/>
            <a:ext cx="5707745" cy="3539430"/>
          </a:xfrm>
          <a:prstGeom prst="rect">
            <a:avLst/>
          </a:prstGeom>
        </p:spPr>
        <p:txBody>
          <a:bodyPr wrap="square">
            <a:spAutoFit/>
          </a:bodyPr>
          <a:lstStyle/>
          <a:p>
            <a:r>
              <a:rPr lang="az-Latn-AZ" sz="1600" b="1" dirty="0" smtClean="0"/>
              <a:t>D</a:t>
            </a:r>
            <a:r>
              <a:rPr lang="az-Latn-AZ" sz="1600" dirty="0" smtClean="0"/>
              <a:t>ünyada ən çox istifadə edilən əməliyyat sistemlərindən biridir. İlk dəfə 1985-ci ildə </a:t>
            </a:r>
            <a:r>
              <a:rPr lang="az-Latn-AZ" sz="1600" b="1" dirty="0" smtClean="0"/>
              <a:t>Microsoft</a:t>
            </a:r>
            <a:r>
              <a:rPr lang="az-Latn-AZ" sz="1600" dirty="0" smtClean="0"/>
              <a:t> tərəfindən təqdim edilib və günümüzdə həm fərdi istifadəçilər, həm də müəssisələr üçün geniş istifadə olunur. Windows əməliyyat sistemi, istifadəçilərə qrafik istifadəçi interfeysi (GUI) təklif edir və çoxsaylı tətbiqləri işlətməyə imkan verir.</a:t>
            </a:r>
          </a:p>
          <a:p>
            <a:r>
              <a:rPr lang="az-Latn-AZ" sz="1600" b="1" dirty="0" smtClean="0"/>
              <a:t>Windows Əməliyyat Sisteminin Əsas Xüsusiyyətləri:</a:t>
            </a:r>
          </a:p>
          <a:p>
            <a:pPr>
              <a:buFont typeface="+mj-lt"/>
              <a:buAutoNum type="arabicPeriod"/>
            </a:pPr>
            <a:r>
              <a:rPr lang="az-Latn-AZ" sz="1600" b="1" dirty="0" smtClean="0"/>
              <a:t>Qrafik İstifadəçi İnterfeysi (GUI):</a:t>
            </a:r>
            <a:endParaRPr lang="az-Latn-AZ" sz="1600" dirty="0" smtClean="0"/>
          </a:p>
          <a:p>
            <a:pPr marL="742950" lvl="1" indent="-285750">
              <a:buFont typeface="+mj-lt"/>
              <a:buAutoNum type="arabicPeriod"/>
            </a:pPr>
            <a:r>
              <a:rPr lang="az-Latn-AZ" sz="1600" dirty="0" smtClean="0"/>
              <a:t>Windows, istifadəçilərə vizual cəhətdən cazibədar və intuitiv bir interfeys təqdim edir. İstifadəçilər "pəncərələr", "mətn qutuları", "meni" və "simvollar" vasitəsilə sistemlə əlaqə qururlar.</a:t>
            </a:r>
          </a:p>
          <a:p>
            <a:pPr marL="742950" lvl="1" indent="-285750">
              <a:buFont typeface="+mj-lt"/>
              <a:buAutoNum type="arabicPeriod"/>
            </a:pPr>
            <a:r>
              <a:rPr lang="az-Latn-AZ" sz="1600" dirty="0" smtClean="0"/>
              <a:t>Bu, əməliyyat sistemini həm təcrübəsiz, həm də təcrübəli istifadəçilər üçün asanlıqla idarə oluna bilən edir.</a:t>
            </a:r>
          </a:p>
        </p:txBody>
      </p:sp>
    </p:spTree>
    <p:extLst>
      <p:ext uri="{BB962C8B-B14F-4D97-AF65-F5344CB8AC3E}">
        <p14:creationId xmlns:p14="http://schemas.microsoft.com/office/powerpoint/2010/main" val="4186576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OS” mobil əməliyyat sistemində hansı yeniliklər gözlənilir? | 1news.az |  Xəbərlə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8464" y="68943"/>
            <a:ext cx="5973536" cy="468811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61257" y="324507"/>
            <a:ext cx="6096000" cy="1477328"/>
          </a:xfrm>
          <a:prstGeom prst="rect">
            <a:avLst/>
          </a:prstGeom>
        </p:spPr>
        <p:txBody>
          <a:bodyPr>
            <a:spAutoFit/>
          </a:bodyPr>
          <a:lstStyle/>
          <a:p>
            <a:r>
              <a:rPr lang="az-Latn-AZ" b="1" dirty="0" smtClean="0"/>
              <a:t>iOS (İngiliscə: </a:t>
            </a:r>
            <a:r>
              <a:rPr lang="az-Latn-AZ" b="1" i="1" dirty="0" smtClean="0"/>
              <a:t>iPhone Operating System</a:t>
            </a:r>
            <a:r>
              <a:rPr lang="az-Latn-AZ" b="1" dirty="0" smtClean="0"/>
              <a:t>) — Apple şirkəti tərəfindən hazırlanmış, yalnız iPhone, iPad, iPod Touch və digər Apple cihazlarında istifadə olunan mobil əməliyyat sistemidir. İlk dəfə 2007-ci ildə iPhone ilə birlikdə təqdim olunmuşdur və o zamandan bəri müntəzəm olaraq yenilənir.</a:t>
            </a:r>
            <a:endParaRPr lang="az-Latn-AZ" b="1" dirty="0"/>
          </a:p>
        </p:txBody>
      </p:sp>
      <p:sp>
        <p:nvSpPr>
          <p:cNvPr id="6" name="Rectangle 5"/>
          <p:cNvSpPr/>
          <p:nvPr/>
        </p:nvSpPr>
        <p:spPr>
          <a:xfrm>
            <a:off x="396513" y="1801835"/>
            <a:ext cx="6096000" cy="3416320"/>
          </a:xfrm>
          <a:prstGeom prst="rect">
            <a:avLst/>
          </a:prstGeom>
        </p:spPr>
        <p:txBody>
          <a:bodyPr>
            <a:spAutoFit/>
          </a:bodyPr>
          <a:lstStyle/>
          <a:p>
            <a:r>
              <a:rPr lang="az-Latn-AZ" b="1" dirty="0" smtClean="0"/>
              <a:t>Yeniliklər və versiyalar:</a:t>
            </a:r>
          </a:p>
          <a:p>
            <a:r>
              <a:rPr lang="az-Latn-AZ" b="1" dirty="0" smtClean="0"/>
              <a:t>iOS hər il yeni versiyalar ilə təkmilləşir. Hər versiya ilə yeni funksiyalar, təhlükəsizlik yenilikləri və dizayn dəyişikləri əlavə olunur. Məsələn, son versiyalarla birlikdə iOS cihazlarında widget-lər, məlumat analizləri, daha yaxşı xəbərdarlıqlar və yeni gizlilik xüsusiyyətləri əlavə olunmuşdur.</a:t>
            </a:r>
          </a:p>
          <a:p>
            <a:r>
              <a:rPr lang="az-Latn-AZ" b="1" dirty="0" smtClean="0"/>
              <a:t>iOS-un Ən Son Versiyası ilə bağlı məlumat əldə etmək istəyirsinizsə, rəsmi Apple saytına və ya cihazınızın Parametrlər bölməsinə baxa bilərsiniz.</a:t>
            </a:r>
          </a:p>
          <a:p>
            <a:r>
              <a:rPr lang="az-Latn-AZ" b="1" dirty="0" smtClean="0"/>
              <a:t>Başqa bir sualınız varsa, konkret olaraq hansı iOS xüsusiyyətləri və ya funksiyaları barədə maraqlandığınızı deyə bilərsiniz.</a:t>
            </a:r>
            <a:endParaRPr lang="az-Latn-AZ" b="1" dirty="0"/>
          </a:p>
        </p:txBody>
      </p:sp>
      <p:sp>
        <p:nvSpPr>
          <p:cNvPr id="7" name="Rectangle 3"/>
          <p:cNvSpPr>
            <a:spLocks noChangeArrowheads="1"/>
          </p:cNvSpPr>
          <p:nvPr/>
        </p:nvSpPr>
        <p:spPr bwMode="auto">
          <a:xfrm>
            <a:off x="261257" y="5140123"/>
            <a:ext cx="1024197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Həssas ekran və haptik reaksiyalar</a:t>
            </a:r>
            <a:r>
              <a:rPr kumimoji="0" lang="az-Latn-AZ" altLang="ru-RU" sz="1800" b="0" i="0" u="none" strike="noStrike" cap="none" normalizeH="0" baseline="0" dirty="0" smtClean="0">
                <a:ln>
                  <a:noFill/>
                </a:ln>
                <a:solidFill>
                  <a:schemeClr val="tx1"/>
                </a:solidFill>
                <a:effectLst/>
                <a:latin typeface="Arial" panose="020B0604020202020204" pitchFamily="34" charset="0"/>
              </a:rPr>
              <a:t> ilə istifadəçi təcrübəsini yaxşılaşdırır.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Bəslənmə ilə idarə olunan widget-lər</a:t>
            </a:r>
            <a:r>
              <a:rPr kumimoji="0" lang="az-Latn-AZ" altLang="ru-RU" sz="1800" b="0" i="0" u="none" strike="noStrike" cap="none" normalizeH="0" baseline="0" dirty="0" smtClean="0">
                <a:ln>
                  <a:noFill/>
                </a:ln>
                <a:solidFill>
                  <a:schemeClr val="tx1"/>
                </a:solidFill>
                <a:effectLst/>
                <a:latin typeface="Arial" panose="020B0604020202020204" pitchFamily="34" charset="0"/>
              </a:rPr>
              <a:t> və </a:t>
            </a:r>
            <a:r>
              <a:rPr kumimoji="0" lang="az-Latn-AZ" altLang="ru-RU" sz="1800" b="1" i="0" u="none" strike="noStrike" cap="none" normalizeH="0" baseline="0" dirty="0" smtClean="0">
                <a:ln>
                  <a:noFill/>
                </a:ln>
                <a:solidFill>
                  <a:schemeClr val="tx1"/>
                </a:solidFill>
                <a:effectLst/>
                <a:latin typeface="Arial" panose="020B0604020202020204" pitchFamily="34" charset="0"/>
              </a:rPr>
              <a:t>Tətbiqlərin çoxlu funksiyaları</a:t>
            </a:r>
            <a:r>
              <a:rPr kumimoji="0" lang="az-Latn-AZ" altLang="ru-RU" sz="1800" b="0" i="0" u="none" strike="noStrike" cap="none" normalizeH="0" baseline="0" dirty="0" smtClean="0">
                <a:ln>
                  <a:noFill/>
                </a:ln>
                <a:solidFill>
                  <a:schemeClr val="tx1"/>
                </a:solidFill>
                <a:effectLst/>
                <a:latin typeface="Arial" panose="020B0604020202020204" pitchFamily="34" charset="0"/>
              </a:rPr>
              <a:t> ilə məhsuldarlığı artırır.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App Clips</a:t>
            </a:r>
            <a:r>
              <a:rPr kumimoji="0" lang="az-Latn-AZ" altLang="ru-RU" sz="1800" b="0" i="0" u="none" strike="noStrike" cap="none" normalizeH="0" baseline="0" dirty="0" smtClean="0">
                <a:ln>
                  <a:noFill/>
                </a:ln>
                <a:solidFill>
                  <a:schemeClr val="tx1"/>
                </a:solidFill>
                <a:effectLst/>
                <a:latin typeface="Arial" panose="020B0604020202020204" pitchFamily="34" charset="0"/>
              </a:rPr>
              <a:t> vasitəsilə kiçik, sürətli və yüngül tətbiqlər istifadəyə verilir </a:t>
            </a:r>
          </a:p>
        </p:txBody>
      </p:sp>
    </p:spTree>
    <p:extLst>
      <p:ext uri="{BB962C8B-B14F-4D97-AF65-F5344CB8AC3E}">
        <p14:creationId xmlns:p14="http://schemas.microsoft.com/office/powerpoint/2010/main" val="916238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vTutor Blog | Linux It's History and Why It Isn't Going Anywher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634" y="252186"/>
            <a:ext cx="5600388" cy="394244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994400" y="252186"/>
            <a:ext cx="6096000" cy="2031325"/>
          </a:xfrm>
          <a:prstGeom prst="rect">
            <a:avLst/>
          </a:prstGeom>
        </p:spPr>
        <p:txBody>
          <a:bodyPr>
            <a:spAutoFit/>
          </a:bodyPr>
          <a:lstStyle/>
          <a:p>
            <a:r>
              <a:rPr lang="az-Latn-AZ" b="1" dirty="0" smtClean="0"/>
              <a:t>Linux əməliyyat sistemi</a:t>
            </a:r>
            <a:r>
              <a:rPr lang="az-Latn-AZ" dirty="0" smtClean="0"/>
              <a:t> açıq mənbəli bir əməliyyat sistemidir və onun əsasını </a:t>
            </a:r>
            <a:r>
              <a:rPr lang="az-Latn-AZ" b="1" dirty="0" smtClean="0"/>
              <a:t>Linux nüvəsi (kernel)</a:t>
            </a:r>
            <a:r>
              <a:rPr lang="az-Latn-AZ" dirty="0" smtClean="0"/>
              <a:t> təşkil edir. Linus Torvalds tərəfindən 1991-ci ildə yaradılmış bu sistem, özünün sərbəst və açıq mənbəli təbiəti ilə geniş yayılmışdır. Linux əməliyyat sistemi müxtəlif </a:t>
            </a:r>
            <a:r>
              <a:rPr lang="az-Latn-AZ" b="1" dirty="0" smtClean="0"/>
              <a:t>paylamalar (distribusiyalar)</a:t>
            </a:r>
            <a:r>
              <a:rPr lang="az-Latn-AZ" dirty="0" smtClean="0"/>
              <a:t> formasında mövcuddur və hər bir paylama fərqli məqsədlər üçün optimallaşdırılmışdır.</a:t>
            </a:r>
            <a:endParaRPr lang="az-Latn-AZ" dirty="0"/>
          </a:p>
        </p:txBody>
      </p:sp>
      <p:sp>
        <p:nvSpPr>
          <p:cNvPr id="3" name="Rectangle 2"/>
          <p:cNvSpPr/>
          <p:nvPr/>
        </p:nvSpPr>
        <p:spPr>
          <a:xfrm>
            <a:off x="5994400" y="2283511"/>
            <a:ext cx="6096000" cy="3139321"/>
          </a:xfrm>
          <a:prstGeom prst="rect">
            <a:avLst/>
          </a:prstGeom>
        </p:spPr>
        <p:txBody>
          <a:bodyPr>
            <a:spAutoFit/>
          </a:bodyPr>
          <a:lstStyle/>
          <a:p>
            <a:r>
              <a:rPr lang="az-Latn-AZ" b="1" dirty="0" smtClean="0"/>
              <a:t>Linux-un istifadə sahələri:</a:t>
            </a:r>
          </a:p>
          <a:p>
            <a:pPr>
              <a:buFont typeface="+mj-lt"/>
              <a:buAutoNum type="arabicPeriod"/>
            </a:pPr>
            <a:r>
              <a:rPr lang="az-Latn-AZ" b="1" dirty="0" smtClean="0"/>
              <a:t>Serverlər</a:t>
            </a:r>
            <a:r>
              <a:rPr lang="az-Latn-AZ" dirty="0" smtClean="0"/>
              <a:t>: Linux serverlərdə çox geniş istifadə olunur. Apache, Nginx kimi veb serverləri Linux üzərində işləyir.</a:t>
            </a:r>
          </a:p>
          <a:p>
            <a:pPr>
              <a:buFont typeface="+mj-lt"/>
              <a:buAutoNum type="arabicPeriod"/>
            </a:pPr>
            <a:r>
              <a:rPr lang="az-Latn-AZ" b="1" dirty="0" smtClean="0"/>
              <a:t>Təhlükəsizlik</a:t>
            </a:r>
            <a:r>
              <a:rPr lang="az-Latn-AZ" dirty="0" smtClean="0"/>
              <a:t>: Linux-da təhlükəsizlik vasitələri çox genişdir (Firewall, SELinux, Fail2Ban və s.).</a:t>
            </a:r>
          </a:p>
          <a:p>
            <a:pPr>
              <a:buFont typeface="+mj-lt"/>
              <a:buAutoNum type="arabicPeriod"/>
            </a:pPr>
            <a:r>
              <a:rPr lang="az-Latn-AZ" b="1" dirty="0" smtClean="0"/>
              <a:t>İnkişaf və Proqramlaşdırma</a:t>
            </a:r>
            <a:r>
              <a:rPr lang="az-Latn-AZ" dirty="0" smtClean="0"/>
              <a:t>: Linux inkişafçılar üçün əla bir mühitdir, çünki proqramlaşdırma dilləri və alətlər Linux-da asanlıqla mövcuddur.</a:t>
            </a:r>
          </a:p>
          <a:p>
            <a:pPr>
              <a:buFont typeface="+mj-lt"/>
              <a:buAutoNum type="arabicPeriod"/>
            </a:pPr>
            <a:r>
              <a:rPr lang="az-Latn-AZ" b="1" dirty="0" smtClean="0"/>
              <a:t>Desktop (Masaüstü)</a:t>
            </a:r>
            <a:r>
              <a:rPr lang="az-Latn-AZ" dirty="0" smtClean="0"/>
              <a:t>: Linux desktop istifadəçiləri üçün də geniş istifadə olunur, məsələn, Ubuntu və Fedora kimi paylamalar gündəlik istifadə üçün uyğundur.</a:t>
            </a:r>
            <a:endParaRPr lang="az-Latn-AZ" dirty="0"/>
          </a:p>
        </p:txBody>
      </p:sp>
      <p:sp>
        <p:nvSpPr>
          <p:cNvPr id="4" name="Rectangle 3"/>
          <p:cNvSpPr/>
          <p:nvPr/>
        </p:nvSpPr>
        <p:spPr>
          <a:xfrm>
            <a:off x="5994400" y="5422832"/>
            <a:ext cx="6096000" cy="646331"/>
          </a:xfrm>
          <a:prstGeom prst="rect">
            <a:avLst/>
          </a:prstGeom>
        </p:spPr>
        <p:txBody>
          <a:bodyPr>
            <a:spAutoFit/>
          </a:bodyPr>
          <a:lstStyle/>
          <a:p>
            <a:r>
              <a:rPr lang="az-Latn-AZ" dirty="0" smtClean="0"/>
              <a:t>Linux əməliyyat sisteminin mənbə kodu hər kəsə açıqdır və istənilən şəxs onu pulsuz olaraq əldə edib dəyişdirə bilər.</a:t>
            </a:r>
            <a:endParaRPr lang="az-Latn-AZ" dirty="0"/>
          </a:p>
        </p:txBody>
      </p:sp>
      <p:pic>
        <p:nvPicPr>
          <p:cNvPr id="4100" name="Picture 4" descr="End-of-Life Linu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059" y="4194629"/>
            <a:ext cx="4053569" cy="2870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54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ndroid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547" y="462280"/>
            <a:ext cx="4166053" cy="4368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096000" y="462280"/>
            <a:ext cx="6096000" cy="2677656"/>
          </a:xfrm>
          <a:prstGeom prst="rect">
            <a:avLst/>
          </a:prstGeom>
        </p:spPr>
        <p:txBody>
          <a:bodyPr>
            <a:spAutoFit/>
          </a:bodyPr>
          <a:lstStyle/>
          <a:p>
            <a:r>
              <a:rPr lang="az-Latn-AZ" sz="2400" dirty="0" smtClean="0"/>
              <a:t>sistemidir. Android, </a:t>
            </a:r>
            <a:r>
              <a:rPr lang="az-Latn-AZ" sz="2400" b="1" dirty="0" smtClean="0"/>
              <a:t>Google</a:t>
            </a:r>
            <a:r>
              <a:rPr lang="az-Latn-AZ" sz="2400" dirty="0" smtClean="0"/>
              <a:t> tərəfindən inkişaf etdirilir və ən geniş yayılmış mobil əməliyyat sistemidir.</a:t>
            </a:r>
            <a:r>
              <a:rPr lang="az-Latn-AZ" sz="2400" b="1" dirty="0" smtClean="0"/>
              <a:t> Android əməliyyat sistemi</a:t>
            </a:r>
            <a:r>
              <a:rPr lang="az-Latn-AZ" sz="2400" dirty="0" smtClean="0"/>
              <a:t> mobil cihazlar, o cümlədən smartfonlar, planşetlər, ağıllı saatlar, televizorlar və digər "ağıllı" cihazlar üçün nəzərdə tutulmuş açıq mənbəli bir əməliyyat </a:t>
            </a:r>
            <a:endParaRPr lang="az-Latn-AZ" sz="2400" dirty="0"/>
          </a:p>
        </p:txBody>
      </p:sp>
      <p:sp>
        <p:nvSpPr>
          <p:cNvPr id="3" name="Rectangle 2"/>
          <p:cNvSpPr/>
          <p:nvPr/>
        </p:nvSpPr>
        <p:spPr>
          <a:xfrm>
            <a:off x="5924550" y="3139936"/>
            <a:ext cx="6096000" cy="3416320"/>
          </a:xfrm>
          <a:prstGeom prst="rect">
            <a:avLst/>
          </a:prstGeom>
        </p:spPr>
        <p:txBody>
          <a:bodyPr>
            <a:spAutoFit/>
          </a:bodyPr>
          <a:lstStyle/>
          <a:p>
            <a:r>
              <a:rPr lang="az-Latn-AZ" sz="2400" b="1" dirty="0" smtClean="0"/>
              <a:t>Inc.</a:t>
            </a:r>
            <a:r>
              <a:rPr lang="az-Latn-AZ" sz="2400" dirty="0" smtClean="0"/>
              <a:t> olaraq fəaliyyət göstərən bu şirkət 2005-ciedilmişdir. İlk başda </a:t>
            </a:r>
            <a:r>
              <a:rPr lang="az-Latn-AZ" sz="2400" b="1" dirty="0" smtClean="0"/>
              <a:t>Android </a:t>
            </a:r>
            <a:r>
              <a:rPr lang="az-Latn-AZ" sz="2400" dirty="0" smtClean="0"/>
              <a:t> ildə </a:t>
            </a:r>
            <a:r>
              <a:rPr lang="az-Latn-AZ" sz="2400" b="1" dirty="0" smtClean="0"/>
              <a:t>Google</a:t>
            </a:r>
            <a:r>
              <a:rPr lang="az-Latn-AZ" sz="2400" dirty="0" smtClean="0"/>
              <a:t> tərəfindən satın alındı. Android-in ilk versiyası 2008-ci ildə "Cupcake" adı ilə təqdim olu</a:t>
            </a:r>
            <a:r>
              <a:rPr lang="az-Latn-AZ" sz="2400" b="1" dirty="0" smtClean="0"/>
              <a:t>Android əməliyyat sisteminin tarixçəsi:</a:t>
            </a:r>
          </a:p>
          <a:p>
            <a:r>
              <a:rPr lang="az-Latn-AZ" sz="2400" dirty="0" smtClean="0"/>
              <a:t>Android, 2003-cü ildə </a:t>
            </a:r>
            <a:r>
              <a:rPr lang="az-Latn-AZ" sz="2400" b="1" dirty="0" smtClean="0"/>
              <a:t>Andy Rubin</a:t>
            </a:r>
            <a:r>
              <a:rPr lang="az-Latn-AZ" sz="2400" dirty="0" smtClean="0"/>
              <a:t>, </a:t>
            </a:r>
            <a:r>
              <a:rPr lang="az-Latn-AZ" sz="2400" b="1" dirty="0" smtClean="0"/>
              <a:t>Rich Miner</a:t>
            </a:r>
            <a:r>
              <a:rPr lang="az-Latn-AZ" sz="2400" dirty="0" smtClean="0"/>
              <a:t>, </a:t>
            </a:r>
            <a:r>
              <a:rPr lang="az-Latn-AZ" sz="2400" b="1" dirty="0" smtClean="0"/>
              <a:t>Nick Sears</a:t>
            </a:r>
            <a:r>
              <a:rPr lang="az-Latn-AZ" sz="2400" dirty="0" smtClean="0"/>
              <a:t> və </a:t>
            </a:r>
            <a:r>
              <a:rPr lang="az-Latn-AZ" sz="2400" b="1" dirty="0" smtClean="0"/>
              <a:t>Chris White</a:t>
            </a:r>
            <a:r>
              <a:rPr lang="az-Latn-AZ" sz="2400" dirty="0" smtClean="0"/>
              <a:t> tərəfindən təsis ndu və o vaxtdan etibarən bir çox versiyalar buraxılmışdır.</a:t>
            </a:r>
            <a:endParaRPr lang="az-Latn-AZ" sz="2400" dirty="0"/>
          </a:p>
        </p:txBody>
      </p:sp>
    </p:spTree>
    <p:extLst>
      <p:ext uri="{BB962C8B-B14F-4D97-AF65-F5344CB8AC3E}">
        <p14:creationId xmlns:p14="http://schemas.microsoft.com/office/powerpoint/2010/main" val="2530977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UNIX Training in Bangalore | Best UNIX Course in Bangalore | TI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1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35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s ms-DOS Still Relevant in Today's Computing Wor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66972" cy="398813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096000" y="860310"/>
            <a:ext cx="6096000" cy="2031325"/>
          </a:xfrm>
          <a:prstGeom prst="rect">
            <a:avLst/>
          </a:prstGeom>
        </p:spPr>
        <p:txBody>
          <a:bodyPr>
            <a:spAutoFit/>
          </a:bodyPr>
          <a:lstStyle/>
          <a:p>
            <a:r>
              <a:rPr lang="az-Latn-AZ" b="1" dirty="0" smtClean="0"/>
              <a:t>MS-DOS</a:t>
            </a:r>
            <a:r>
              <a:rPr lang="az-Latn-AZ" dirty="0" smtClean="0"/>
              <a:t> (Microsoft Disk Operating System) – Microsoft tərəfindən hazırlanmış və 1980-ci illərin sonlarına qədər ən çox istifadə olunan əməliyyat sistemlərindən biridir. MS-DOS əsasən şəxsi kompüterlərdə (PC) işləyən bir əməliyyat sistemidir və komandalarla işləyən bir interfeysə malikdir. Əməliyyat sisteminin əsas xüsusiyyətləri və tarixi haqqında daha ətraflı məlumat verim:</a:t>
            </a:r>
            <a:endParaRPr lang="az-Latn-AZ" dirty="0"/>
          </a:p>
        </p:txBody>
      </p:sp>
      <p:sp>
        <p:nvSpPr>
          <p:cNvPr id="3" name="Rectangle 2"/>
          <p:cNvSpPr/>
          <p:nvPr/>
        </p:nvSpPr>
        <p:spPr>
          <a:xfrm>
            <a:off x="6096000" y="2896774"/>
            <a:ext cx="6096000" cy="3139321"/>
          </a:xfrm>
          <a:prstGeom prst="rect">
            <a:avLst/>
          </a:prstGeom>
        </p:spPr>
        <p:txBody>
          <a:bodyPr>
            <a:spAutoFit/>
          </a:bodyPr>
          <a:lstStyle/>
          <a:p>
            <a:r>
              <a:rPr lang="az-Latn-AZ" b="1" dirty="0" smtClean="0"/>
              <a:t>MS-DOS-un Tarixi:</a:t>
            </a:r>
          </a:p>
          <a:p>
            <a:pPr>
              <a:buFont typeface="Arial" panose="020B0604020202020204" pitchFamily="34" charset="0"/>
              <a:buChar char="•"/>
            </a:pPr>
            <a:r>
              <a:rPr lang="az-Latn-AZ" b="1" dirty="0" smtClean="0"/>
              <a:t>Yaradılma Tarixi:</a:t>
            </a:r>
            <a:r>
              <a:rPr lang="az-Latn-AZ" dirty="0" smtClean="0"/>
              <a:t> MS-DOS 1981-ci ildə Microsoft tərəfindən IBM üçün hazırlanan bir əməliyyat sistemi olaraq buraxıldı. IBM-nin ilk şəxsi kompüteri (IBM PC) ilə birlikdə istifadə edilməyə başlandı.</a:t>
            </a:r>
          </a:p>
          <a:p>
            <a:pPr>
              <a:buFont typeface="Arial" panose="020B0604020202020204" pitchFamily="34" charset="0"/>
              <a:buChar char="•"/>
            </a:pPr>
            <a:r>
              <a:rPr lang="az-Latn-AZ" b="1" dirty="0" smtClean="0"/>
              <a:t>Əsas İnkişaf:</a:t>
            </a:r>
            <a:r>
              <a:rPr lang="az-Latn-AZ" dirty="0" smtClean="0"/>
              <a:t> MS-DOS, əvvəllər </a:t>
            </a:r>
            <a:r>
              <a:rPr lang="az-Latn-AZ" i="1" dirty="0" smtClean="0"/>
              <a:t>QDOS</a:t>
            </a:r>
            <a:r>
              <a:rPr lang="az-Latn-AZ" dirty="0" smtClean="0"/>
              <a:t> (Quick and Dirty Operating System) adlanan əməliyyat sisteminin təkmilləşdirilməsi nəticəsində ortaya çıxdı. IBM, kompüterini bazara çıxarmağa hazırlaşarkən, Microsoft-a əməliyyat sistemi təmin etməyi təklif etdi, və bu, sonradan MS-DOS-un yaradılmasına səbəb oldu.</a:t>
            </a:r>
            <a:endParaRPr lang="az-Latn-AZ" dirty="0"/>
          </a:p>
        </p:txBody>
      </p:sp>
      <p:sp>
        <p:nvSpPr>
          <p:cNvPr id="4" name="Rectangle 3"/>
          <p:cNvSpPr/>
          <p:nvPr/>
        </p:nvSpPr>
        <p:spPr>
          <a:xfrm>
            <a:off x="6096000" y="6036095"/>
            <a:ext cx="6096000" cy="646331"/>
          </a:xfrm>
          <a:prstGeom prst="rect">
            <a:avLst/>
          </a:prstGeom>
        </p:spPr>
        <p:txBody>
          <a:bodyPr>
            <a:spAutoFit/>
          </a:bodyPr>
          <a:lstStyle/>
          <a:p>
            <a:r>
              <a:rPr lang="az-Latn-AZ" b="1" dirty="0" smtClean="0"/>
              <a:t>Ən Populyar Versiya:</a:t>
            </a:r>
            <a:r>
              <a:rPr lang="az-Latn-AZ" dirty="0" smtClean="0"/>
              <a:t> MS-DOS-un ən məşhur versiyası </a:t>
            </a:r>
            <a:r>
              <a:rPr lang="az-Latn-AZ" b="1" dirty="0" smtClean="0"/>
              <a:t>MS-DOS 6.22</a:t>
            </a:r>
            <a:r>
              <a:rPr lang="az-Latn-AZ" dirty="0" smtClean="0"/>
              <a:t> idi, bu versiya 1994-cü ildə yayımlandı.</a:t>
            </a:r>
            <a:endParaRPr lang="az-Latn-AZ" dirty="0"/>
          </a:p>
        </p:txBody>
      </p:sp>
      <p:pic>
        <p:nvPicPr>
          <p:cNvPr id="8196" name="Picture 4" descr="MS - DOS Komutları Hakkında Çok Geniş Bilgiler | BİLGİSAYAR BİLİŞİM | BBN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372" y="4081597"/>
            <a:ext cx="5943600" cy="2277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410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0314" y="147411"/>
            <a:ext cx="8131629" cy="746428"/>
          </a:xfrm>
        </p:spPr>
        <p:txBody>
          <a:bodyPr>
            <a:noAutofit/>
          </a:bodyPr>
          <a:lstStyle/>
          <a:p>
            <a:r>
              <a:rPr lang="az-Latn-AZ" sz="4000" b="1" i="1" dirty="0" smtClean="0"/>
              <a:t>ƏMƏLİYYAT SİSTEMİ FUNKSİYALARI</a:t>
            </a:r>
            <a:endParaRPr lang="ru-RU" sz="4000" b="1" i="1" dirty="0"/>
          </a:p>
        </p:txBody>
      </p:sp>
      <p:graphicFrame>
        <p:nvGraphicFramePr>
          <p:cNvPr id="4" name="Diagram 3"/>
          <p:cNvGraphicFramePr/>
          <p:nvPr>
            <p:extLst/>
          </p:nvPr>
        </p:nvGraphicFramePr>
        <p:xfrm>
          <a:off x="1436913" y="893838"/>
          <a:ext cx="9289143" cy="57101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8769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90286" y="566057"/>
            <a:ext cx="2931885" cy="5225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az-Latn-AZ" b="1" dirty="0" smtClean="0"/>
              <a:t>PAKET EMALI</a:t>
            </a:r>
            <a:endParaRPr lang="ru-RU" b="1" dirty="0"/>
          </a:p>
        </p:txBody>
      </p:sp>
      <p:sp>
        <p:nvSpPr>
          <p:cNvPr id="7" name="Rectangle 6"/>
          <p:cNvSpPr/>
          <p:nvPr/>
        </p:nvSpPr>
        <p:spPr>
          <a:xfrm>
            <a:off x="4165600" y="566057"/>
            <a:ext cx="2960914" cy="5660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az-Latn-AZ" b="1" dirty="0" smtClean="0"/>
              <a:t>VAXT BÖLGÜSÜ</a:t>
            </a:r>
            <a:endParaRPr lang="ru-RU" b="1" dirty="0"/>
          </a:p>
        </p:txBody>
      </p:sp>
      <p:sp>
        <p:nvSpPr>
          <p:cNvPr id="8" name="Rectangle 7"/>
          <p:cNvSpPr/>
          <p:nvPr/>
        </p:nvSpPr>
        <p:spPr>
          <a:xfrm>
            <a:off x="8069943" y="566056"/>
            <a:ext cx="3265715" cy="5660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az-Latn-AZ" b="1" dirty="0" smtClean="0"/>
              <a:t>REAL VAXTA GÖRƏ</a:t>
            </a:r>
            <a:endParaRPr lang="ru-RU" b="1" dirty="0"/>
          </a:p>
        </p:txBody>
      </p:sp>
      <p:sp>
        <p:nvSpPr>
          <p:cNvPr id="9" name="Rounded Rectangle 8"/>
          <p:cNvSpPr/>
          <p:nvPr/>
        </p:nvSpPr>
        <p:spPr>
          <a:xfrm>
            <a:off x="116114" y="1306286"/>
            <a:ext cx="3585028" cy="55517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az-Latn-AZ" b="1" dirty="0" smtClean="0">
                <a:solidFill>
                  <a:schemeClr val="tx1"/>
                </a:solidFill>
              </a:rPr>
              <a:t>YERİNƏ YETİRİLƏCƏK PROQRAMLARA UYĞUN OLARAQ TAPŞIRIQLAR PAKETİ FORMALAŞDIRILIR VƏ NÖVBƏTİ ŞƏKİLDƏ YERİNƏ YETİRİLİR</a:t>
            </a:r>
            <a:endParaRPr lang="ru-RU" b="1" dirty="0">
              <a:solidFill>
                <a:schemeClr val="tx1"/>
              </a:solidFill>
            </a:endParaRPr>
          </a:p>
        </p:txBody>
      </p:sp>
      <p:sp>
        <p:nvSpPr>
          <p:cNvPr id="10" name="Rounded Rectangle 9"/>
          <p:cNvSpPr/>
          <p:nvPr/>
        </p:nvSpPr>
        <p:spPr>
          <a:xfrm>
            <a:off x="4165600" y="1306286"/>
            <a:ext cx="3497943" cy="55517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az-Latn-AZ" b="1" dirty="0" smtClean="0">
                <a:solidFill>
                  <a:schemeClr val="tx1"/>
                </a:solidFill>
              </a:rPr>
              <a:t>MÜXTƏLİF TERMİNALLARDAN BİR NEÇƏ İSTİFADƏÇİNİN EYNİ VAXTDA KOMPUTERƏ MÜRACİƏTİNİ YERİNƏ YETİRMƏK ÜÇÜN ƏS XİDMƏT XARAKTERLİ TAPŞIRIQLARA UYĞUN MAŞIN RESURSLARINI NÖVBƏ İLƏ SEÇİR</a:t>
            </a:r>
            <a:endParaRPr lang="ru-RU" b="1" dirty="0">
              <a:solidFill>
                <a:schemeClr val="tx1"/>
              </a:solidFill>
            </a:endParaRPr>
          </a:p>
        </p:txBody>
      </p:sp>
      <p:sp>
        <p:nvSpPr>
          <p:cNvPr id="11" name="Rounded Rectangle 10"/>
          <p:cNvSpPr/>
          <p:nvPr/>
        </p:nvSpPr>
        <p:spPr>
          <a:xfrm>
            <a:off x="7968343" y="1306287"/>
            <a:ext cx="3715657" cy="555171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az-Latn-AZ" b="1" dirty="0" smtClean="0">
                <a:solidFill>
                  <a:schemeClr val="tx1"/>
                </a:solidFill>
              </a:rPr>
              <a:t>LAZIM OLAN MƏSƏLƏLƏRİ EYNİ ZAMANDA HƏLL ETMƏYƏ İMKAN VERİR</a:t>
            </a:r>
            <a:r>
              <a:rPr lang="en-US" b="1" dirty="0" smtClean="0">
                <a:solidFill>
                  <a:schemeClr val="tx1"/>
                </a:solidFill>
              </a:rPr>
              <a:t>.</a:t>
            </a:r>
            <a:r>
              <a:rPr lang="az-Latn-AZ" b="1" dirty="0" smtClean="0">
                <a:solidFill>
                  <a:schemeClr val="tx1"/>
                </a:solidFill>
              </a:rPr>
              <a:t>İSTİFADƏÇİ SORĞULARINA MÜƏYYƏN OLUNMUŞ VAXT ƏRZİNDƏ KOMPUTERİN CAVABINI TƏMİN EDİR</a:t>
            </a:r>
            <a:endParaRPr lang="ru-RU" b="1" dirty="0">
              <a:solidFill>
                <a:schemeClr val="tx1"/>
              </a:solidFill>
            </a:endParaRPr>
          </a:p>
        </p:txBody>
      </p:sp>
    </p:spTree>
    <p:extLst>
      <p:ext uri="{BB962C8B-B14F-4D97-AF65-F5344CB8AC3E}">
        <p14:creationId xmlns:p14="http://schemas.microsoft.com/office/powerpoint/2010/main" val="2335463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286" y="262768"/>
            <a:ext cx="6096000" cy="3139321"/>
          </a:xfrm>
          <a:prstGeom prst="rect">
            <a:avLst/>
          </a:prstGeom>
        </p:spPr>
        <p:txBody>
          <a:bodyPr>
            <a:spAutoFit/>
          </a:bodyPr>
          <a:lstStyle/>
          <a:p>
            <a:r>
              <a:rPr lang="az-Latn-AZ" b="1" dirty="0" smtClean="0"/>
              <a:t>Data structures (verilən strukturları) proqramlaşdırmada verilənlərin müəyyən bir şəkildə saxlanılması və idarə edilməsi üsullarını ifadə edir. Bir verilən strukturu, verilənlərə tətbiq olunan əməliyyatları daha səmərəli etmək üçün istifadə olunur və verilənlərin yaddaşda necə təşkil olunduğuna, əldə olunmasına və manipulyasiya edilməsinə dair müəyyən qaydalar təyin edir.</a:t>
            </a:r>
          </a:p>
          <a:p>
            <a:r>
              <a:rPr lang="az-Latn-AZ" b="1" dirty="0" smtClean="0"/>
              <a:t>Verilən strukturlarının məqsədi, məlumatları mümkün qədər optimallaşdırılmış və tez bir şəkildə istifadə etməyə imkan verməkdir. Aşağıda əsas verilən strukturlarını və onların xüsusiyyətlərini izah edəcəyəm:</a:t>
            </a:r>
            <a:endParaRPr lang="az-Latn-AZ" b="1" dirty="0"/>
          </a:p>
        </p:txBody>
      </p:sp>
      <p:sp>
        <p:nvSpPr>
          <p:cNvPr id="4" name="Rectangle 5"/>
          <p:cNvSpPr>
            <a:spLocks noChangeArrowheads="1"/>
          </p:cNvSpPr>
          <p:nvPr/>
        </p:nvSpPr>
        <p:spPr bwMode="auto">
          <a:xfrm>
            <a:off x="290286" y="3623877"/>
            <a:ext cx="8836073"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Ən Çox İstifadə Edilən Data Structures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1. Array (Massiv)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Tərif</a:t>
            </a:r>
            <a:r>
              <a:rPr kumimoji="0" lang="az-Latn-AZ" altLang="ru-RU" sz="1800" b="1" i="0" u="none" strike="noStrike" cap="none" normalizeH="0" baseline="0" dirty="0" smtClean="0">
                <a:ln>
                  <a:noFill/>
                </a:ln>
                <a:solidFill>
                  <a:schemeClr val="tx1"/>
                </a:solidFill>
                <a:effectLst/>
                <a:latin typeface="Arial" panose="020B0604020202020204" pitchFamily="34" charset="0"/>
              </a:rPr>
              <a:t>: Eyni tipdəki verilənləri ardıcıl şəkildə yaddaşda saxlayan verilən strukturu.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Xüsusiyyətlər: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Yaddaşda ardıcıl yerləşir.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Hər bir elementə indekslə müraciət olunur.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O(1) vaxtında təsadüfi (random access) əməliyyatları edə bilərik.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Yaxşı tərəfləri: Asanlıqla yaratmaq və istifadə etmək.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Çətin tərəfləri: Boyunu dəyişdirmək çətindir (dinamik ölçü).</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Nümunə: </a:t>
            </a:r>
            <a:r>
              <a:rPr kumimoji="0" lang="az-Latn-AZ" altLang="ru-RU" sz="1000" b="1" i="0" u="none" strike="noStrike" cap="none" normalizeH="0" baseline="0" dirty="0" smtClean="0">
                <a:ln>
                  <a:noFill/>
                </a:ln>
                <a:solidFill>
                  <a:schemeClr val="tx1"/>
                </a:solidFill>
                <a:effectLst/>
                <a:latin typeface="Arial Unicode MS"/>
              </a:rPr>
              <a:t>int arr[5] = {1, 2, 3, 4, 5};</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pic>
        <p:nvPicPr>
          <p:cNvPr id="9223" name="Picture 7" descr="Verilənlər strukturu - Queue və Stack - ATL Akademiy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2693" y="104776"/>
            <a:ext cx="5189307" cy="3297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3639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250" y="1785258"/>
            <a:ext cx="10515600" cy="1224189"/>
          </a:xfrm>
        </p:spPr>
        <p:txBody>
          <a:bodyPr>
            <a:normAutofit/>
          </a:bodyPr>
          <a:lstStyle/>
          <a:p>
            <a:r>
              <a:rPr lang="az-Latn-AZ" b="1" dirty="0" smtClean="0"/>
              <a:t>İZLƏDİYİNİZ ÜÇÜN TƏŞƏKKÜRLƏR!</a:t>
            </a:r>
            <a:endParaRPr lang="ru-RU" b="1" dirty="0"/>
          </a:p>
        </p:txBody>
      </p:sp>
    </p:spTree>
    <p:extLst>
      <p:ext uri="{BB962C8B-B14F-4D97-AF65-F5344CB8AC3E}">
        <p14:creationId xmlns:p14="http://schemas.microsoft.com/office/powerpoint/2010/main" val="1934460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1345</Words>
  <Application>Microsoft Office PowerPoint</Application>
  <PresentationFormat>Widescreen</PresentationFormat>
  <Paragraphs>103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Unicode MS</vt:lpstr>
      <vt:lpstr>Calibri</vt:lpstr>
      <vt:lpstr>Calibri Light</vt:lpstr>
      <vt:lpstr>Office Theme</vt:lpstr>
      <vt:lpstr>PowerPoint Presentation</vt:lpstr>
      <vt:lpstr>ƏMƏLİYYAT SİSTEMİ</vt:lpstr>
      <vt:lpstr>ƏMƏLİYYAT SİSTEMİNİN ƏSAS FUNKSİYALARI</vt:lpstr>
      <vt:lpstr>ƏSAS ƏMƏLİYYAT SİSTEMİNİN TƏSNİFATI</vt:lpstr>
      <vt:lpstr>ƏMƏLİYYAT SİSTEMLƏRİ</vt:lpstr>
      <vt:lpstr>MİCROSOFT WİNDOWS</vt:lpstr>
      <vt:lpstr>PowerPoint Presentation</vt:lpstr>
      <vt:lpstr>PowerPoint Presentation</vt:lpstr>
      <vt:lpstr>PowerPoint Presentation</vt:lpstr>
      <vt:lpstr>PowerPoint Presentation</vt:lpstr>
      <vt:lpstr>PowerPoint Presentation</vt:lpstr>
      <vt:lpstr>ƏMƏLİYYAT SİSTEMİ FUNKSİYALARI</vt:lpstr>
      <vt:lpstr>PowerPoint Presentation</vt:lpstr>
      <vt:lpstr>PowerPoint Presentation</vt:lpstr>
      <vt:lpstr>İZLƏDİYİNİZ ÜÇÜN 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2</cp:revision>
  <dcterms:created xsi:type="dcterms:W3CDTF">2024-11-05T17:58:21Z</dcterms:created>
  <dcterms:modified xsi:type="dcterms:W3CDTF">2024-11-05T18:09:46Z</dcterms:modified>
</cp:coreProperties>
</file>